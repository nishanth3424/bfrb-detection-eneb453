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I'm Nishanth, and today I'll be presenting my ENEB453 final project: a real-time BFRB detection system. BFRBs are body-focused repetitive behaviors like hair pulling, nail biting, and skin picking that affect millions of people. My system uses webcam computer vision and machine learning to detect these behaviors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agenda. Mention this is a 25-minute presentation with a live demo.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clinical significance. 2-5% of population = millions of people. Most people don't realize they're pulling hair or biting nails until after. Our system provides real-time awareness through webcam monitoring.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main components: the browser handles video capture and landmark extraction, the Flask backend handles ML inference, data persistence, and session management. Explain how MediaPipe runs in the browser for privacy - video never leaves the device.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3NF: no transitive dependencies, proper foreign keys. Show that all tables have proper PKs, FKs, and indexes. Mention the MySQL schema is also provided for production deployment.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major API categories. Emphasize RESTful design, proper HTTP methods, error handling with JSON responses. Mention the WebSocket alternative for ML predictions.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insight: same BFRB behaviors produce similar patterns whether measured by wrist sensors or by camera. We train on sensor data but deploy on camera. Late fusion combines the ML probability with the rule-based detector score.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stage. Emphasize the false positive filtering - eating and resting are NOT BFRBs even though the hand is near the face.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UI design philosophy: professional, not AI-looking. White background with dark blue accents. All 3 views are tab-navigated. Mention the onboarding questionnaire that personalizes the experience.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how the login flow works: new users see the onboarding questionnaire after their first sign-in. This data personalizes which BFRB types are monitored by default.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each advanced feature briefly. Calibration is important for different users sitting at different distances from the camera.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live demo script. Follow these steps in order. Make sure to show all the major features: auth, onboarding, detection, feedback, calibration, charts, history, and export.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GitHub page. Mention that the entire project is open source and can be cloned and run locally. No Docker required - SQLite is embedded.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the key metrics. 77% accuracy is reasonable for a sensor-to-camera domain transfer. Real-time performance is smooth at 25-30 FPS.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challenges. The domain gap is the hardest part - we're training on wrist sensors but deploying on camera.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realistic next steps. The federated learning and CORAL work already exists as offline prototypes in the Tier 4 pipeline.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each requirement and confirm it's met. This shows completeness of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the audience. Open for questions. Key talking points for Q&amp;A: Why MediaPipe over other CV libraries? (Free, browser-native, real-time). Why Random Forest? (Tabular features, interpretable, fast inference). How accurate is it? (77% on Kaggle data, real-world depends on calibration). Privacy? (Video never leaves the device - all CV runs in browser).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253D"/>
        </a:solidFill>
        <a:effectLst/>
      </p:bgPr>
    </p:bg>
    <p:spTree>
      <p:nvGrpSpPr>
        <p:cNvPr id="1" name=""/>
        <p:cNvGrpSpPr/>
        <p:nvPr/>
      </p:nvGrpSpPr>
      <p:grpSpPr/>
      <p:sp>
        <p:nvSpPr>
          <p:cNvPr id="2" name="Rectangle 1"/>
          <p:cNvSpPr/>
          <p:nvPr/>
        </p:nvSpPr>
        <p:spPr>
          <a:xfrm>
            <a:off x="0" y="292608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1097280"/>
          </a:xfrm>
          <a:prstGeom prst="rect">
            <a:avLst/>
          </a:prstGeom>
          <a:noFill/>
        </p:spPr>
        <p:txBody>
          <a:bodyPr wrap="square">
            <a:spAutoFit/>
          </a:bodyPr>
          <a:lstStyle/>
          <a:p>
            <a:pPr algn="ctr">
              <a:defRPr sz="5200" b="1">
                <a:solidFill>
                  <a:srgbClr val="FFFFFF"/>
                </a:solidFill>
                <a:latin typeface="Segoe UI"/>
              </a:defRPr>
            </a:pPr>
            <a:r>
              <a:t>BFRB Detection System</a:t>
            </a:r>
          </a:p>
        </p:txBody>
      </p:sp>
      <p:sp>
        <p:nvSpPr>
          <p:cNvPr id="4" name="TextBox 3"/>
          <p:cNvSpPr txBox="1"/>
          <p:nvPr/>
        </p:nvSpPr>
        <p:spPr>
          <a:xfrm>
            <a:off x="914400" y="2377440"/>
            <a:ext cx="10058400" cy="548640"/>
          </a:xfrm>
          <a:prstGeom prst="rect">
            <a:avLst/>
          </a:prstGeom>
          <a:noFill/>
        </p:spPr>
        <p:txBody>
          <a:bodyPr wrap="square">
            <a:spAutoFit/>
          </a:bodyPr>
          <a:lstStyle/>
          <a:p>
            <a:pPr algn="ctr">
              <a:defRPr sz="2200" b="0">
                <a:solidFill>
                  <a:srgbClr val="F0F4F8"/>
                </a:solidFill>
                <a:latin typeface="Segoe UI"/>
              </a:defRPr>
            </a:pPr>
            <a:r>
              <a:t>Real-Time Webcam-Based Body-Focused Repetitive Behavior Detection</a:t>
            </a:r>
          </a:p>
        </p:txBody>
      </p:sp>
      <p:sp>
        <p:nvSpPr>
          <p:cNvPr id="5" name="TextBox 4"/>
          <p:cNvSpPr txBox="1"/>
          <p:nvPr/>
        </p:nvSpPr>
        <p:spPr>
          <a:xfrm>
            <a:off x="914400" y="3474720"/>
            <a:ext cx="10058400" cy="457200"/>
          </a:xfrm>
          <a:prstGeom prst="rect">
            <a:avLst/>
          </a:prstGeom>
          <a:noFill/>
        </p:spPr>
        <p:txBody>
          <a:bodyPr wrap="square">
            <a:spAutoFit/>
          </a:bodyPr>
          <a:lstStyle/>
          <a:p>
            <a:pPr algn="ctr">
              <a:defRPr sz="2000" b="1">
                <a:solidFill>
                  <a:srgbClr val="D4880F"/>
                </a:solidFill>
                <a:latin typeface="Segoe UI"/>
              </a:defRPr>
            </a:pPr>
            <a:r>
              <a:t>ENEB453 Final Project Defense</a:t>
            </a:r>
          </a:p>
        </p:txBody>
      </p:sp>
      <p:sp>
        <p:nvSpPr>
          <p:cNvPr id="6" name="TextBox 5"/>
          <p:cNvSpPr txBox="1"/>
          <p:nvPr/>
        </p:nvSpPr>
        <p:spPr>
          <a:xfrm>
            <a:off x="914400" y="4206240"/>
            <a:ext cx="10058400" cy="457200"/>
          </a:xfrm>
          <a:prstGeom prst="rect">
            <a:avLst/>
          </a:prstGeom>
          <a:noFill/>
        </p:spPr>
        <p:txBody>
          <a:bodyPr wrap="square">
            <a:spAutoFit/>
          </a:bodyPr>
          <a:lstStyle/>
          <a:p>
            <a:pPr algn="ctr">
              <a:defRPr sz="1800" b="0">
                <a:solidFill>
                  <a:srgbClr val="5A6A7E"/>
                </a:solidFill>
                <a:latin typeface="Segoe UI"/>
              </a:defRPr>
            </a:pPr>
            <a:r>
              <a:t>Nishanth S.  |  University of Maryland  |  Spring 2026</a:t>
            </a:r>
          </a:p>
        </p:txBody>
      </p:sp>
      <p:sp>
        <p:nvSpPr>
          <p:cNvPr id="7" name="TextBox 6"/>
          <p:cNvSpPr txBox="1"/>
          <p:nvPr/>
        </p:nvSpPr>
        <p:spPr>
          <a:xfrm>
            <a:off x="914400" y="4846320"/>
            <a:ext cx="10058400" cy="457200"/>
          </a:xfrm>
          <a:prstGeom prst="rect">
            <a:avLst/>
          </a:prstGeom>
          <a:noFill/>
        </p:spPr>
        <p:txBody>
          <a:bodyPr wrap="square">
            <a:spAutoFit/>
          </a:bodyPr>
          <a:lstStyle/>
          <a:p>
            <a:pPr algn="ctr">
              <a:defRPr sz="1600" b="0">
                <a:solidFill>
                  <a:srgbClr val="5A6A7E"/>
                </a:solidFill>
                <a:latin typeface="Segoe UI"/>
              </a:defRPr>
            </a:pPr>
            <a:r>
              <a:t>May 11,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Presentation Agenda</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463040"/>
            <a:ext cx="9601200" cy="411480"/>
          </a:xfrm>
          <a:prstGeom prst="rect">
            <a:avLst/>
          </a:prstGeom>
          <a:noFill/>
        </p:spPr>
        <p:txBody>
          <a:bodyPr wrap="square">
            <a:spAutoFit/>
          </a:bodyPr>
          <a:lstStyle/>
          <a:p>
            <a:pPr algn="l">
              <a:defRPr sz="1800" b="0">
                <a:solidFill>
                  <a:srgbClr val="FFFFFF"/>
                </a:solidFill>
                <a:latin typeface="Segoe UI"/>
              </a:defRPr>
            </a:pPr>
            <a:r>
              <a:t>1.  Problem Statement: What are BFRBs and why detect them?</a:t>
            </a:r>
          </a:p>
        </p:txBody>
      </p:sp>
      <p:sp>
        <p:nvSpPr>
          <p:cNvPr id="6" name="TextBox 5"/>
          <p:cNvSpPr txBox="1"/>
          <p:nvPr/>
        </p:nvSpPr>
        <p:spPr>
          <a:xfrm>
            <a:off x="1097280" y="1847088"/>
            <a:ext cx="9601200" cy="411480"/>
          </a:xfrm>
          <a:prstGeom prst="rect">
            <a:avLst/>
          </a:prstGeom>
          <a:noFill/>
        </p:spPr>
        <p:txBody>
          <a:bodyPr wrap="square">
            <a:spAutoFit/>
          </a:bodyPr>
          <a:lstStyle/>
          <a:p>
            <a:pPr algn="l">
              <a:defRPr sz="1800" b="0">
                <a:solidFill>
                  <a:srgbClr val="FFFFFF"/>
                </a:solidFill>
                <a:latin typeface="Segoe UI"/>
              </a:defRPr>
            </a:pPr>
            <a:r>
              <a:t>2.  System Architecture: Tech stack and design decisions</a:t>
            </a:r>
          </a:p>
        </p:txBody>
      </p:sp>
      <p:sp>
        <p:nvSpPr>
          <p:cNvPr id="7" name="TextBox 6"/>
          <p:cNvSpPr txBox="1"/>
          <p:nvPr/>
        </p:nvSpPr>
        <p:spPr>
          <a:xfrm>
            <a:off x="1097280" y="2231136"/>
            <a:ext cx="9601200" cy="411480"/>
          </a:xfrm>
          <a:prstGeom prst="rect">
            <a:avLst/>
          </a:prstGeom>
          <a:noFill/>
        </p:spPr>
        <p:txBody>
          <a:bodyPr wrap="square">
            <a:spAutoFit/>
          </a:bodyPr>
          <a:lstStyle/>
          <a:p>
            <a:pPr algn="l">
              <a:defRPr sz="1800" b="0">
                <a:solidFill>
                  <a:srgbClr val="FFFFFF"/>
                </a:solidFill>
                <a:latin typeface="Segoe UI"/>
              </a:defRPr>
            </a:pPr>
            <a:r>
              <a:t>3.  Database Design: Schema, 3NF normalization, ERD</a:t>
            </a:r>
          </a:p>
        </p:txBody>
      </p:sp>
      <p:sp>
        <p:nvSpPr>
          <p:cNvPr id="8" name="TextBox 7"/>
          <p:cNvSpPr txBox="1"/>
          <p:nvPr/>
        </p:nvSpPr>
        <p:spPr>
          <a:xfrm>
            <a:off x="1097280" y="2615184"/>
            <a:ext cx="9601200" cy="411480"/>
          </a:xfrm>
          <a:prstGeom prst="rect">
            <a:avLst/>
          </a:prstGeom>
          <a:noFill/>
        </p:spPr>
        <p:txBody>
          <a:bodyPr wrap="square">
            <a:spAutoFit/>
          </a:bodyPr>
          <a:lstStyle/>
          <a:p>
            <a:pPr algn="l">
              <a:defRPr sz="1800" b="0">
                <a:solidFill>
                  <a:srgbClr val="FFFFFF"/>
                </a:solidFill>
                <a:latin typeface="Segoe UI"/>
              </a:defRPr>
            </a:pPr>
            <a:r>
              <a:t>4.  Backend Implementation: Flask API, session management</a:t>
            </a:r>
          </a:p>
        </p:txBody>
      </p:sp>
      <p:sp>
        <p:nvSpPr>
          <p:cNvPr id="9" name="TextBox 8"/>
          <p:cNvSpPr txBox="1"/>
          <p:nvPr/>
        </p:nvSpPr>
        <p:spPr>
          <a:xfrm>
            <a:off x="1097280" y="2999232"/>
            <a:ext cx="9601200" cy="411480"/>
          </a:xfrm>
          <a:prstGeom prst="rect">
            <a:avLst/>
          </a:prstGeom>
          <a:noFill/>
        </p:spPr>
        <p:txBody>
          <a:bodyPr wrap="square">
            <a:spAutoFit/>
          </a:bodyPr>
          <a:lstStyle/>
          <a:p>
            <a:pPr algn="l">
              <a:defRPr sz="1800" b="0">
                <a:solidFill>
                  <a:srgbClr val="FFFFFF"/>
                </a:solidFill>
                <a:latin typeface="Segoe UI"/>
              </a:defRPr>
            </a:pPr>
            <a:r>
              <a:t>5.  ML Pipeline: Random Forest classifier, feature engineering</a:t>
            </a:r>
          </a:p>
        </p:txBody>
      </p:sp>
      <p:sp>
        <p:nvSpPr>
          <p:cNvPr id="10" name="TextBox 9"/>
          <p:cNvSpPr txBox="1"/>
          <p:nvPr/>
        </p:nvSpPr>
        <p:spPr>
          <a:xfrm>
            <a:off x="1097280" y="3383280"/>
            <a:ext cx="9601200" cy="411480"/>
          </a:xfrm>
          <a:prstGeom prst="rect">
            <a:avLst/>
          </a:prstGeom>
          <a:noFill/>
        </p:spPr>
        <p:txBody>
          <a:bodyPr wrap="square">
            <a:spAutoFit/>
          </a:bodyPr>
          <a:lstStyle/>
          <a:p>
            <a:pPr algn="l">
              <a:defRPr sz="1800" b="0">
                <a:solidFill>
                  <a:srgbClr val="FFFFFF"/>
                </a:solidFill>
                <a:latin typeface="Segoe UI"/>
              </a:defRPr>
            </a:pPr>
            <a:r>
              <a:t>6.  Frontend UI: Real-time detection dashboard</a:t>
            </a:r>
          </a:p>
        </p:txBody>
      </p:sp>
      <p:sp>
        <p:nvSpPr>
          <p:cNvPr id="11" name="TextBox 10"/>
          <p:cNvSpPr txBox="1"/>
          <p:nvPr/>
        </p:nvSpPr>
        <p:spPr>
          <a:xfrm>
            <a:off x="1097280" y="3767328"/>
            <a:ext cx="9601200" cy="411480"/>
          </a:xfrm>
          <a:prstGeom prst="rect">
            <a:avLst/>
          </a:prstGeom>
          <a:noFill/>
        </p:spPr>
        <p:txBody>
          <a:bodyPr wrap="square">
            <a:spAutoFit/>
          </a:bodyPr>
          <a:lstStyle/>
          <a:p>
            <a:pPr algn="l">
              <a:defRPr sz="1800" b="0">
                <a:solidFill>
                  <a:srgbClr val="FFFFFF"/>
                </a:solidFill>
                <a:latin typeface="Segoe UI"/>
              </a:defRPr>
            </a:pPr>
            <a:r>
              <a:t>7.  Authentication &amp; Onboarding: User management</a:t>
            </a:r>
          </a:p>
        </p:txBody>
      </p:sp>
      <p:sp>
        <p:nvSpPr>
          <p:cNvPr id="12" name="TextBox 11"/>
          <p:cNvSpPr txBox="1"/>
          <p:nvPr/>
        </p:nvSpPr>
        <p:spPr>
          <a:xfrm>
            <a:off x="1097280" y="4151376"/>
            <a:ext cx="9601200" cy="411480"/>
          </a:xfrm>
          <a:prstGeom prst="rect">
            <a:avLst/>
          </a:prstGeom>
          <a:noFill/>
        </p:spPr>
        <p:txBody>
          <a:bodyPr wrap="square">
            <a:spAutoFit/>
          </a:bodyPr>
          <a:lstStyle/>
          <a:p>
            <a:pPr algn="l">
              <a:defRPr sz="1800" b="0">
                <a:solidFill>
                  <a:srgbClr val="FFFFFF"/>
                </a:solidFill>
                <a:latin typeface="Segoe UI"/>
              </a:defRPr>
            </a:pPr>
            <a:r>
              <a:t>8.  Advanced Features: Calibration, bouts, pilot studies, PWA</a:t>
            </a:r>
          </a:p>
        </p:txBody>
      </p:sp>
      <p:sp>
        <p:nvSpPr>
          <p:cNvPr id="13" name="TextBox 12"/>
          <p:cNvSpPr txBox="1"/>
          <p:nvPr/>
        </p:nvSpPr>
        <p:spPr>
          <a:xfrm>
            <a:off x="1097280" y="4535424"/>
            <a:ext cx="9601200" cy="411480"/>
          </a:xfrm>
          <a:prstGeom prst="rect">
            <a:avLst/>
          </a:prstGeom>
          <a:noFill/>
        </p:spPr>
        <p:txBody>
          <a:bodyPr wrap="square">
            <a:spAutoFit/>
          </a:bodyPr>
          <a:lstStyle/>
          <a:p>
            <a:pPr algn="l">
              <a:defRPr sz="1800" b="0">
                <a:solidFill>
                  <a:srgbClr val="FFFFFF"/>
                </a:solidFill>
                <a:latin typeface="Segoe UI"/>
              </a:defRPr>
            </a:pPr>
            <a:r>
              <a:t>9.  Live Demonstration</a:t>
            </a:r>
          </a:p>
        </p:txBody>
      </p:sp>
      <p:sp>
        <p:nvSpPr>
          <p:cNvPr id="14" name="TextBox 13"/>
          <p:cNvSpPr txBox="1"/>
          <p:nvPr/>
        </p:nvSpPr>
        <p:spPr>
          <a:xfrm>
            <a:off x="1097280" y="4919472"/>
            <a:ext cx="9601200" cy="411480"/>
          </a:xfrm>
          <a:prstGeom prst="rect">
            <a:avLst/>
          </a:prstGeom>
          <a:noFill/>
        </p:spPr>
        <p:txBody>
          <a:bodyPr wrap="square">
            <a:spAutoFit/>
          </a:bodyPr>
          <a:lstStyle/>
          <a:p>
            <a:pPr algn="l">
              <a:defRPr sz="1800" b="0">
                <a:solidFill>
                  <a:srgbClr val="FFFFFF"/>
                </a:solidFill>
                <a:latin typeface="Segoe UI"/>
              </a:defRPr>
            </a:pPr>
            <a:r>
              <a:t>10. Results, Challenges &amp; Future Work</a:t>
            </a:r>
          </a:p>
        </p:txBody>
      </p:sp>
      <p:sp>
        <p:nvSpPr>
          <p:cNvPr id="15" name="TextBox 14"/>
          <p:cNvSpPr txBox="1"/>
          <p:nvPr/>
        </p:nvSpPr>
        <p:spPr>
          <a:xfrm>
            <a:off x="1097280" y="5303520"/>
            <a:ext cx="9601200" cy="411480"/>
          </a:xfrm>
          <a:prstGeom prst="rect">
            <a:avLst/>
          </a:prstGeom>
          <a:noFill/>
        </p:spPr>
        <p:txBody>
          <a:bodyPr wrap="square">
            <a:spAutoFit/>
          </a:bodyPr>
          <a:lstStyle/>
          <a:p>
            <a:pPr algn="l">
              <a:defRPr sz="1800" b="0">
                <a:solidFill>
                  <a:srgbClr val="FFFFFF"/>
                </a:solidFill>
                <a:latin typeface="Segoe UI"/>
              </a:defRPr>
            </a:pPr>
            <a:r>
              <a:t>11. Q&amp;A</a:t>
            </a:r>
          </a:p>
        </p:txBody>
      </p:sp>
      <p:sp>
        <p:nvSpPr>
          <p:cNvPr id="16" name="TextBox 15"/>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Problem Statement: BFRBs</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What are BFRBs?</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Body-Focused Repetitive Behaviors: compulsive self-grooming actions</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Hair pulling (trichotillomania), nail biting, skin picking, face touching</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r>
              <a:t>Affects 2-5% of the population worldwide</a:t>
            </a:r>
          </a:p>
        </p:txBody>
      </p:sp>
      <p:sp>
        <p:nvSpPr>
          <p:cNvPr id="9" name="TextBox 8"/>
          <p:cNvSpPr txBox="1"/>
          <p:nvPr/>
        </p:nvSpPr>
        <p:spPr>
          <a:xfrm>
            <a:off x="1097280" y="3026664"/>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0" name="TextBox 9"/>
          <p:cNvSpPr txBox="1"/>
          <p:nvPr/>
        </p:nvSpPr>
        <p:spPr>
          <a:xfrm>
            <a:off x="914400" y="3410712"/>
            <a:ext cx="9601200" cy="457200"/>
          </a:xfrm>
          <a:prstGeom prst="rect">
            <a:avLst/>
          </a:prstGeom>
          <a:noFill/>
        </p:spPr>
        <p:txBody>
          <a:bodyPr wrap="square">
            <a:spAutoFit/>
          </a:bodyPr>
          <a:lstStyle/>
          <a:p>
            <a:pPr algn="l">
              <a:defRPr sz="2000" b="1">
                <a:solidFill>
                  <a:srgbClr val="D4880F"/>
                </a:solidFill>
                <a:latin typeface="Segoe UI"/>
              </a:defRPr>
            </a:pPr>
            <a:r>
              <a:t>The Challenge</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Most people are UNAWARE when they're engaging in BFRBs</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r>
              <a:t>Awareness is the first step to behavioral change</a:t>
            </a:r>
          </a:p>
        </p:txBody>
      </p:sp>
      <p:sp>
        <p:nvSpPr>
          <p:cNvPr id="13" name="TextBox 12"/>
          <p:cNvSpPr txBox="1"/>
          <p:nvPr/>
        </p:nvSpPr>
        <p:spPr>
          <a:xfrm>
            <a:off x="1097280" y="4590288"/>
            <a:ext cx="9601200" cy="411480"/>
          </a:xfrm>
          <a:prstGeom prst="rect">
            <a:avLst/>
          </a:prstGeom>
          <a:noFill/>
        </p:spPr>
        <p:txBody>
          <a:bodyPr wrap="square">
            <a:spAutoFit/>
          </a:bodyPr>
          <a:lstStyle/>
          <a:p>
            <a:pPr algn="l">
              <a:defRPr sz="1800" b="0">
                <a:solidFill>
                  <a:srgbClr val="FFFFFF"/>
                </a:solidFill>
                <a:latin typeface="Segoe UI"/>
              </a:defRPr>
            </a:pPr>
            <a:r>
              <a:t>Current solutions: rubber bands, journals, therapy alone</a:t>
            </a:r>
          </a:p>
        </p:txBody>
      </p:sp>
      <p:sp>
        <p:nvSpPr>
          <p:cNvPr id="14" name="TextBox 13"/>
          <p:cNvSpPr txBox="1"/>
          <p:nvPr/>
        </p:nvSpPr>
        <p:spPr>
          <a:xfrm>
            <a:off x="1097280" y="497433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5" name="TextBox 14"/>
          <p:cNvSpPr txBox="1"/>
          <p:nvPr/>
        </p:nvSpPr>
        <p:spPr>
          <a:xfrm>
            <a:off x="914400" y="5358384"/>
            <a:ext cx="9601200" cy="457200"/>
          </a:xfrm>
          <a:prstGeom prst="rect">
            <a:avLst/>
          </a:prstGeom>
          <a:noFill/>
        </p:spPr>
        <p:txBody>
          <a:bodyPr wrap="square">
            <a:spAutoFit/>
          </a:bodyPr>
          <a:lstStyle/>
          <a:p>
            <a:pPr algn="l">
              <a:defRPr sz="2000" b="1">
                <a:solidFill>
                  <a:srgbClr val="D4880F"/>
                </a:solidFill>
                <a:latin typeface="Segoe UI"/>
              </a:defRPr>
            </a:pPr>
            <a:r>
              <a:t>Our Solution</a:t>
            </a:r>
          </a:p>
        </p:txBody>
      </p:sp>
      <p:sp>
        <p:nvSpPr>
          <p:cNvPr id="16" name="TextBox 15"/>
          <p:cNvSpPr txBox="1"/>
          <p:nvPr/>
        </p:nvSpPr>
        <p:spPr>
          <a:xfrm>
            <a:off x="1097280" y="5769864"/>
            <a:ext cx="9601200" cy="411480"/>
          </a:xfrm>
          <a:prstGeom prst="rect">
            <a:avLst/>
          </a:prstGeom>
          <a:noFill/>
        </p:spPr>
        <p:txBody>
          <a:bodyPr wrap="square">
            <a:spAutoFit/>
          </a:bodyPr>
          <a:lstStyle/>
          <a:p>
            <a:pPr algn="l">
              <a:defRPr sz="1800" b="0">
                <a:solidFill>
                  <a:srgbClr val="FFFFFF"/>
                </a:solidFill>
                <a:latin typeface="Segoe UI"/>
              </a:defRPr>
            </a:pPr>
            <a:r>
              <a:t>Real-time webcam detection using computer vision + ML</a:t>
            </a:r>
          </a:p>
        </p:txBody>
      </p:sp>
      <p:sp>
        <p:nvSpPr>
          <p:cNvPr id="17" name="TextBox 16"/>
          <p:cNvSpPr txBox="1"/>
          <p:nvPr/>
        </p:nvSpPr>
        <p:spPr>
          <a:xfrm>
            <a:off x="1097280" y="6153912"/>
            <a:ext cx="9601200" cy="411480"/>
          </a:xfrm>
          <a:prstGeom prst="rect">
            <a:avLst/>
          </a:prstGeom>
          <a:noFill/>
        </p:spPr>
        <p:txBody>
          <a:bodyPr wrap="square">
            <a:spAutoFit/>
          </a:bodyPr>
          <a:lstStyle/>
          <a:p>
            <a:pPr algn="l">
              <a:defRPr sz="1800" b="0">
                <a:solidFill>
                  <a:srgbClr val="FFFFFF"/>
                </a:solidFill>
                <a:latin typeface="Segoe UI"/>
              </a:defRPr>
            </a:pPr>
            <a:r>
              <a:t>Immediate visual alerts when BFRB is detected</a:t>
            </a:r>
          </a:p>
        </p:txBody>
      </p:sp>
      <p:sp>
        <p:nvSpPr>
          <p:cNvPr id="18" name="TextBox 17"/>
          <p:cNvSpPr txBox="1"/>
          <p:nvPr/>
        </p:nvSpPr>
        <p:spPr>
          <a:xfrm>
            <a:off x="1097280" y="6537960"/>
            <a:ext cx="9601200" cy="411480"/>
          </a:xfrm>
          <a:prstGeom prst="rect">
            <a:avLst/>
          </a:prstGeom>
          <a:noFill/>
        </p:spPr>
        <p:txBody>
          <a:bodyPr wrap="square">
            <a:spAutoFit/>
          </a:bodyPr>
          <a:lstStyle/>
          <a:p>
            <a:pPr algn="l">
              <a:defRPr sz="1800" b="0">
                <a:solidFill>
                  <a:srgbClr val="FFFFFF"/>
                </a:solidFill>
                <a:latin typeface="Segoe UI"/>
              </a:defRPr>
            </a:pPr>
            <a:r>
              <a:t>Track patterns over time for therapy support</a:t>
            </a:r>
          </a:p>
        </p:txBody>
      </p:sp>
      <p:sp>
        <p:nvSpPr>
          <p:cNvPr id="19" name="TextBox 18"/>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System Architecture</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5029200" cy="384048"/>
          </a:xfrm>
          <a:prstGeom prst="rect">
            <a:avLst/>
          </a:prstGeom>
          <a:noFill/>
        </p:spPr>
        <p:txBody>
          <a:bodyPr wrap="square">
            <a:spAutoFit/>
          </a:bodyPr>
          <a:lstStyle/>
          <a:p>
            <a:pPr algn="l">
              <a:defRPr sz="1700" b="0">
                <a:solidFill>
                  <a:srgbClr val="FFFFFF"/>
                </a:solidFill>
                <a:latin typeface="Segoe UI"/>
              </a:defRPr>
            </a:pPr>
            <a:r>
              <a:t>--- Frontend ---</a:t>
            </a:r>
          </a:p>
        </p:txBody>
      </p:sp>
      <p:sp>
        <p:nvSpPr>
          <p:cNvPr id="6" name="TextBox 5"/>
          <p:cNvSpPr txBox="1"/>
          <p:nvPr/>
        </p:nvSpPr>
        <p:spPr>
          <a:xfrm>
            <a:off x="731520" y="1828800"/>
            <a:ext cx="5029200" cy="384048"/>
          </a:xfrm>
          <a:prstGeom prst="rect">
            <a:avLst/>
          </a:prstGeom>
          <a:noFill/>
        </p:spPr>
        <p:txBody>
          <a:bodyPr wrap="square">
            <a:spAutoFit/>
          </a:bodyPr>
          <a:lstStyle/>
          <a:p>
            <a:pPr algn="l">
              <a:defRPr sz="1700" b="0">
                <a:solidFill>
                  <a:srgbClr val="FFFFFF"/>
                </a:solidFill>
                <a:latin typeface="Segoe UI"/>
              </a:defRPr>
            </a:pPr>
            <a:r>
              <a:t>HTML5, CSS3, Vanilla JavaScript</a:t>
            </a:r>
          </a:p>
        </p:txBody>
      </p:sp>
      <p:sp>
        <p:nvSpPr>
          <p:cNvPr id="7" name="TextBox 6"/>
          <p:cNvSpPr txBox="1"/>
          <p:nvPr/>
        </p:nvSpPr>
        <p:spPr>
          <a:xfrm>
            <a:off x="731520" y="2194560"/>
            <a:ext cx="5029200" cy="384048"/>
          </a:xfrm>
          <a:prstGeom prst="rect">
            <a:avLst/>
          </a:prstGeom>
          <a:noFill/>
        </p:spPr>
        <p:txBody>
          <a:bodyPr wrap="square">
            <a:spAutoFit/>
          </a:bodyPr>
          <a:lstStyle/>
          <a:p>
            <a:pPr algn="l">
              <a:defRPr sz="1700" b="0">
                <a:solidFill>
                  <a:srgbClr val="FFFFFF"/>
                </a:solidFill>
                <a:latin typeface="Segoe UI"/>
              </a:defRPr>
            </a:pPr>
            <a:r>
              <a:t>MediaPipe Holistic (face + hand tracking)</a:t>
            </a:r>
          </a:p>
        </p:txBody>
      </p:sp>
      <p:sp>
        <p:nvSpPr>
          <p:cNvPr id="8" name="TextBox 7"/>
          <p:cNvSpPr txBox="1"/>
          <p:nvPr/>
        </p:nvSpPr>
        <p:spPr>
          <a:xfrm>
            <a:off x="731520" y="2560320"/>
            <a:ext cx="5029200" cy="384048"/>
          </a:xfrm>
          <a:prstGeom prst="rect">
            <a:avLst/>
          </a:prstGeom>
          <a:noFill/>
        </p:spPr>
        <p:txBody>
          <a:bodyPr wrap="square">
            <a:spAutoFit/>
          </a:bodyPr>
          <a:lstStyle/>
          <a:p>
            <a:pPr algn="l">
              <a:defRPr sz="1700" b="0">
                <a:solidFill>
                  <a:srgbClr val="FFFFFF"/>
                </a:solidFill>
                <a:latin typeface="Segoe UI"/>
              </a:defRPr>
            </a:pPr>
            <a:r>
              <a:t>Chart.js (statistical dashboard)</a:t>
            </a:r>
          </a:p>
        </p:txBody>
      </p:sp>
      <p:sp>
        <p:nvSpPr>
          <p:cNvPr id="9" name="TextBox 8"/>
          <p:cNvSpPr txBox="1"/>
          <p:nvPr/>
        </p:nvSpPr>
        <p:spPr>
          <a:xfrm>
            <a:off x="731520" y="2926080"/>
            <a:ext cx="5029200" cy="384048"/>
          </a:xfrm>
          <a:prstGeom prst="rect">
            <a:avLst/>
          </a:prstGeom>
          <a:noFill/>
        </p:spPr>
        <p:txBody>
          <a:bodyPr wrap="square">
            <a:spAutoFit/>
          </a:bodyPr>
          <a:lstStyle/>
          <a:p>
            <a:pPr algn="l">
              <a:defRPr sz="1700" b="0">
                <a:solidFill>
                  <a:srgbClr val="FFFFFF"/>
                </a:solidFill>
                <a:latin typeface="Segoe UI"/>
              </a:defRPr>
            </a:pPr>
            <a:r>
              <a:t>Socket.IO client (real-time)</a:t>
            </a:r>
          </a:p>
        </p:txBody>
      </p:sp>
      <p:sp>
        <p:nvSpPr>
          <p:cNvPr id="10" name="TextBox 9"/>
          <p:cNvSpPr txBox="1"/>
          <p:nvPr/>
        </p:nvSpPr>
        <p:spPr>
          <a:xfrm>
            <a:off x="731520" y="3291840"/>
            <a:ext cx="5029200" cy="384048"/>
          </a:xfrm>
          <a:prstGeom prst="rect">
            <a:avLst/>
          </a:prstGeom>
          <a:noFill/>
        </p:spPr>
        <p:txBody>
          <a:bodyPr wrap="square">
            <a:spAutoFit/>
          </a:bodyPr>
          <a:lstStyle/>
          <a:p>
            <a:pPr algn="l">
              <a:defRPr sz="1700" b="0">
                <a:solidFill>
                  <a:srgbClr val="FFFFFF"/>
                </a:solidFill>
                <a:latin typeface="Segoe UI"/>
              </a:defRPr>
            </a:pPr>
            <a:r>
              <a:t>Progressive Web App (PWA)</a:t>
            </a:r>
          </a:p>
        </p:txBody>
      </p:sp>
      <p:sp>
        <p:nvSpPr>
          <p:cNvPr id="11" name="TextBox 10"/>
          <p:cNvSpPr txBox="1"/>
          <p:nvPr/>
        </p:nvSpPr>
        <p:spPr>
          <a:xfrm>
            <a:off x="731520" y="3657600"/>
            <a:ext cx="5029200" cy="384048"/>
          </a:xfrm>
          <a:prstGeom prst="rect">
            <a:avLst/>
          </a:prstGeom>
          <a:noFill/>
        </p:spPr>
        <p:txBody>
          <a:bodyPr wrap="square">
            <a:spAutoFit/>
          </a:bodyPr>
          <a:lstStyle/>
          <a:p>
            <a:pPr algn="l">
              <a:defRPr sz="1700" b="0">
                <a:solidFill>
                  <a:srgbClr val="FFFFFF"/>
                </a:solidFill>
                <a:latin typeface="Segoe UI"/>
              </a:defRPr>
            </a:pPr>
          </a:p>
        </p:txBody>
      </p:sp>
      <p:sp>
        <p:nvSpPr>
          <p:cNvPr id="12" name="TextBox 11"/>
          <p:cNvSpPr txBox="1"/>
          <p:nvPr/>
        </p:nvSpPr>
        <p:spPr>
          <a:xfrm>
            <a:off x="731520" y="4023360"/>
            <a:ext cx="5029200" cy="384048"/>
          </a:xfrm>
          <a:prstGeom prst="rect">
            <a:avLst/>
          </a:prstGeom>
          <a:noFill/>
        </p:spPr>
        <p:txBody>
          <a:bodyPr wrap="square">
            <a:spAutoFit/>
          </a:bodyPr>
          <a:lstStyle/>
          <a:p>
            <a:pPr algn="l">
              <a:defRPr sz="1700" b="0">
                <a:solidFill>
                  <a:srgbClr val="FFFFFF"/>
                </a:solidFill>
                <a:latin typeface="Segoe UI"/>
              </a:defRPr>
            </a:pPr>
            <a:r>
              <a:t>--- Computer Vision ---</a:t>
            </a:r>
          </a:p>
        </p:txBody>
      </p:sp>
      <p:sp>
        <p:nvSpPr>
          <p:cNvPr id="13" name="TextBox 12"/>
          <p:cNvSpPr txBox="1"/>
          <p:nvPr/>
        </p:nvSpPr>
        <p:spPr>
          <a:xfrm>
            <a:off x="731520" y="4389120"/>
            <a:ext cx="5029200" cy="384048"/>
          </a:xfrm>
          <a:prstGeom prst="rect">
            <a:avLst/>
          </a:prstGeom>
          <a:noFill/>
        </p:spPr>
        <p:txBody>
          <a:bodyPr wrap="square">
            <a:spAutoFit/>
          </a:bodyPr>
          <a:lstStyle/>
          <a:p>
            <a:pPr algn="l">
              <a:defRPr sz="1700" b="0">
                <a:solidFill>
                  <a:srgbClr val="FFFFFF"/>
                </a:solidFill>
                <a:latin typeface="Segoe UI"/>
              </a:defRPr>
            </a:pPr>
            <a:r>
              <a:t>468 face landmarks per frame</a:t>
            </a:r>
          </a:p>
        </p:txBody>
      </p:sp>
      <p:sp>
        <p:nvSpPr>
          <p:cNvPr id="14" name="TextBox 13"/>
          <p:cNvSpPr txBox="1"/>
          <p:nvPr/>
        </p:nvSpPr>
        <p:spPr>
          <a:xfrm>
            <a:off x="731520" y="4754880"/>
            <a:ext cx="5029200" cy="384048"/>
          </a:xfrm>
          <a:prstGeom prst="rect">
            <a:avLst/>
          </a:prstGeom>
          <a:noFill/>
        </p:spPr>
        <p:txBody>
          <a:bodyPr wrap="square">
            <a:spAutoFit/>
          </a:bodyPr>
          <a:lstStyle/>
          <a:p>
            <a:pPr algn="l">
              <a:defRPr sz="1700" b="0">
                <a:solidFill>
                  <a:srgbClr val="FFFFFF"/>
                </a:solidFill>
                <a:latin typeface="Segoe UI"/>
              </a:defRPr>
            </a:pPr>
            <a:r>
              <a:t>21 hand landmarks per frame</a:t>
            </a:r>
          </a:p>
        </p:txBody>
      </p:sp>
      <p:sp>
        <p:nvSpPr>
          <p:cNvPr id="15" name="TextBox 14"/>
          <p:cNvSpPr txBox="1"/>
          <p:nvPr/>
        </p:nvSpPr>
        <p:spPr>
          <a:xfrm>
            <a:off x="731520" y="5120640"/>
            <a:ext cx="5029200" cy="384048"/>
          </a:xfrm>
          <a:prstGeom prst="rect">
            <a:avLst/>
          </a:prstGeom>
          <a:noFill/>
        </p:spPr>
        <p:txBody>
          <a:bodyPr wrap="square">
            <a:spAutoFit/>
          </a:bodyPr>
          <a:lstStyle/>
          <a:p>
            <a:pPr algn="l">
              <a:defRPr sz="1700" b="0">
                <a:solidFill>
                  <a:srgbClr val="FFFFFF"/>
                </a:solidFill>
                <a:latin typeface="Segoe UI"/>
              </a:defRPr>
            </a:pPr>
            <a:r>
              <a:t>One Euro Filter for smoothing</a:t>
            </a:r>
          </a:p>
        </p:txBody>
      </p:sp>
      <p:sp>
        <p:nvSpPr>
          <p:cNvPr id="16" name="TextBox 15"/>
          <p:cNvSpPr txBox="1"/>
          <p:nvPr/>
        </p:nvSpPr>
        <p:spPr>
          <a:xfrm>
            <a:off x="731520" y="5486400"/>
            <a:ext cx="5029200" cy="384048"/>
          </a:xfrm>
          <a:prstGeom prst="rect">
            <a:avLst/>
          </a:prstGeom>
          <a:noFill/>
        </p:spPr>
        <p:txBody>
          <a:bodyPr wrap="square">
            <a:spAutoFit/>
          </a:bodyPr>
          <a:lstStyle/>
          <a:p>
            <a:pPr algn="l">
              <a:defRPr sz="1700" b="0">
                <a:solidFill>
                  <a:srgbClr val="FFFFFF"/>
                </a:solidFill>
                <a:latin typeface="Segoe UI"/>
              </a:defRPr>
            </a:pPr>
            <a:r>
              <a:t>13 anatomical face zones</a:t>
            </a:r>
          </a:p>
        </p:txBody>
      </p:sp>
      <p:sp>
        <p:nvSpPr>
          <p:cNvPr id="17" name="TextBox 16"/>
          <p:cNvSpPr txBox="1"/>
          <p:nvPr/>
        </p:nvSpPr>
        <p:spPr>
          <a:xfrm>
            <a:off x="6217920" y="1463040"/>
            <a:ext cx="5029200" cy="384048"/>
          </a:xfrm>
          <a:prstGeom prst="rect">
            <a:avLst/>
          </a:prstGeom>
          <a:noFill/>
        </p:spPr>
        <p:txBody>
          <a:bodyPr wrap="square">
            <a:spAutoFit/>
          </a:bodyPr>
          <a:lstStyle/>
          <a:p>
            <a:pPr algn="l">
              <a:defRPr sz="1700" b="0">
                <a:solidFill>
                  <a:srgbClr val="FFFFFF"/>
                </a:solidFill>
                <a:latin typeface="Segoe UI"/>
              </a:defRPr>
            </a:pPr>
            <a:r>
              <a:t>--- Backend ---</a:t>
            </a:r>
          </a:p>
        </p:txBody>
      </p:sp>
      <p:sp>
        <p:nvSpPr>
          <p:cNvPr id="18" name="TextBox 17"/>
          <p:cNvSpPr txBox="1"/>
          <p:nvPr/>
        </p:nvSpPr>
        <p:spPr>
          <a:xfrm>
            <a:off x="6217920" y="1828800"/>
            <a:ext cx="5029200" cy="384048"/>
          </a:xfrm>
          <a:prstGeom prst="rect">
            <a:avLst/>
          </a:prstGeom>
          <a:noFill/>
        </p:spPr>
        <p:txBody>
          <a:bodyPr wrap="square">
            <a:spAutoFit/>
          </a:bodyPr>
          <a:lstStyle/>
          <a:p>
            <a:pPr algn="l">
              <a:defRPr sz="1700" b="0">
                <a:solidFill>
                  <a:srgbClr val="FFFFFF"/>
                </a:solidFill>
                <a:latin typeface="Segoe UI"/>
              </a:defRPr>
            </a:pPr>
            <a:r>
              <a:t>Python 3.11 + Flask 2.3</a:t>
            </a:r>
          </a:p>
        </p:txBody>
      </p:sp>
      <p:sp>
        <p:nvSpPr>
          <p:cNvPr id="19" name="TextBox 18"/>
          <p:cNvSpPr txBox="1"/>
          <p:nvPr/>
        </p:nvSpPr>
        <p:spPr>
          <a:xfrm>
            <a:off x="6217920" y="2194560"/>
            <a:ext cx="5029200" cy="384048"/>
          </a:xfrm>
          <a:prstGeom prst="rect">
            <a:avLst/>
          </a:prstGeom>
          <a:noFill/>
        </p:spPr>
        <p:txBody>
          <a:bodyPr wrap="square">
            <a:spAutoFit/>
          </a:bodyPr>
          <a:lstStyle/>
          <a:p>
            <a:pPr algn="l">
              <a:defRPr sz="1700" b="0">
                <a:solidFill>
                  <a:srgbClr val="FFFFFF"/>
                </a:solidFill>
                <a:latin typeface="Segoe UI"/>
              </a:defRPr>
            </a:pPr>
            <a:r>
              <a:t>SQLite (embedded database)</a:t>
            </a:r>
          </a:p>
        </p:txBody>
      </p:sp>
      <p:sp>
        <p:nvSpPr>
          <p:cNvPr id="20" name="TextBox 19"/>
          <p:cNvSpPr txBox="1"/>
          <p:nvPr/>
        </p:nvSpPr>
        <p:spPr>
          <a:xfrm>
            <a:off x="6217920" y="2560320"/>
            <a:ext cx="5029200" cy="384048"/>
          </a:xfrm>
          <a:prstGeom prst="rect">
            <a:avLst/>
          </a:prstGeom>
          <a:noFill/>
        </p:spPr>
        <p:txBody>
          <a:bodyPr wrap="square">
            <a:spAutoFit/>
          </a:bodyPr>
          <a:lstStyle/>
          <a:p>
            <a:pPr algn="l">
              <a:defRPr sz="1700" b="0">
                <a:solidFill>
                  <a:srgbClr val="FFFFFF"/>
                </a:solidFill>
                <a:latin typeface="Segoe UI"/>
              </a:defRPr>
            </a:pPr>
            <a:r>
              <a:t>Flask-SocketIO (WebSocket)</a:t>
            </a:r>
          </a:p>
        </p:txBody>
      </p:sp>
      <p:sp>
        <p:nvSpPr>
          <p:cNvPr id="21" name="TextBox 20"/>
          <p:cNvSpPr txBox="1"/>
          <p:nvPr/>
        </p:nvSpPr>
        <p:spPr>
          <a:xfrm>
            <a:off x="6217920" y="2926080"/>
            <a:ext cx="5029200" cy="384048"/>
          </a:xfrm>
          <a:prstGeom prst="rect">
            <a:avLst/>
          </a:prstGeom>
          <a:noFill/>
        </p:spPr>
        <p:txBody>
          <a:bodyPr wrap="square">
            <a:spAutoFit/>
          </a:bodyPr>
          <a:lstStyle/>
          <a:p>
            <a:pPr algn="l">
              <a:defRPr sz="1700" b="0">
                <a:solidFill>
                  <a:srgbClr val="FFFFFF"/>
                </a:solidFill>
                <a:latin typeface="Segoe UI"/>
              </a:defRPr>
            </a:pPr>
            <a:r>
              <a:t>scikit-learn (ML inference)</a:t>
            </a:r>
          </a:p>
        </p:txBody>
      </p:sp>
      <p:sp>
        <p:nvSpPr>
          <p:cNvPr id="22" name="TextBox 21"/>
          <p:cNvSpPr txBox="1"/>
          <p:nvPr/>
        </p:nvSpPr>
        <p:spPr>
          <a:xfrm>
            <a:off x="6217920" y="3291840"/>
            <a:ext cx="5029200" cy="384048"/>
          </a:xfrm>
          <a:prstGeom prst="rect">
            <a:avLst/>
          </a:prstGeom>
          <a:noFill/>
        </p:spPr>
        <p:txBody>
          <a:bodyPr wrap="square">
            <a:spAutoFit/>
          </a:bodyPr>
          <a:lstStyle/>
          <a:p>
            <a:pPr algn="l">
              <a:defRPr sz="1700" b="0">
                <a:solidFill>
                  <a:srgbClr val="FFFFFF"/>
                </a:solidFill>
                <a:latin typeface="Segoe UI"/>
              </a:defRPr>
            </a:pPr>
          </a:p>
        </p:txBody>
      </p:sp>
      <p:sp>
        <p:nvSpPr>
          <p:cNvPr id="23" name="TextBox 22"/>
          <p:cNvSpPr txBox="1"/>
          <p:nvPr/>
        </p:nvSpPr>
        <p:spPr>
          <a:xfrm>
            <a:off x="6217920" y="3657600"/>
            <a:ext cx="5029200" cy="384048"/>
          </a:xfrm>
          <a:prstGeom prst="rect">
            <a:avLst/>
          </a:prstGeom>
          <a:noFill/>
        </p:spPr>
        <p:txBody>
          <a:bodyPr wrap="square">
            <a:spAutoFit/>
          </a:bodyPr>
          <a:lstStyle/>
          <a:p>
            <a:pPr algn="l">
              <a:defRPr sz="1700" b="0">
                <a:solidFill>
                  <a:srgbClr val="FFFFFF"/>
                </a:solidFill>
                <a:latin typeface="Segoe UI"/>
              </a:defRPr>
            </a:pPr>
            <a:r>
              <a:t>--- ML Pipeline ---</a:t>
            </a:r>
          </a:p>
        </p:txBody>
      </p:sp>
      <p:sp>
        <p:nvSpPr>
          <p:cNvPr id="24" name="TextBox 23"/>
          <p:cNvSpPr txBox="1"/>
          <p:nvPr/>
        </p:nvSpPr>
        <p:spPr>
          <a:xfrm>
            <a:off x="6217920" y="4023360"/>
            <a:ext cx="5029200" cy="384048"/>
          </a:xfrm>
          <a:prstGeom prst="rect">
            <a:avLst/>
          </a:prstGeom>
          <a:noFill/>
        </p:spPr>
        <p:txBody>
          <a:bodyPr wrap="square">
            <a:spAutoFit/>
          </a:bodyPr>
          <a:lstStyle/>
          <a:p>
            <a:pPr algn="l">
              <a:defRPr sz="1700" b="0">
                <a:solidFill>
                  <a:srgbClr val="FFFFFF"/>
                </a:solidFill>
                <a:latin typeface="Segoe UI"/>
              </a:defRPr>
            </a:pPr>
            <a:r>
              <a:t>Random Forest classifier</a:t>
            </a:r>
          </a:p>
        </p:txBody>
      </p:sp>
      <p:sp>
        <p:nvSpPr>
          <p:cNvPr id="25" name="TextBox 24"/>
          <p:cNvSpPr txBox="1"/>
          <p:nvPr/>
        </p:nvSpPr>
        <p:spPr>
          <a:xfrm>
            <a:off x="6217920" y="4389120"/>
            <a:ext cx="5029200" cy="384048"/>
          </a:xfrm>
          <a:prstGeom prst="rect">
            <a:avLst/>
          </a:prstGeom>
          <a:noFill/>
        </p:spPr>
        <p:txBody>
          <a:bodyPr wrap="square">
            <a:spAutoFit/>
          </a:bodyPr>
          <a:lstStyle/>
          <a:p>
            <a:pPr algn="l">
              <a:defRPr sz="1700" b="0">
                <a:solidFill>
                  <a:srgbClr val="FFFFFF"/>
                </a:solidFill>
                <a:latin typeface="Segoe UI"/>
              </a:defRPr>
            </a:pPr>
            <a:r>
              <a:t>16 semantic features</a:t>
            </a:r>
          </a:p>
        </p:txBody>
      </p:sp>
      <p:sp>
        <p:nvSpPr>
          <p:cNvPr id="26" name="TextBox 25"/>
          <p:cNvSpPr txBox="1"/>
          <p:nvPr/>
        </p:nvSpPr>
        <p:spPr>
          <a:xfrm>
            <a:off x="6217920" y="4754880"/>
            <a:ext cx="5029200" cy="384048"/>
          </a:xfrm>
          <a:prstGeom prst="rect">
            <a:avLst/>
          </a:prstGeom>
          <a:noFill/>
        </p:spPr>
        <p:txBody>
          <a:bodyPr wrap="square">
            <a:spAutoFit/>
          </a:bodyPr>
          <a:lstStyle/>
          <a:p>
            <a:pPr algn="l">
              <a:defRPr sz="1700" b="0">
                <a:solidFill>
                  <a:srgbClr val="FFFFFF"/>
                </a:solidFill>
                <a:latin typeface="Segoe UI"/>
              </a:defRPr>
            </a:pPr>
            <a:r>
              <a:t>Trained on Kaggle CMI dataset</a:t>
            </a:r>
          </a:p>
        </p:txBody>
      </p:sp>
      <p:sp>
        <p:nvSpPr>
          <p:cNvPr id="27" name="TextBox 26"/>
          <p:cNvSpPr txBox="1"/>
          <p:nvPr/>
        </p:nvSpPr>
        <p:spPr>
          <a:xfrm>
            <a:off x="6217920" y="5120640"/>
            <a:ext cx="5029200" cy="384048"/>
          </a:xfrm>
          <a:prstGeom prst="rect">
            <a:avLst/>
          </a:prstGeom>
          <a:noFill/>
        </p:spPr>
        <p:txBody>
          <a:bodyPr wrap="square">
            <a:spAutoFit/>
          </a:bodyPr>
          <a:lstStyle/>
          <a:p>
            <a:pPr algn="l">
              <a:defRPr sz="1700" b="0">
                <a:solidFill>
                  <a:srgbClr val="FFFFFF"/>
                </a:solidFill>
                <a:latin typeface="Segoe UI"/>
              </a:defRPr>
            </a:pPr>
            <a:r>
              <a:t>574,945 readings, 8,151 sequences</a:t>
            </a:r>
          </a:p>
        </p:txBody>
      </p:sp>
      <p:sp>
        <p:nvSpPr>
          <p:cNvPr id="28" name="TextBox 27"/>
          <p:cNvSpPr txBox="1"/>
          <p:nvPr/>
        </p:nvSpPr>
        <p:spPr>
          <a:xfrm>
            <a:off x="6217920" y="5486400"/>
            <a:ext cx="5029200" cy="384048"/>
          </a:xfrm>
          <a:prstGeom prst="rect">
            <a:avLst/>
          </a:prstGeom>
          <a:noFill/>
        </p:spPr>
        <p:txBody>
          <a:bodyPr wrap="square">
            <a:spAutoFit/>
          </a:bodyPr>
          <a:lstStyle/>
          <a:p>
            <a:pPr algn="l">
              <a:defRPr sz="1700" b="0">
                <a:solidFill>
                  <a:srgbClr val="FFFFFF"/>
                </a:solidFill>
                <a:latin typeface="Segoe UI"/>
              </a:defRPr>
            </a:pPr>
            <a:r>
              <a:t>Late multimodal fusion</a:t>
            </a:r>
          </a:p>
        </p:txBody>
      </p:sp>
      <p:sp>
        <p:nvSpPr>
          <p:cNvPr id="29" name="TextBox 28"/>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Database Design (3NF Normalized)</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9 Tables in Third Normal Form (3NF)</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users - accounts with hashed passwords (SHA-256 + salt)</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onboarding_responses - personalization questionnaire data</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r>
              <a:t>bfrb_types - 8 seeded BFRB categories (extensible)</a:t>
            </a:r>
          </a:p>
        </p:txBody>
      </p:sp>
      <p:sp>
        <p:nvSpPr>
          <p:cNvPr id="9" name="TextBox 8"/>
          <p:cNvSpPr txBox="1"/>
          <p:nvPr/>
        </p:nvSpPr>
        <p:spPr>
          <a:xfrm>
            <a:off x="1097280" y="3026664"/>
            <a:ext cx="9601200" cy="411480"/>
          </a:xfrm>
          <a:prstGeom prst="rect">
            <a:avLst/>
          </a:prstGeom>
          <a:noFill/>
        </p:spPr>
        <p:txBody>
          <a:bodyPr wrap="square">
            <a:spAutoFit/>
          </a:bodyPr>
          <a:lstStyle/>
          <a:p>
            <a:pPr algn="l">
              <a:defRPr sz="1800" b="0">
                <a:solidFill>
                  <a:srgbClr val="FFFFFF"/>
                </a:solidFill>
                <a:latin typeface="Segoe UI"/>
              </a:defRPr>
            </a:pPr>
            <a:r>
              <a:t>sessions - detection sessions (start, end, stats)</a:t>
            </a:r>
          </a:p>
        </p:txBody>
      </p:sp>
      <p:sp>
        <p:nvSpPr>
          <p:cNvPr id="10" name="TextBox 9"/>
          <p:cNvSpPr txBox="1"/>
          <p:nvPr/>
        </p:nvSpPr>
        <p:spPr>
          <a:xfrm>
            <a:off x="1097280" y="3410712"/>
            <a:ext cx="9601200" cy="411480"/>
          </a:xfrm>
          <a:prstGeom prst="rect">
            <a:avLst/>
          </a:prstGeom>
          <a:noFill/>
        </p:spPr>
        <p:txBody>
          <a:bodyPr wrap="square">
            <a:spAutoFit/>
          </a:bodyPr>
          <a:lstStyle/>
          <a:p>
            <a:pPr algn="l">
              <a:defRPr sz="1800" b="0">
                <a:solidFill>
                  <a:srgbClr val="FFFFFF"/>
                </a:solidFill>
                <a:latin typeface="Segoe UI"/>
              </a:defRPr>
            </a:pPr>
            <a:r>
              <a:t>detections - individual events (confidence, ML score, fused score)</a:t>
            </a:r>
          </a:p>
        </p:txBody>
      </p:sp>
      <p:sp>
        <p:nvSpPr>
          <p:cNvPr id="11" name="TextBox 10"/>
          <p:cNvSpPr txBox="1"/>
          <p:nvPr/>
        </p:nvSpPr>
        <p:spPr>
          <a:xfrm>
            <a:off x="1097280" y="3794760"/>
            <a:ext cx="9601200" cy="411480"/>
          </a:xfrm>
          <a:prstGeom prst="rect">
            <a:avLst/>
          </a:prstGeom>
          <a:noFill/>
        </p:spPr>
        <p:txBody>
          <a:bodyPr wrap="square">
            <a:spAutoFit/>
          </a:bodyPr>
          <a:lstStyle/>
          <a:p>
            <a:pPr algn="l">
              <a:defRPr sz="1800" b="0">
                <a:solidFill>
                  <a:srgbClr val="FFFFFF"/>
                </a:solidFill>
                <a:latin typeface="Segoe UI"/>
              </a:defRPr>
            </a:pPr>
            <a:r>
              <a:t>calibrations - per-session adaptive thresholds</a:t>
            </a:r>
          </a:p>
        </p:txBody>
      </p:sp>
      <p:sp>
        <p:nvSpPr>
          <p:cNvPr id="12" name="TextBox 11"/>
          <p:cNvSpPr txBox="1"/>
          <p:nvPr/>
        </p:nvSpPr>
        <p:spPr>
          <a:xfrm>
            <a:off x="1097280" y="4178808"/>
            <a:ext cx="9601200" cy="411480"/>
          </a:xfrm>
          <a:prstGeom prst="rect">
            <a:avLst/>
          </a:prstGeom>
          <a:noFill/>
        </p:spPr>
        <p:txBody>
          <a:bodyPr wrap="square">
            <a:spAutoFit/>
          </a:bodyPr>
          <a:lstStyle/>
          <a:p>
            <a:pPr algn="l">
              <a:defRPr sz="1800" b="0">
                <a:solidFill>
                  <a:srgbClr val="FFFFFF"/>
                </a:solidFill>
                <a:latin typeface="Segoe UI"/>
              </a:defRPr>
            </a:pPr>
            <a:r>
              <a:t>user_feedback - yes/no feedback on each detection</a:t>
            </a:r>
          </a:p>
        </p:txBody>
      </p:sp>
      <p:sp>
        <p:nvSpPr>
          <p:cNvPr id="13" name="TextBox 12"/>
          <p:cNvSpPr txBox="1"/>
          <p:nvPr/>
        </p:nvSpPr>
        <p:spPr>
          <a:xfrm>
            <a:off x="1097280" y="4562856"/>
            <a:ext cx="9601200" cy="411480"/>
          </a:xfrm>
          <a:prstGeom prst="rect">
            <a:avLst/>
          </a:prstGeom>
          <a:noFill/>
        </p:spPr>
        <p:txBody>
          <a:bodyPr wrap="square">
            <a:spAutoFit/>
          </a:bodyPr>
          <a:lstStyle/>
          <a:p>
            <a:pPr algn="l">
              <a:defRPr sz="1800" b="0">
                <a:solidFill>
                  <a:srgbClr val="FFFFFF"/>
                </a:solidFill>
                <a:latin typeface="Segoe UI"/>
              </a:defRPr>
            </a:pPr>
            <a:r>
              <a:t>pilot_trials - structured ground-truth collection</a:t>
            </a:r>
          </a:p>
        </p:txBody>
      </p:sp>
      <p:sp>
        <p:nvSpPr>
          <p:cNvPr id="14" name="TextBox 13"/>
          <p:cNvSpPr txBox="1"/>
          <p:nvPr/>
        </p:nvSpPr>
        <p:spPr>
          <a:xfrm>
            <a:off x="1097280" y="4946904"/>
            <a:ext cx="9601200" cy="411480"/>
          </a:xfrm>
          <a:prstGeom prst="rect">
            <a:avLst/>
          </a:prstGeom>
          <a:noFill/>
        </p:spPr>
        <p:txBody>
          <a:bodyPr wrap="square">
            <a:spAutoFit/>
          </a:bodyPr>
          <a:lstStyle/>
          <a:p>
            <a:pPr algn="l">
              <a:defRPr sz="1800" b="0">
                <a:solidFill>
                  <a:srgbClr val="FFFFFF"/>
                </a:solidFill>
                <a:latin typeface="Segoe UI"/>
              </a:defRPr>
            </a:pPr>
            <a:r>
              <a:t>telemetry - per-frame IEEE-grade logging</a:t>
            </a:r>
          </a:p>
        </p:txBody>
      </p:sp>
      <p:sp>
        <p:nvSpPr>
          <p:cNvPr id="15" name="TextBox 14"/>
          <p:cNvSpPr txBox="1"/>
          <p:nvPr/>
        </p:nvSpPr>
        <p:spPr>
          <a:xfrm>
            <a:off x="1097280" y="5330952"/>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6" name="TextBox 15"/>
          <p:cNvSpPr txBox="1"/>
          <p:nvPr/>
        </p:nvSpPr>
        <p:spPr>
          <a:xfrm>
            <a:off x="914400" y="5715000"/>
            <a:ext cx="9601200" cy="457200"/>
          </a:xfrm>
          <a:prstGeom prst="rect">
            <a:avLst/>
          </a:prstGeom>
          <a:noFill/>
        </p:spPr>
        <p:txBody>
          <a:bodyPr wrap="square">
            <a:spAutoFit/>
          </a:bodyPr>
          <a:lstStyle/>
          <a:p>
            <a:pPr algn="l">
              <a:defRPr sz="2000" b="1">
                <a:solidFill>
                  <a:srgbClr val="D4880F"/>
                </a:solidFill>
                <a:latin typeface="Segoe UI"/>
              </a:defRPr>
            </a:pPr>
            <a:r>
              <a:t>Key Design Decisions</a:t>
            </a:r>
          </a:p>
        </p:txBody>
      </p:sp>
      <p:sp>
        <p:nvSpPr>
          <p:cNvPr id="17" name="TextBox 16"/>
          <p:cNvSpPr txBox="1"/>
          <p:nvPr/>
        </p:nvSpPr>
        <p:spPr>
          <a:xfrm>
            <a:off x="1097280" y="6126480"/>
            <a:ext cx="9601200" cy="411480"/>
          </a:xfrm>
          <a:prstGeom prst="rect">
            <a:avLst/>
          </a:prstGeom>
          <a:noFill/>
        </p:spPr>
        <p:txBody>
          <a:bodyPr wrap="square">
            <a:spAutoFit/>
          </a:bodyPr>
          <a:lstStyle/>
          <a:p>
            <a:pPr algn="l">
              <a:defRPr sz="1800" b="0">
                <a:solidFill>
                  <a:srgbClr val="FFFFFF"/>
                </a:solidFill>
                <a:latin typeface="Segoe UI"/>
              </a:defRPr>
            </a:pPr>
            <a:r>
              <a:t>SQLite for zero-config deployment (no Docker needed)</a:t>
            </a:r>
          </a:p>
        </p:txBody>
      </p:sp>
      <p:sp>
        <p:nvSpPr>
          <p:cNvPr id="18" name="TextBox 17"/>
          <p:cNvSpPr txBox="1"/>
          <p:nvPr/>
        </p:nvSpPr>
        <p:spPr>
          <a:xfrm>
            <a:off x="1097280" y="6510528"/>
            <a:ext cx="9601200" cy="411480"/>
          </a:xfrm>
          <a:prstGeom prst="rect">
            <a:avLst/>
          </a:prstGeom>
          <a:noFill/>
        </p:spPr>
        <p:txBody>
          <a:bodyPr wrap="square">
            <a:spAutoFit/>
          </a:bodyPr>
          <a:lstStyle/>
          <a:p>
            <a:pPr algn="l">
              <a:defRPr sz="1800" b="0">
                <a:solidFill>
                  <a:srgbClr val="FFFFFF"/>
                </a:solidFill>
                <a:latin typeface="Segoe UI"/>
              </a:defRPr>
            </a:pPr>
            <a:r>
              <a:t>Foreign keys + WAL journaling for data integrity</a:t>
            </a:r>
          </a:p>
        </p:txBody>
      </p:sp>
      <p:sp>
        <p:nvSpPr>
          <p:cNvPr id="19" name="TextBox 18"/>
          <p:cNvSpPr txBox="1"/>
          <p:nvPr/>
        </p:nvSpPr>
        <p:spPr>
          <a:xfrm>
            <a:off x="1097280" y="6894576"/>
            <a:ext cx="9601200" cy="411480"/>
          </a:xfrm>
          <a:prstGeom prst="rect">
            <a:avLst/>
          </a:prstGeom>
          <a:noFill/>
        </p:spPr>
        <p:txBody>
          <a:bodyPr wrap="square">
            <a:spAutoFit/>
          </a:bodyPr>
          <a:lstStyle/>
          <a:p>
            <a:pPr algn="l">
              <a:defRPr sz="1800" b="0">
                <a:solidFill>
                  <a:srgbClr val="FFFFFF"/>
                </a:solidFill>
                <a:latin typeface="Segoe UI"/>
              </a:defRPr>
            </a:pPr>
            <a:r>
              <a:t>Auto-migration: new columns added transparently</a:t>
            </a:r>
          </a:p>
        </p:txBody>
      </p:sp>
      <p:sp>
        <p:nvSpPr>
          <p:cNvPr id="20" name="TextBox 19"/>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Backend: Flask API (20+ Endpoints)</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5029200" cy="384048"/>
          </a:xfrm>
          <a:prstGeom prst="rect">
            <a:avLst/>
          </a:prstGeom>
          <a:noFill/>
        </p:spPr>
        <p:txBody>
          <a:bodyPr wrap="square">
            <a:spAutoFit/>
          </a:bodyPr>
          <a:lstStyle/>
          <a:p>
            <a:pPr algn="l">
              <a:defRPr sz="1700" b="0">
                <a:solidFill>
                  <a:srgbClr val="FFFFFF"/>
                </a:solidFill>
                <a:latin typeface="Segoe UI"/>
              </a:defRPr>
            </a:pPr>
            <a:r>
              <a:t>--- Authentication ---</a:t>
            </a:r>
          </a:p>
        </p:txBody>
      </p:sp>
      <p:sp>
        <p:nvSpPr>
          <p:cNvPr id="6" name="TextBox 5"/>
          <p:cNvSpPr txBox="1"/>
          <p:nvPr/>
        </p:nvSpPr>
        <p:spPr>
          <a:xfrm>
            <a:off x="731520" y="1828800"/>
            <a:ext cx="5029200" cy="384048"/>
          </a:xfrm>
          <a:prstGeom prst="rect">
            <a:avLst/>
          </a:prstGeom>
          <a:noFill/>
        </p:spPr>
        <p:txBody>
          <a:bodyPr wrap="square">
            <a:spAutoFit/>
          </a:bodyPr>
          <a:lstStyle/>
          <a:p>
            <a:pPr algn="l">
              <a:defRPr sz="1700" b="0">
                <a:solidFill>
                  <a:srgbClr val="FFFFFF"/>
                </a:solidFill>
                <a:latin typeface="Segoe UI"/>
              </a:defRPr>
            </a:pPr>
            <a:r>
              <a:t>POST /api/auth/register</a:t>
            </a:r>
          </a:p>
        </p:txBody>
      </p:sp>
      <p:sp>
        <p:nvSpPr>
          <p:cNvPr id="7" name="TextBox 6"/>
          <p:cNvSpPr txBox="1"/>
          <p:nvPr/>
        </p:nvSpPr>
        <p:spPr>
          <a:xfrm>
            <a:off x="731520" y="2194560"/>
            <a:ext cx="5029200" cy="384048"/>
          </a:xfrm>
          <a:prstGeom prst="rect">
            <a:avLst/>
          </a:prstGeom>
          <a:noFill/>
        </p:spPr>
        <p:txBody>
          <a:bodyPr wrap="square">
            <a:spAutoFit/>
          </a:bodyPr>
          <a:lstStyle/>
          <a:p>
            <a:pPr algn="l">
              <a:defRPr sz="1700" b="0">
                <a:solidFill>
                  <a:srgbClr val="FFFFFF"/>
                </a:solidFill>
                <a:latin typeface="Segoe UI"/>
              </a:defRPr>
            </a:pPr>
            <a:r>
              <a:t>POST /api/auth/login</a:t>
            </a:r>
          </a:p>
        </p:txBody>
      </p:sp>
      <p:sp>
        <p:nvSpPr>
          <p:cNvPr id="8" name="TextBox 7"/>
          <p:cNvSpPr txBox="1"/>
          <p:nvPr/>
        </p:nvSpPr>
        <p:spPr>
          <a:xfrm>
            <a:off x="731520" y="2560320"/>
            <a:ext cx="5029200" cy="384048"/>
          </a:xfrm>
          <a:prstGeom prst="rect">
            <a:avLst/>
          </a:prstGeom>
          <a:noFill/>
        </p:spPr>
        <p:txBody>
          <a:bodyPr wrap="square">
            <a:spAutoFit/>
          </a:bodyPr>
          <a:lstStyle/>
          <a:p>
            <a:pPr algn="l">
              <a:defRPr sz="1700" b="0">
                <a:solidFill>
                  <a:srgbClr val="FFFFFF"/>
                </a:solidFill>
                <a:latin typeface="Segoe UI"/>
              </a:defRPr>
            </a:pPr>
            <a:r>
              <a:t>POST /api/auth/logout</a:t>
            </a:r>
          </a:p>
        </p:txBody>
      </p:sp>
      <p:sp>
        <p:nvSpPr>
          <p:cNvPr id="9" name="TextBox 8"/>
          <p:cNvSpPr txBox="1"/>
          <p:nvPr/>
        </p:nvSpPr>
        <p:spPr>
          <a:xfrm>
            <a:off x="731520" y="2926080"/>
            <a:ext cx="5029200" cy="384048"/>
          </a:xfrm>
          <a:prstGeom prst="rect">
            <a:avLst/>
          </a:prstGeom>
          <a:noFill/>
        </p:spPr>
        <p:txBody>
          <a:bodyPr wrap="square">
            <a:spAutoFit/>
          </a:bodyPr>
          <a:lstStyle/>
          <a:p>
            <a:pPr algn="l">
              <a:defRPr sz="1700" b="0">
                <a:solidFill>
                  <a:srgbClr val="FFFFFF"/>
                </a:solidFill>
                <a:latin typeface="Segoe UI"/>
              </a:defRPr>
            </a:pPr>
            <a:r>
              <a:t>GET  /api/auth/me</a:t>
            </a:r>
          </a:p>
        </p:txBody>
      </p:sp>
      <p:sp>
        <p:nvSpPr>
          <p:cNvPr id="10" name="TextBox 9"/>
          <p:cNvSpPr txBox="1"/>
          <p:nvPr/>
        </p:nvSpPr>
        <p:spPr>
          <a:xfrm>
            <a:off x="731520" y="3291840"/>
            <a:ext cx="5029200" cy="384048"/>
          </a:xfrm>
          <a:prstGeom prst="rect">
            <a:avLst/>
          </a:prstGeom>
          <a:noFill/>
        </p:spPr>
        <p:txBody>
          <a:bodyPr wrap="square">
            <a:spAutoFit/>
          </a:bodyPr>
          <a:lstStyle/>
          <a:p>
            <a:pPr algn="l">
              <a:defRPr sz="1700" b="0">
                <a:solidFill>
                  <a:srgbClr val="FFFFFF"/>
                </a:solidFill>
                <a:latin typeface="Segoe UI"/>
              </a:defRPr>
            </a:pPr>
          </a:p>
        </p:txBody>
      </p:sp>
      <p:sp>
        <p:nvSpPr>
          <p:cNvPr id="11" name="TextBox 10"/>
          <p:cNvSpPr txBox="1"/>
          <p:nvPr/>
        </p:nvSpPr>
        <p:spPr>
          <a:xfrm>
            <a:off x="731520" y="3657600"/>
            <a:ext cx="5029200" cy="384048"/>
          </a:xfrm>
          <a:prstGeom prst="rect">
            <a:avLst/>
          </a:prstGeom>
          <a:noFill/>
        </p:spPr>
        <p:txBody>
          <a:bodyPr wrap="square">
            <a:spAutoFit/>
          </a:bodyPr>
          <a:lstStyle/>
          <a:p>
            <a:pPr algn="l">
              <a:defRPr sz="1700" b="0">
                <a:solidFill>
                  <a:srgbClr val="FFFFFF"/>
                </a:solidFill>
                <a:latin typeface="Segoe UI"/>
              </a:defRPr>
            </a:pPr>
            <a:r>
              <a:t>--- Sessions ---</a:t>
            </a:r>
          </a:p>
        </p:txBody>
      </p:sp>
      <p:sp>
        <p:nvSpPr>
          <p:cNvPr id="12" name="TextBox 11"/>
          <p:cNvSpPr txBox="1"/>
          <p:nvPr/>
        </p:nvSpPr>
        <p:spPr>
          <a:xfrm>
            <a:off x="731520" y="4023360"/>
            <a:ext cx="5029200" cy="384048"/>
          </a:xfrm>
          <a:prstGeom prst="rect">
            <a:avLst/>
          </a:prstGeom>
          <a:noFill/>
        </p:spPr>
        <p:txBody>
          <a:bodyPr wrap="square">
            <a:spAutoFit/>
          </a:bodyPr>
          <a:lstStyle/>
          <a:p>
            <a:pPr algn="l">
              <a:defRPr sz="1700" b="0">
                <a:solidFill>
                  <a:srgbClr val="FFFFFF"/>
                </a:solidFill>
                <a:latin typeface="Segoe UI"/>
              </a:defRPr>
            </a:pPr>
            <a:r>
              <a:t>POST /api/sessions (start)</a:t>
            </a:r>
          </a:p>
        </p:txBody>
      </p:sp>
      <p:sp>
        <p:nvSpPr>
          <p:cNvPr id="13" name="TextBox 12"/>
          <p:cNvSpPr txBox="1"/>
          <p:nvPr/>
        </p:nvSpPr>
        <p:spPr>
          <a:xfrm>
            <a:off x="731520" y="4389120"/>
            <a:ext cx="5029200" cy="384048"/>
          </a:xfrm>
          <a:prstGeom prst="rect">
            <a:avLst/>
          </a:prstGeom>
          <a:noFill/>
        </p:spPr>
        <p:txBody>
          <a:bodyPr wrap="square">
            <a:spAutoFit/>
          </a:bodyPr>
          <a:lstStyle/>
          <a:p>
            <a:pPr algn="l">
              <a:defRPr sz="1700" b="0">
                <a:solidFill>
                  <a:srgbClr val="FFFFFF"/>
                </a:solidFill>
                <a:latin typeface="Segoe UI"/>
              </a:defRPr>
            </a:pPr>
            <a:r>
              <a:t>PUT  /api/sessions/&lt;id&gt;/end</a:t>
            </a:r>
          </a:p>
        </p:txBody>
      </p:sp>
      <p:sp>
        <p:nvSpPr>
          <p:cNvPr id="14" name="TextBox 13"/>
          <p:cNvSpPr txBox="1"/>
          <p:nvPr/>
        </p:nvSpPr>
        <p:spPr>
          <a:xfrm>
            <a:off x="731520" y="4754880"/>
            <a:ext cx="5029200" cy="384048"/>
          </a:xfrm>
          <a:prstGeom prst="rect">
            <a:avLst/>
          </a:prstGeom>
          <a:noFill/>
        </p:spPr>
        <p:txBody>
          <a:bodyPr wrap="square">
            <a:spAutoFit/>
          </a:bodyPr>
          <a:lstStyle/>
          <a:p>
            <a:pPr algn="l">
              <a:defRPr sz="1700" b="0">
                <a:solidFill>
                  <a:srgbClr val="FFFFFF"/>
                </a:solidFill>
                <a:latin typeface="Segoe UI"/>
              </a:defRPr>
            </a:pPr>
            <a:r>
              <a:t>GET  /api/sessions (list)</a:t>
            </a:r>
          </a:p>
        </p:txBody>
      </p:sp>
      <p:sp>
        <p:nvSpPr>
          <p:cNvPr id="15" name="TextBox 14"/>
          <p:cNvSpPr txBox="1"/>
          <p:nvPr/>
        </p:nvSpPr>
        <p:spPr>
          <a:xfrm>
            <a:off x="731520" y="5120640"/>
            <a:ext cx="5029200" cy="384048"/>
          </a:xfrm>
          <a:prstGeom prst="rect">
            <a:avLst/>
          </a:prstGeom>
          <a:noFill/>
        </p:spPr>
        <p:txBody>
          <a:bodyPr wrap="square">
            <a:spAutoFit/>
          </a:bodyPr>
          <a:lstStyle/>
          <a:p>
            <a:pPr algn="l">
              <a:defRPr sz="1700" b="0">
                <a:solidFill>
                  <a:srgbClr val="FFFFFF"/>
                </a:solidFill>
                <a:latin typeface="Segoe UI"/>
              </a:defRPr>
            </a:pPr>
          </a:p>
        </p:txBody>
      </p:sp>
      <p:sp>
        <p:nvSpPr>
          <p:cNvPr id="16" name="TextBox 15"/>
          <p:cNvSpPr txBox="1"/>
          <p:nvPr/>
        </p:nvSpPr>
        <p:spPr>
          <a:xfrm>
            <a:off x="731520" y="5486400"/>
            <a:ext cx="5029200" cy="384048"/>
          </a:xfrm>
          <a:prstGeom prst="rect">
            <a:avLst/>
          </a:prstGeom>
          <a:noFill/>
        </p:spPr>
        <p:txBody>
          <a:bodyPr wrap="square">
            <a:spAutoFit/>
          </a:bodyPr>
          <a:lstStyle/>
          <a:p>
            <a:pPr algn="l">
              <a:defRPr sz="1700" b="0">
                <a:solidFill>
                  <a:srgbClr val="FFFFFF"/>
                </a:solidFill>
                <a:latin typeface="Segoe UI"/>
              </a:defRPr>
            </a:pPr>
            <a:r>
              <a:t>--- Detection &amp; Feedback ---</a:t>
            </a:r>
          </a:p>
        </p:txBody>
      </p:sp>
      <p:sp>
        <p:nvSpPr>
          <p:cNvPr id="17" name="TextBox 16"/>
          <p:cNvSpPr txBox="1"/>
          <p:nvPr/>
        </p:nvSpPr>
        <p:spPr>
          <a:xfrm>
            <a:off x="731520" y="5852160"/>
            <a:ext cx="5029200" cy="384048"/>
          </a:xfrm>
          <a:prstGeom prst="rect">
            <a:avLst/>
          </a:prstGeom>
          <a:noFill/>
        </p:spPr>
        <p:txBody>
          <a:bodyPr wrap="square">
            <a:spAutoFit/>
          </a:bodyPr>
          <a:lstStyle/>
          <a:p>
            <a:pPr algn="l">
              <a:defRPr sz="1700" b="0">
                <a:solidFill>
                  <a:srgbClr val="FFFFFF"/>
                </a:solidFill>
                <a:latin typeface="Segoe UI"/>
              </a:defRPr>
            </a:pPr>
            <a:r>
              <a:t>POST /api/detections</a:t>
            </a:r>
          </a:p>
        </p:txBody>
      </p:sp>
      <p:sp>
        <p:nvSpPr>
          <p:cNvPr id="18" name="TextBox 17"/>
          <p:cNvSpPr txBox="1"/>
          <p:nvPr/>
        </p:nvSpPr>
        <p:spPr>
          <a:xfrm>
            <a:off x="731520" y="6217920"/>
            <a:ext cx="5029200" cy="384048"/>
          </a:xfrm>
          <a:prstGeom prst="rect">
            <a:avLst/>
          </a:prstGeom>
          <a:noFill/>
        </p:spPr>
        <p:txBody>
          <a:bodyPr wrap="square">
            <a:spAutoFit/>
          </a:bodyPr>
          <a:lstStyle/>
          <a:p>
            <a:pPr algn="l">
              <a:defRPr sz="1700" b="0">
                <a:solidFill>
                  <a:srgbClr val="FFFFFF"/>
                </a:solidFill>
                <a:latin typeface="Segoe UI"/>
              </a:defRPr>
            </a:pPr>
            <a:r>
              <a:t>POST /api/feedback</a:t>
            </a:r>
          </a:p>
        </p:txBody>
      </p:sp>
      <p:sp>
        <p:nvSpPr>
          <p:cNvPr id="19" name="TextBox 18"/>
          <p:cNvSpPr txBox="1"/>
          <p:nvPr/>
        </p:nvSpPr>
        <p:spPr>
          <a:xfrm>
            <a:off x="6217920" y="1463040"/>
            <a:ext cx="5029200" cy="384048"/>
          </a:xfrm>
          <a:prstGeom prst="rect">
            <a:avLst/>
          </a:prstGeom>
          <a:noFill/>
        </p:spPr>
        <p:txBody>
          <a:bodyPr wrap="square">
            <a:spAutoFit/>
          </a:bodyPr>
          <a:lstStyle/>
          <a:p>
            <a:pPr algn="l">
              <a:defRPr sz="1700" b="0">
                <a:solidFill>
                  <a:srgbClr val="FFFFFF"/>
                </a:solidFill>
                <a:latin typeface="Segoe UI"/>
              </a:defRPr>
            </a:pPr>
            <a:r>
              <a:t>--- ML Inference ---</a:t>
            </a:r>
          </a:p>
        </p:txBody>
      </p:sp>
      <p:sp>
        <p:nvSpPr>
          <p:cNvPr id="20" name="TextBox 19"/>
          <p:cNvSpPr txBox="1"/>
          <p:nvPr/>
        </p:nvSpPr>
        <p:spPr>
          <a:xfrm>
            <a:off x="6217920" y="1828800"/>
            <a:ext cx="5029200" cy="384048"/>
          </a:xfrm>
          <a:prstGeom prst="rect">
            <a:avLst/>
          </a:prstGeom>
          <a:noFill/>
        </p:spPr>
        <p:txBody>
          <a:bodyPr wrap="square">
            <a:spAutoFit/>
          </a:bodyPr>
          <a:lstStyle/>
          <a:p>
            <a:pPr algn="l">
              <a:defRPr sz="1700" b="0">
                <a:solidFill>
                  <a:srgbClr val="FFFFFF"/>
                </a:solidFill>
                <a:latin typeface="Segoe UI"/>
              </a:defRPr>
            </a:pPr>
            <a:r>
              <a:t>POST /api/predict (HTTP)</a:t>
            </a:r>
          </a:p>
        </p:txBody>
      </p:sp>
      <p:sp>
        <p:nvSpPr>
          <p:cNvPr id="21" name="TextBox 20"/>
          <p:cNvSpPr txBox="1"/>
          <p:nvPr/>
        </p:nvSpPr>
        <p:spPr>
          <a:xfrm>
            <a:off x="6217920" y="2194560"/>
            <a:ext cx="5029200" cy="384048"/>
          </a:xfrm>
          <a:prstGeom prst="rect">
            <a:avLst/>
          </a:prstGeom>
          <a:noFill/>
        </p:spPr>
        <p:txBody>
          <a:bodyPr wrap="square">
            <a:spAutoFit/>
          </a:bodyPr>
          <a:lstStyle/>
          <a:p>
            <a:pPr algn="l">
              <a:defRPr sz="1700" b="0">
                <a:solidFill>
                  <a:srgbClr val="FFFFFF"/>
                </a:solidFill>
                <a:latin typeface="Segoe UI"/>
              </a:defRPr>
            </a:pPr>
            <a:r>
              <a:t>WS predict_frame (WebSocket)</a:t>
            </a:r>
          </a:p>
        </p:txBody>
      </p:sp>
      <p:sp>
        <p:nvSpPr>
          <p:cNvPr id="22" name="TextBox 21"/>
          <p:cNvSpPr txBox="1"/>
          <p:nvPr/>
        </p:nvSpPr>
        <p:spPr>
          <a:xfrm>
            <a:off x="6217920" y="2560320"/>
            <a:ext cx="5029200" cy="384048"/>
          </a:xfrm>
          <a:prstGeom prst="rect">
            <a:avLst/>
          </a:prstGeom>
          <a:noFill/>
        </p:spPr>
        <p:txBody>
          <a:bodyPr wrap="square">
            <a:spAutoFit/>
          </a:bodyPr>
          <a:lstStyle/>
          <a:p>
            <a:pPr algn="l">
              <a:defRPr sz="1700" b="0">
                <a:solidFill>
                  <a:srgbClr val="FFFFFF"/>
                </a:solidFill>
                <a:latin typeface="Segoe UI"/>
              </a:defRPr>
            </a:pPr>
            <a:r>
              <a:t>POST /api/calibrate</a:t>
            </a:r>
          </a:p>
        </p:txBody>
      </p:sp>
      <p:sp>
        <p:nvSpPr>
          <p:cNvPr id="23" name="TextBox 22"/>
          <p:cNvSpPr txBox="1"/>
          <p:nvPr/>
        </p:nvSpPr>
        <p:spPr>
          <a:xfrm>
            <a:off x="6217920" y="2926080"/>
            <a:ext cx="5029200" cy="384048"/>
          </a:xfrm>
          <a:prstGeom prst="rect">
            <a:avLst/>
          </a:prstGeom>
          <a:noFill/>
        </p:spPr>
        <p:txBody>
          <a:bodyPr wrap="square">
            <a:spAutoFit/>
          </a:bodyPr>
          <a:lstStyle/>
          <a:p>
            <a:pPr algn="l">
              <a:defRPr sz="1700" b="0">
                <a:solidFill>
                  <a:srgbClr val="FFFFFF"/>
                </a:solidFill>
                <a:latin typeface="Segoe UI"/>
              </a:defRPr>
            </a:pPr>
          </a:p>
        </p:txBody>
      </p:sp>
      <p:sp>
        <p:nvSpPr>
          <p:cNvPr id="24" name="TextBox 23"/>
          <p:cNvSpPr txBox="1"/>
          <p:nvPr/>
        </p:nvSpPr>
        <p:spPr>
          <a:xfrm>
            <a:off x="6217920" y="3291840"/>
            <a:ext cx="5029200" cy="384048"/>
          </a:xfrm>
          <a:prstGeom prst="rect">
            <a:avLst/>
          </a:prstGeom>
          <a:noFill/>
        </p:spPr>
        <p:txBody>
          <a:bodyPr wrap="square">
            <a:spAutoFit/>
          </a:bodyPr>
          <a:lstStyle/>
          <a:p>
            <a:pPr algn="l">
              <a:defRPr sz="1700" b="0">
                <a:solidFill>
                  <a:srgbClr val="FFFFFF"/>
                </a:solidFill>
                <a:latin typeface="Segoe UI"/>
              </a:defRPr>
            </a:pPr>
            <a:r>
              <a:t>--- Analytics ---</a:t>
            </a:r>
          </a:p>
        </p:txBody>
      </p:sp>
      <p:sp>
        <p:nvSpPr>
          <p:cNvPr id="25" name="TextBox 24"/>
          <p:cNvSpPr txBox="1"/>
          <p:nvPr/>
        </p:nvSpPr>
        <p:spPr>
          <a:xfrm>
            <a:off x="6217920" y="3657600"/>
            <a:ext cx="5029200" cy="384048"/>
          </a:xfrm>
          <a:prstGeom prst="rect">
            <a:avLst/>
          </a:prstGeom>
          <a:noFill/>
        </p:spPr>
        <p:txBody>
          <a:bodyPr wrap="square">
            <a:spAutoFit/>
          </a:bodyPr>
          <a:lstStyle/>
          <a:p>
            <a:pPr algn="l">
              <a:defRPr sz="1700" b="0">
                <a:solidFill>
                  <a:srgbClr val="FFFFFF"/>
                </a:solidFill>
                <a:latin typeface="Segoe UI"/>
              </a:defRPr>
            </a:pPr>
            <a:r>
              <a:t>GET /api/stats/overview</a:t>
            </a:r>
          </a:p>
        </p:txBody>
      </p:sp>
      <p:sp>
        <p:nvSpPr>
          <p:cNvPr id="26" name="TextBox 25"/>
          <p:cNvSpPr txBox="1"/>
          <p:nvPr/>
        </p:nvSpPr>
        <p:spPr>
          <a:xfrm>
            <a:off x="6217920" y="4023360"/>
            <a:ext cx="5029200" cy="384048"/>
          </a:xfrm>
          <a:prstGeom prst="rect">
            <a:avLst/>
          </a:prstGeom>
          <a:noFill/>
        </p:spPr>
        <p:txBody>
          <a:bodyPr wrap="square">
            <a:spAutoFit/>
          </a:bodyPr>
          <a:lstStyle/>
          <a:p>
            <a:pPr algn="l">
              <a:defRPr sz="1700" b="0">
                <a:solidFill>
                  <a:srgbClr val="FFFFFF"/>
                </a:solidFill>
                <a:latin typeface="Segoe UI"/>
              </a:defRPr>
            </a:pPr>
            <a:r>
              <a:t>GET /api/stats/daily</a:t>
            </a:r>
          </a:p>
        </p:txBody>
      </p:sp>
      <p:sp>
        <p:nvSpPr>
          <p:cNvPr id="27" name="TextBox 26"/>
          <p:cNvSpPr txBox="1"/>
          <p:nvPr/>
        </p:nvSpPr>
        <p:spPr>
          <a:xfrm>
            <a:off x="6217920" y="4389120"/>
            <a:ext cx="5029200" cy="384048"/>
          </a:xfrm>
          <a:prstGeom prst="rect">
            <a:avLst/>
          </a:prstGeom>
          <a:noFill/>
        </p:spPr>
        <p:txBody>
          <a:bodyPr wrap="square">
            <a:spAutoFit/>
          </a:bodyPr>
          <a:lstStyle/>
          <a:p>
            <a:pPr algn="l">
              <a:defRPr sz="1700" b="0">
                <a:solidFill>
                  <a:srgbClr val="FFFFFF"/>
                </a:solidFill>
                <a:latin typeface="Segoe UI"/>
              </a:defRPr>
            </a:pPr>
            <a:r>
              <a:t>GET /api/stats/trends</a:t>
            </a:r>
          </a:p>
        </p:txBody>
      </p:sp>
      <p:sp>
        <p:nvSpPr>
          <p:cNvPr id="28" name="TextBox 27"/>
          <p:cNvSpPr txBox="1"/>
          <p:nvPr/>
        </p:nvSpPr>
        <p:spPr>
          <a:xfrm>
            <a:off x="6217920" y="4754880"/>
            <a:ext cx="5029200" cy="384048"/>
          </a:xfrm>
          <a:prstGeom prst="rect">
            <a:avLst/>
          </a:prstGeom>
          <a:noFill/>
        </p:spPr>
        <p:txBody>
          <a:bodyPr wrap="square">
            <a:spAutoFit/>
          </a:bodyPr>
          <a:lstStyle/>
          <a:p>
            <a:pPr algn="l">
              <a:defRPr sz="1700" b="0">
                <a:solidFill>
                  <a:srgbClr val="FFFFFF"/>
                </a:solidFill>
                <a:latin typeface="Segoe UI"/>
              </a:defRPr>
            </a:pPr>
            <a:r>
              <a:t>GET /api/bouts/&lt;sid&gt;</a:t>
            </a:r>
          </a:p>
        </p:txBody>
      </p:sp>
      <p:sp>
        <p:nvSpPr>
          <p:cNvPr id="29" name="TextBox 28"/>
          <p:cNvSpPr txBox="1"/>
          <p:nvPr/>
        </p:nvSpPr>
        <p:spPr>
          <a:xfrm>
            <a:off x="6217920" y="5120640"/>
            <a:ext cx="5029200" cy="384048"/>
          </a:xfrm>
          <a:prstGeom prst="rect">
            <a:avLst/>
          </a:prstGeom>
          <a:noFill/>
        </p:spPr>
        <p:txBody>
          <a:bodyPr wrap="square">
            <a:spAutoFit/>
          </a:bodyPr>
          <a:lstStyle/>
          <a:p>
            <a:pPr algn="l">
              <a:defRPr sz="1700" b="0">
                <a:solidFill>
                  <a:srgbClr val="FFFFFF"/>
                </a:solidFill>
                <a:latin typeface="Segoe UI"/>
              </a:defRPr>
            </a:pPr>
          </a:p>
        </p:txBody>
      </p:sp>
      <p:sp>
        <p:nvSpPr>
          <p:cNvPr id="30" name="TextBox 29"/>
          <p:cNvSpPr txBox="1"/>
          <p:nvPr/>
        </p:nvSpPr>
        <p:spPr>
          <a:xfrm>
            <a:off x="6217920" y="5486400"/>
            <a:ext cx="5029200" cy="384048"/>
          </a:xfrm>
          <a:prstGeom prst="rect">
            <a:avLst/>
          </a:prstGeom>
          <a:noFill/>
        </p:spPr>
        <p:txBody>
          <a:bodyPr wrap="square">
            <a:spAutoFit/>
          </a:bodyPr>
          <a:lstStyle/>
          <a:p>
            <a:pPr algn="l">
              <a:defRPr sz="1700" b="0">
                <a:solidFill>
                  <a:srgbClr val="FFFFFF"/>
                </a:solidFill>
                <a:latin typeface="Segoe UI"/>
              </a:defRPr>
            </a:pPr>
            <a:r>
              <a:t>--- Research ---</a:t>
            </a:r>
          </a:p>
        </p:txBody>
      </p:sp>
      <p:sp>
        <p:nvSpPr>
          <p:cNvPr id="31" name="TextBox 30"/>
          <p:cNvSpPr txBox="1"/>
          <p:nvPr/>
        </p:nvSpPr>
        <p:spPr>
          <a:xfrm>
            <a:off x="6217920" y="5852160"/>
            <a:ext cx="5029200" cy="384048"/>
          </a:xfrm>
          <a:prstGeom prst="rect">
            <a:avLst/>
          </a:prstGeom>
          <a:noFill/>
        </p:spPr>
        <p:txBody>
          <a:bodyPr wrap="square">
            <a:spAutoFit/>
          </a:bodyPr>
          <a:lstStyle/>
          <a:p>
            <a:pPr algn="l">
              <a:defRPr sz="1700" b="0">
                <a:solidFill>
                  <a:srgbClr val="FFFFFF"/>
                </a:solidFill>
                <a:latin typeface="Segoe UI"/>
              </a:defRPr>
            </a:pPr>
            <a:r>
              <a:t>POST /api/pilot/start</a:t>
            </a:r>
          </a:p>
        </p:txBody>
      </p:sp>
      <p:sp>
        <p:nvSpPr>
          <p:cNvPr id="32" name="TextBox 31"/>
          <p:cNvSpPr txBox="1"/>
          <p:nvPr/>
        </p:nvSpPr>
        <p:spPr>
          <a:xfrm>
            <a:off x="6217920" y="6217920"/>
            <a:ext cx="5029200" cy="384048"/>
          </a:xfrm>
          <a:prstGeom prst="rect">
            <a:avLst/>
          </a:prstGeom>
          <a:noFill/>
        </p:spPr>
        <p:txBody>
          <a:bodyPr wrap="square">
            <a:spAutoFit/>
          </a:bodyPr>
          <a:lstStyle/>
          <a:p>
            <a:pPr algn="l">
              <a:defRPr sz="1700" b="0">
                <a:solidFill>
                  <a:srgbClr val="FFFFFF"/>
                </a:solidFill>
                <a:latin typeface="Segoe UI"/>
              </a:defRPr>
            </a:pPr>
            <a:r>
              <a:t>GET /api/export/session/&lt;sid&gt;</a:t>
            </a:r>
          </a:p>
        </p:txBody>
      </p:sp>
      <p:sp>
        <p:nvSpPr>
          <p:cNvPr id="33" name="TextBox 32"/>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ML Pipeline: Feature Engineering &amp; Classification</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Training Data: Kaggle CMI 'Detect Behavior with Sensor Data'</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80 participants wearing wrist sensors | 574,945 readings</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18 gesture types (8 BFRB-like + 10 normal controls)</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9" name="TextBox 8"/>
          <p:cNvSpPr txBox="1"/>
          <p:nvPr/>
        </p:nvSpPr>
        <p:spPr>
          <a:xfrm>
            <a:off x="914400" y="3026664"/>
            <a:ext cx="9601200" cy="457200"/>
          </a:xfrm>
          <a:prstGeom prst="rect">
            <a:avLst/>
          </a:prstGeom>
          <a:noFill/>
        </p:spPr>
        <p:txBody>
          <a:bodyPr wrap="square">
            <a:spAutoFit/>
          </a:bodyPr>
          <a:lstStyle/>
          <a:p>
            <a:pPr algn="l">
              <a:defRPr sz="2000" b="1">
                <a:solidFill>
                  <a:srgbClr val="D4880F"/>
                </a:solidFill>
                <a:latin typeface="Segoe UI"/>
              </a:defRPr>
            </a:pPr>
            <a:r>
              <a:t>16 Semantic Features (bridging sensors -&gt; camera)</a:t>
            </a:r>
          </a:p>
        </p:txBody>
      </p:sp>
      <p:sp>
        <p:nvSpPr>
          <p:cNvPr id="10" name="TextBox 9"/>
          <p:cNvSpPr txBox="1"/>
          <p:nvPr/>
        </p:nvSpPr>
        <p:spPr>
          <a:xfrm>
            <a:off x="1097280" y="3438144"/>
            <a:ext cx="9601200" cy="411480"/>
          </a:xfrm>
          <a:prstGeom prst="rect">
            <a:avLst/>
          </a:prstGeom>
          <a:noFill/>
        </p:spPr>
        <p:txBody>
          <a:bodyPr wrap="square">
            <a:spAutoFit/>
          </a:bodyPr>
          <a:lstStyle/>
          <a:p>
            <a:pPr algn="l">
              <a:defRPr sz="1800" b="0">
                <a:solidFill>
                  <a:srgbClr val="FFFFFF"/>
                </a:solidFill>
                <a:latin typeface="Segoe UI"/>
              </a:defRPr>
            </a:pPr>
            <a:r>
              <a:t>Accelerometer -&gt; wrist velocity (mean, std, max)</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Gyroscope -&gt; palm rotation dynamics</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r>
              <a:t>Thermopile -&gt; hand-face overlap fraction</a:t>
            </a:r>
          </a:p>
        </p:txBody>
      </p:sp>
      <p:sp>
        <p:nvSpPr>
          <p:cNvPr id="13" name="TextBox 12"/>
          <p:cNvSpPr txBox="1"/>
          <p:nvPr/>
        </p:nvSpPr>
        <p:spPr>
          <a:xfrm>
            <a:off x="1097280" y="4590288"/>
            <a:ext cx="9601200" cy="411480"/>
          </a:xfrm>
          <a:prstGeom prst="rect">
            <a:avLst/>
          </a:prstGeom>
          <a:noFill/>
        </p:spPr>
        <p:txBody>
          <a:bodyPr wrap="square">
            <a:spAutoFit/>
          </a:bodyPr>
          <a:lstStyle/>
          <a:p>
            <a:pPr algn="l">
              <a:defRPr sz="1800" b="0">
                <a:solidFill>
                  <a:srgbClr val="FFFFFF"/>
                </a:solidFill>
                <a:latin typeface="Segoe UI"/>
              </a:defRPr>
            </a:pPr>
            <a:r>
              <a:t>Time-of-Flight -&gt; 5 anatomical distances (nose, mouth, cheek, forehead, chin)</a:t>
            </a:r>
          </a:p>
        </p:txBody>
      </p:sp>
      <p:sp>
        <p:nvSpPr>
          <p:cNvPr id="14" name="TextBox 13"/>
          <p:cNvSpPr txBox="1"/>
          <p:nvPr/>
        </p:nvSpPr>
        <p:spPr>
          <a:xfrm>
            <a:off x="1097280" y="497433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5" name="TextBox 14"/>
          <p:cNvSpPr txBox="1"/>
          <p:nvPr/>
        </p:nvSpPr>
        <p:spPr>
          <a:xfrm>
            <a:off x="914400" y="5358384"/>
            <a:ext cx="9601200" cy="457200"/>
          </a:xfrm>
          <a:prstGeom prst="rect">
            <a:avLst/>
          </a:prstGeom>
          <a:noFill/>
        </p:spPr>
        <p:txBody>
          <a:bodyPr wrap="square">
            <a:spAutoFit/>
          </a:bodyPr>
          <a:lstStyle/>
          <a:p>
            <a:pPr algn="l">
              <a:defRPr sz="2000" b="1">
                <a:solidFill>
                  <a:srgbClr val="D4880F"/>
                </a:solidFill>
                <a:latin typeface="Segoe UI"/>
              </a:defRPr>
            </a:pPr>
            <a:r>
              <a:t>Model: Random Forest (200 estimators)</a:t>
            </a:r>
          </a:p>
        </p:txBody>
      </p:sp>
      <p:sp>
        <p:nvSpPr>
          <p:cNvPr id="16" name="TextBox 15"/>
          <p:cNvSpPr txBox="1"/>
          <p:nvPr/>
        </p:nvSpPr>
        <p:spPr>
          <a:xfrm>
            <a:off x="1097280" y="5769864"/>
            <a:ext cx="9601200" cy="411480"/>
          </a:xfrm>
          <a:prstGeom prst="rect">
            <a:avLst/>
          </a:prstGeom>
          <a:noFill/>
        </p:spPr>
        <p:txBody>
          <a:bodyPr wrap="square">
            <a:spAutoFit/>
          </a:bodyPr>
          <a:lstStyle/>
          <a:p>
            <a:pPr algn="l">
              <a:defRPr sz="1800" b="0">
                <a:solidFill>
                  <a:srgbClr val="FFFFFF"/>
                </a:solidFill>
                <a:latin typeface="Segoe UI"/>
              </a:defRPr>
            </a:pPr>
            <a:r>
              <a:t>5-fold cross-validation | Macro F1 evaluation</a:t>
            </a:r>
          </a:p>
        </p:txBody>
      </p:sp>
      <p:sp>
        <p:nvSpPr>
          <p:cNvPr id="17" name="TextBox 16"/>
          <p:cNvSpPr txBox="1"/>
          <p:nvPr/>
        </p:nvSpPr>
        <p:spPr>
          <a:xfrm>
            <a:off x="1097280" y="6153912"/>
            <a:ext cx="9601200" cy="411480"/>
          </a:xfrm>
          <a:prstGeom prst="rect">
            <a:avLst/>
          </a:prstGeom>
          <a:noFill/>
        </p:spPr>
        <p:txBody>
          <a:bodyPr wrap="square">
            <a:spAutoFit/>
          </a:bodyPr>
          <a:lstStyle/>
          <a:p>
            <a:pPr algn="l">
              <a:defRPr sz="1800" b="0">
                <a:solidFill>
                  <a:srgbClr val="FFFFFF"/>
                </a:solidFill>
                <a:latin typeface="Segoe UI"/>
              </a:defRPr>
            </a:pPr>
            <a:r>
              <a:t>MinMaxScaler normalization [0, 1]</a:t>
            </a:r>
          </a:p>
        </p:txBody>
      </p:sp>
      <p:sp>
        <p:nvSpPr>
          <p:cNvPr id="18" name="TextBox 17"/>
          <p:cNvSpPr txBox="1"/>
          <p:nvPr/>
        </p:nvSpPr>
        <p:spPr>
          <a:xfrm>
            <a:off x="1097280" y="6537960"/>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9" name="TextBox 18"/>
          <p:cNvSpPr txBox="1"/>
          <p:nvPr/>
        </p:nvSpPr>
        <p:spPr>
          <a:xfrm>
            <a:off x="914400" y="6922008"/>
            <a:ext cx="9601200" cy="457200"/>
          </a:xfrm>
          <a:prstGeom prst="rect">
            <a:avLst/>
          </a:prstGeom>
          <a:noFill/>
        </p:spPr>
        <p:txBody>
          <a:bodyPr wrap="square">
            <a:spAutoFit/>
          </a:bodyPr>
          <a:lstStyle/>
          <a:p>
            <a:pPr algn="l">
              <a:defRPr sz="2000" b="1">
                <a:solidFill>
                  <a:srgbClr val="D4880F"/>
                </a:solidFill>
                <a:latin typeface="Segoe UI"/>
              </a:defRPr>
            </a:pPr>
            <a:r>
              <a:t>Late Multimodal Fusion</a:t>
            </a:r>
          </a:p>
        </p:txBody>
      </p:sp>
      <p:sp>
        <p:nvSpPr>
          <p:cNvPr id="20" name="TextBox 19"/>
          <p:cNvSpPr txBox="1"/>
          <p:nvPr/>
        </p:nvSpPr>
        <p:spPr>
          <a:xfrm>
            <a:off x="1097280" y="7333488"/>
            <a:ext cx="9601200" cy="411480"/>
          </a:xfrm>
          <a:prstGeom prst="rect">
            <a:avLst/>
          </a:prstGeom>
          <a:noFill/>
        </p:spPr>
        <p:txBody>
          <a:bodyPr wrap="square">
            <a:spAutoFit/>
          </a:bodyPr>
          <a:lstStyle/>
          <a:p>
            <a:pPr algn="l">
              <a:defRPr sz="1800" b="0">
                <a:solidFill>
                  <a:srgbClr val="FFFFFF"/>
                </a:solidFill>
                <a:latin typeface="Segoe UI"/>
              </a:defRPr>
            </a:pPr>
            <a:r>
              <a:t>fused_score = 0.6 x ML_score + 0.4 x rule_score</a:t>
            </a:r>
          </a:p>
        </p:txBody>
      </p:sp>
      <p:sp>
        <p:nvSpPr>
          <p:cNvPr id="21" name="TextBox 20"/>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Detection Pipeline (9-Stage)</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463040"/>
            <a:ext cx="9601200" cy="411480"/>
          </a:xfrm>
          <a:prstGeom prst="rect">
            <a:avLst/>
          </a:prstGeom>
          <a:noFill/>
        </p:spPr>
        <p:txBody>
          <a:bodyPr wrap="square">
            <a:spAutoFit/>
          </a:bodyPr>
          <a:lstStyle/>
          <a:p>
            <a:pPr algn="l">
              <a:defRPr sz="1800" b="0">
                <a:solidFill>
                  <a:srgbClr val="FFFFFF"/>
                </a:solidFill>
                <a:latin typeface="Segoe UI"/>
              </a:defRPr>
            </a:pPr>
            <a:r>
              <a:t>1. One Euro Filter - adaptive low-pass smoothing on all landmarks</a:t>
            </a:r>
          </a:p>
        </p:txBody>
      </p:sp>
      <p:sp>
        <p:nvSpPr>
          <p:cNvPr id="6" name="TextBox 5"/>
          <p:cNvSpPr txBox="1"/>
          <p:nvPr/>
        </p:nvSpPr>
        <p:spPr>
          <a:xfrm>
            <a:off x="1097280" y="1847088"/>
            <a:ext cx="9601200" cy="411480"/>
          </a:xfrm>
          <a:prstGeom prst="rect">
            <a:avLst/>
          </a:prstGeom>
          <a:noFill/>
        </p:spPr>
        <p:txBody>
          <a:bodyPr wrap="square">
            <a:spAutoFit/>
          </a:bodyPr>
          <a:lstStyle/>
          <a:p>
            <a:pPr algn="l">
              <a:defRPr sz="1800" b="0">
                <a:solidFill>
                  <a:srgbClr val="FFFFFF"/>
                </a:solidFill>
                <a:latin typeface="Segoe UI"/>
              </a:defRPr>
            </a:pPr>
            <a:r>
              <a:t>2. Multi-Zone Face Detection - 13 anatomical regions with centroids</a:t>
            </a:r>
          </a:p>
        </p:txBody>
      </p:sp>
      <p:sp>
        <p:nvSpPr>
          <p:cNvPr id="7" name="TextBox 6"/>
          <p:cNvSpPr txBox="1"/>
          <p:nvPr/>
        </p:nvSpPr>
        <p:spPr>
          <a:xfrm>
            <a:off x="1097280" y="2231136"/>
            <a:ext cx="9601200" cy="411480"/>
          </a:xfrm>
          <a:prstGeom prst="rect">
            <a:avLst/>
          </a:prstGeom>
          <a:noFill/>
        </p:spPr>
        <p:txBody>
          <a:bodyPr wrap="square">
            <a:spAutoFit/>
          </a:bodyPr>
          <a:lstStyle/>
          <a:p>
            <a:pPr algn="l">
              <a:defRPr sz="1800" b="0">
                <a:solidFill>
                  <a:srgbClr val="FFFFFF"/>
                </a:solidFill>
                <a:latin typeface="Segoe UI"/>
              </a:defRPr>
            </a:pPr>
            <a:r>
              <a:t>3. Hand Pose Classifier - pinch_grip / fist / pointing / open_hand / curled</a:t>
            </a:r>
          </a:p>
        </p:txBody>
      </p:sp>
      <p:sp>
        <p:nvSpPr>
          <p:cNvPr id="8" name="TextBox 7"/>
          <p:cNvSpPr txBox="1"/>
          <p:nvPr/>
        </p:nvSpPr>
        <p:spPr>
          <a:xfrm>
            <a:off x="1097280" y="2615184"/>
            <a:ext cx="9601200" cy="411480"/>
          </a:xfrm>
          <a:prstGeom prst="rect">
            <a:avLst/>
          </a:prstGeom>
          <a:noFill/>
        </p:spPr>
        <p:txBody>
          <a:bodyPr wrap="square">
            <a:spAutoFit/>
          </a:bodyPr>
          <a:lstStyle/>
          <a:p>
            <a:pPr algn="l">
              <a:defRPr sz="1800" b="0">
                <a:solidFill>
                  <a:srgbClr val="FFFFFF"/>
                </a:solidFill>
                <a:latin typeface="Segoe UI"/>
              </a:defRPr>
            </a:pPr>
            <a:r>
              <a:t>4. 4-State Rule Engine - IDLE -&gt; PROXIMITY -&gt; DWELL -&gt; BFRB</a:t>
            </a:r>
          </a:p>
        </p:txBody>
      </p:sp>
      <p:sp>
        <p:nvSpPr>
          <p:cNvPr id="9" name="TextBox 8"/>
          <p:cNvSpPr txBox="1"/>
          <p:nvPr/>
        </p:nvSpPr>
        <p:spPr>
          <a:xfrm>
            <a:off x="1097280" y="2999232"/>
            <a:ext cx="9601200" cy="411480"/>
          </a:xfrm>
          <a:prstGeom prst="rect">
            <a:avLst/>
          </a:prstGeom>
          <a:noFill/>
        </p:spPr>
        <p:txBody>
          <a:bodyPr wrap="square">
            <a:spAutoFit/>
          </a:bodyPr>
          <a:lstStyle/>
          <a:p>
            <a:pPr algn="l">
              <a:defRPr sz="1800" b="0">
                <a:solidFill>
                  <a:srgbClr val="FFFFFF"/>
                </a:solidFill>
                <a:latin typeface="Segoe UI"/>
              </a:defRPr>
            </a:pPr>
            <a:r>
              <a:t>5. Multi-Signal BFRB Score - 11 weighted factors (proximity, dwell, curl...)</a:t>
            </a:r>
          </a:p>
        </p:txBody>
      </p:sp>
      <p:sp>
        <p:nvSpPr>
          <p:cNvPr id="10" name="TextBox 9"/>
          <p:cNvSpPr txBox="1"/>
          <p:nvPr/>
        </p:nvSpPr>
        <p:spPr>
          <a:xfrm>
            <a:off x="1097280" y="3383280"/>
            <a:ext cx="9601200" cy="411480"/>
          </a:xfrm>
          <a:prstGeom prst="rect">
            <a:avLst/>
          </a:prstGeom>
          <a:noFill/>
        </p:spPr>
        <p:txBody>
          <a:bodyPr wrap="square">
            <a:spAutoFit/>
          </a:bodyPr>
          <a:lstStyle/>
          <a:p>
            <a:pPr algn="l">
              <a:defRPr sz="1800" b="0">
                <a:solidFill>
                  <a:srgbClr val="FFFFFF"/>
                </a:solidFill>
                <a:latin typeface="Segoe UI"/>
              </a:defRPr>
            </a:pPr>
            <a:r>
              <a:t>6. ML Classifier - 16-feature Random Forest, 1.5s sliding window</a:t>
            </a:r>
          </a:p>
        </p:txBody>
      </p:sp>
      <p:sp>
        <p:nvSpPr>
          <p:cNvPr id="11" name="TextBox 10"/>
          <p:cNvSpPr txBox="1"/>
          <p:nvPr/>
        </p:nvSpPr>
        <p:spPr>
          <a:xfrm>
            <a:off x="1097280" y="3767328"/>
            <a:ext cx="9601200" cy="411480"/>
          </a:xfrm>
          <a:prstGeom prst="rect">
            <a:avLst/>
          </a:prstGeom>
          <a:noFill/>
        </p:spPr>
        <p:txBody>
          <a:bodyPr wrap="square">
            <a:spAutoFit/>
          </a:bodyPr>
          <a:lstStyle/>
          <a:p>
            <a:pPr algn="l">
              <a:defRPr sz="1800" b="0">
                <a:solidFill>
                  <a:srgbClr val="FFFFFF"/>
                </a:solidFill>
                <a:latin typeface="Segoe UI"/>
              </a:defRPr>
            </a:pPr>
            <a:r>
              <a:t>7. Late Fusion - combines ML + rule scores (0.6/0.4 split)</a:t>
            </a:r>
          </a:p>
        </p:txBody>
      </p:sp>
      <p:sp>
        <p:nvSpPr>
          <p:cNvPr id="12" name="TextBox 11"/>
          <p:cNvSpPr txBox="1"/>
          <p:nvPr/>
        </p:nvSpPr>
        <p:spPr>
          <a:xfrm>
            <a:off x="1097280" y="4151376"/>
            <a:ext cx="9601200" cy="411480"/>
          </a:xfrm>
          <a:prstGeom prst="rect">
            <a:avLst/>
          </a:prstGeom>
          <a:noFill/>
        </p:spPr>
        <p:txBody>
          <a:bodyPr wrap="square">
            <a:spAutoFit/>
          </a:bodyPr>
          <a:lstStyle/>
          <a:p>
            <a:pPr algn="l">
              <a:defRPr sz="1800" b="0">
                <a:solidFill>
                  <a:srgbClr val="FFFFFF"/>
                </a:solidFill>
                <a:latin typeface="Segoe UI"/>
              </a:defRPr>
            </a:pPr>
            <a:r>
              <a:t>8. Adaptive Threshold - per-session calibration (baseline vs touch distance)</a:t>
            </a:r>
          </a:p>
        </p:txBody>
      </p:sp>
      <p:sp>
        <p:nvSpPr>
          <p:cNvPr id="13" name="TextBox 12"/>
          <p:cNvSpPr txBox="1"/>
          <p:nvPr/>
        </p:nvSpPr>
        <p:spPr>
          <a:xfrm>
            <a:off x="1097280" y="4535424"/>
            <a:ext cx="9601200" cy="411480"/>
          </a:xfrm>
          <a:prstGeom prst="rect">
            <a:avLst/>
          </a:prstGeom>
          <a:noFill/>
        </p:spPr>
        <p:txBody>
          <a:bodyPr wrap="square">
            <a:spAutoFit/>
          </a:bodyPr>
          <a:lstStyle/>
          <a:p>
            <a:pPr algn="l">
              <a:defRPr sz="1800" b="0">
                <a:solidFill>
                  <a:srgbClr val="FFFFFF"/>
                </a:solidFill>
                <a:latin typeface="Segoe UI"/>
              </a:defRPr>
            </a:pPr>
            <a:r>
              <a:t>9. IEEE Telemetry - per-frame structured logging for reproducibility</a:t>
            </a:r>
          </a:p>
        </p:txBody>
      </p:sp>
      <p:sp>
        <p:nvSpPr>
          <p:cNvPr id="14" name="TextBox 13"/>
          <p:cNvSpPr txBox="1"/>
          <p:nvPr/>
        </p:nvSpPr>
        <p:spPr>
          <a:xfrm>
            <a:off x="1097280" y="4919472"/>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5" name="TextBox 14"/>
          <p:cNvSpPr txBox="1"/>
          <p:nvPr/>
        </p:nvSpPr>
        <p:spPr>
          <a:xfrm>
            <a:off x="914400" y="5303520"/>
            <a:ext cx="9601200" cy="457200"/>
          </a:xfrm>
          <a:prstGeom prst="rect">
            <a:avLst/>
          </a:prstGeom>
          <a:noFill/>
        </p:spPr>
        <p:txBody>
          <a:bodyPr wrap="square">
            <a:spAutoFit/>
          </a:bodyPr>
          <a:lstStyle/>
          <a:p>
            <a:pPr algn="l">
              <a:defRPr sz="2000" b="1">
                <a:solidFill>
                  <a:srgbClr val="D4880F"/>
                </a:solidFill>
                <a:latin typeface="Segoe UI"/>
              </a:defRPr>
            </a:pPr>
            <a:r>
              <a:t>False Positive Filters</a:t>
            </a:r>
          </a:p>
        </p:txBody>
      </p:sp>
      <p:sp>
        <p:nvSpPr>
          <p:cNvPr id="16" name="TextBox 15"/>
          <p:cNvSpPr txBox="1"/>
          <p:nvPr/>
        </p:nvSpPr>
        <p:spPr>
          <a:xfrm>
            <a:off x="1097280" y="5715000"/>
            <a:ext cx="9601200" cy="411480"/>
          </a:xfrm>
          <a:prstGeom prst="rect">
            <a:avLst/>
          </a:prstGeom>
          <a:noFill/>
        </p:spPr>
        <p:txBody>
          <a:bodyPr wrap="square">
            <a:spAutoFit/>
          </a:bodyPr>
          <a:lstStyle/>
          <a:p>
            <a:pPr algn="l">
              <a:defRPr sz="1800" b="0">
                <a:solidFill>
                  <a:srgbClr val="FFFFFF"/>
                </a:solidFill>
                <a:latin typeface="Segoe UI"/>
              </a:defRPr>
            </a:pPr>
            <a:r>
              <a:t>Eating detection (mouth wide open + hand near mouth + open palm)</a:t>
            </a:r>
          </a:p>
        </p:txBody>
      </p:sp>
      <p:sp>
        <p:nvSpPr>
          <p:cNvPr id="17" name="TextBox 16"/>
          <p:cNvSpPr txBox="1"/>
          <p:nvPr/>
        </p:nvSpPr>
        <p:spPr>
          <a:xfrm>
            <a:off x="1097280" y="6099048"/>
            <a:ext cx="9601200" cy="411480"/>
          </a:xfrm>
          <a:prstGeom prst="rect">
            <a:avLst/>
          </a:prstGeom>
          <a:noFill/>
        </p:spPr>
        <p:txBody>
          <a:bodyPr wrap="square">
            <a:spAutoFit/>
          </a:bodyPr>
          <a:lstStyle/>
          <a:p>
            <a:pPr algn="l">
              <a:defRPr sz="1800" b="0">
                <a:solidFill>
                  <a:srgbClr val="FFFFFF"/>
                </a:solidFill>
                <a:latin typeface="Segoe UI"/>
              </a:defRPr>
            </a:pPr>
            <a:r>
              <a:t>Resting detection (static hand + open palm + no recent BFRB history)</a:t>
            </a:r>
          </a:p>
        </p:txBody>
      </p:sp>
      <p:sp>
        <p:nvSpPr>
          <p:cNvPr id="18" name="TextBox 17"/>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Frontend: Professional Web Dashboard</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Clean White + Dark Blue Professional Theme</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Responsive design (desktop + tablet)</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Real-time video feed with landmark overlays</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9" name="TextBox 8"/>
          <p:cNvSpPr txBox="1"/>
          <p:nvPr/>
        </p:nvSpPr>
        <p:spPr>
          <a:xfrm>
            <a:off x="914400" y="3026664"/>
            <a:ext cx="9601200" cy="457200"/>
          </a:xfrm>
          <a:prstGeom prst="rect">
            <a:avLst/>
          </a:prstGeom>
          <a:noFill/>
        </p:spPr>
        <p:txBody>
          <a:bodyPr wrap="square">
            <a:spAutoFit/>
          </a:bodyPr>
          <a:lstStyle/>
          <a:p>
            <a:pPr algn="l">
              <a:defRPr sz="2000" b="1">
                <a:solidFill>
                  <a:srgbClr val="D4880F"/>
                </a:solidFill>
                <a:latin typeface="Segoe UI"/>
              </a:defRPr>
            </a:pPr>
            <a:r>
              <a:t>Three Main Views</a:t>
            </a:r>
          </a:p>
        </p:txBody>
      </p:sp>
      <p:sp>
        <p:nvSpPr>
          <p:cNvPr id="10" name="TextBox 9"/>
          <p:cNvSpPr txBox="1"/>
          <p:nvPr/>
        </p:nvSpPr>
        <p:spPr>
          <a:xfrm>
            <a:off x="1097280" y="3438144"/>
            <a:ext cx="9601200" cy="411480"/>
          </a:xfrm>
          <a:prstGeom prst="rect">
            <a:avLst/>
          </a:prstGeom>
          <a:noFill/>
        </p:spPr>
        <p:txBody>
          <a:bodyPr wrap="square">
            <a:spAutoFit/>
          </a:bodyPr>
          <a:lstStyle/>
          <a:p>
            <a:pPr algn="l">
              <a:defRPr sz="1800" b="0">
                <a:solidFill>
                  <a:srgbClr val="FFFFFF"/>
                </a:solidFill>
                <a:latin typeface="Segoe UI"/>
              </a:defRPr>
            </a:pPr>
            <a:r>
              <a:t>Dashboard: live detection feed + controls + BFRB selector + signals</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Session HUD: charts (daily detections, type distribution, timeline, accuracy)</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r>
              <a:t>History: session table with stats per session</a:t>
            </a:r>
          </a:p>
        </p:txBody>
      </p:sp>
      <p:sp>
        <p:nvSpPr>
          <p:cNvPr id="13" name="TextBox 12"/>
          <p:cNvSpPr txBox="1"/>
          <p:nvPr/>
        </p:nvSpPr>
        <p:spPr>
          <a:xfrm>
            <a:off x="1097280" y="4590288"/>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4" name="TextBox 13"/>
          <p:cNvSpPr txBox="1"/>
          <p:nvPr/>
        </p:nvSpPr>
        <p:spPr>
          <a:xfrm>
            <a:off x="914400" y="4974336"/>
            <a:ext cx="9601200" cy="457200"/>
          </a:xfrm>
          <a:prstGeom prst="rect">
            <a:avLst/>
          </a:prstGeom>
          <a:noFill/>
        </p:spPr>
        <p:txBody>
          <a:bodyPr wrap="square">
            <a:spAutoFit/>
          </a:bodyPr>
          <a:lstStyle/>
          <a:p>
            <a:pPr algn="l">
              <a:defRPr sz="2000" b="1">
                <a:solidFill>
                  <a:srgbClr val="D4880F"/>
                </a:solidFill>
                <a:latin typeface="Segoe UI"/>
              </a:defRPr>
            </a:pPr>
            <a:r>
              <a:t>Interactive Elements</a:t>
            </a:r>
          </a:p>
        </p:txBody>
      </p:sp>
      <p:sp>
        <p:nvSpPr>
          <p:cNvPr id="15" name="TextBox 14"/>
          <p:cNvSpPr txBox="1"/>
          <p:nvPr/>
        </p:nvSpPr>
        <p:spPr>
          <a:xfrm>
            <a:off x="1097280" y="5385816"/>
            <a:ext cx="9601200" cy="411480"/>
          </a:xfrm>
          <a:prstGeom prst="rect">
            <a:avLst/>
          </a:prstGeom>
          <a:noFill/>
        </p:spPr>
        <p:txBody>
          <a:bodyPr wrap="square">
            <a:spAutoFit/>
          </a:bodyPr>
          <a:lstStyle/>
          <a:p>
            <a:pPr algn="l">
              <a:defRPr sz="1800" b="0">
                <a:solidFill>
                  <a:srgbClr val="FFFFFF"/>
                </a:solidFill>
                <a:latin typeface="Segoe UI"/>
              </a:defRPr>
            </a:pPr>
            <a:r>
              <a:t>BFRB type multi-select (8 types, multi/single mode)</a:t>
            </a:r>
          </a:p>
        </p:txBody>
      </p:sp>
      <p:sp>
        <p:nvSpPr>
          <p:cNvPr id="16" name="TextBox 15"/>
          <p:cNvSpPr txBox="1"/>
          <p:nvPr/>
        </p:nvSpPr>
        <p:spPr>
          <a:xfrm>
            <a:off x="1097280" y="5769864"/>
            <a:ext cx="9601200" cy="411480"/>
          </a:xfrm>
          <a:prstGeom prst="rect">
            <a:avLst/>
          </a:prstGeom>
          <a:noFill/>
        </p:spPr>
        <p:txBody>
          <a:bodyPr wrap="square">
            <a:spAutoFit/>
          </a:bodyPr>
          <a:lstStyle/>
          <a:p>
            <a:pPr algn="l">
              <a:defRPr sz="1800" b="0">
                <a:solidFill>
                  <a:srgbClr val="FFFFFF"/>
                </a:solidFill>
                <a:latin typeface="Segoe UI"/>
              </a:defRPr>
            </a:pPr>
            <a:r>
              <a:t>Detection notifications with yes/no feedback buttons</a:t>
            </a:r>
          </a:p>
        </p:txBody>
      </p:sp>
      <p:sp>
        <p:nvSpPr>
          <p:cNvPr id="17" name="TextBox 16"/>
          <p:cNvSpPr txBox="1"/>
          <p:nvPr/>
        </p:nvSpPr>
        <p:spPr>
          <a:xfrm>
            <a:off x="1097280" y="6153912"/>
            <a:ext cx="9601200" cy="411480"/>
          </a:xfrm>
          <a:prstGeom prst="rect">
            <a:avLst/>
          </a:prstGeom>
          <a:noFill/>
        </p:spPr>
        <p:txBody>
          <a:bodyPr wrap="square">
            <a:spAutoFit/>
          </a:bodyPr>
          <a:lstStyle/>
          <a:p>
            <a:pPr algn="l">
              <a:defRPr sz="1800" b="0">
                <a:solidFill>
                  <a:srgbClr val="FFFFFF"/>
                </a:solidFill>
                <a:latin typeface="Segoe UI"/>
              </a:defRPr>
            </a:pPr>
            <a:r>
              <a:t>Calibration wizard (2-step: far baseline + touch measurement)</a:t>
            </a:r>
          </a:p>
        </p:txBody>
      </p:sp>
      <p:sp>
        <p:nvSpPr>
          <p:cNvPr id="18" name="TextBox 17"/>
          <p:cNvSpPr txBox="1"/>
          <p:nvPr/>
        </p:nvSpPr>
        <p:spPr>
          <a:xfrm>
            <a:off x="1097280" y="6537960"/>
            <a:ext cx="9601200" cy="411480"/>
          </a:xfrm>
          <a:prstGeom prst="rect">
            <a:avLst/>
          </a:prstGeom>
          <a:noFill/>
        </p:spPr>
        <p:txBody>
          <a:bodyPr wrap="square">
            <a:spAutoFit/>
          </a:bodyPr>
          <a:lstStyle/>
          <a:p>
            <a:pPr algn="l">
              <a:defRPr sz="1800" b="0">
                <a:solidFill>
                  <a:srgbClr val="FFFFFF"/>
                </a:solidFill>
                <a:latin typeface="Segoe UI"/>
              </a:defRPr>
            </a:pPr>
            <a:r>
              <a:t>Pilot study modal (structured ground-truth collection)</a:t>
            </a:r>
          </a:p>
        </p:txBody>
      </p:sp>
      <p:sp>
        <p:nvSpPr>
          <p:cNvPr id="19" name="TextBox 18"/>
          <p:cNvSpPr txBox="1"/>
          <p:nvPr/>
        </p:nvSpPr>
        <p:spPr>
          <a:xfrm>
            <a:off x="1097280" y="6922008"/>
            <a:ext cx="9601200" cy="411480"/>
          </a:xfrm>
          <a:prstGeom prst="rect">
            <a:avLst/>
          </a:prstGeom>
          <a:noFill/>
        </p:spPr>
        <p:txBody>
          <a:bodyPr wrap="square">
            <a:spAutoFit/>
          </a:bodyPr>
          <a:lstStyle/>
          <a:p>
            <a:pPr algn="l">
              <a:defRPr sz="1800" b="0">
                <a:solidFill>
                  <a:srgbClr val="FFFFFF"/>
                </a:solidFill>
                <a:latin typeface="Segoe UI"/>
              </a:defRPr>
            </a:pPr>
            <a:r>
              <a:t>CSV export for offline analysis</a:t>
            </a:r>
          </a:p>
        </p:txBody>
      </p:sp>
      <p:sp>
        <p:nvSpPr>
          <p:cNvPr id="20" name="TextBox 19"/>
          <p:cNvSpPr txBox="1"/>
          <p:nvPr/>
        </p:nvSpPr>
        <p:spPr>
          <a:xfrm>
            <a:off x="1097280" y="730605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21" name="TextBox 20"/>
          <p:cNvSpPr txBox="1"/>
          <p:nvPr/>
        </p:nvSpPr>
        <p:spPr>
          <a:xfrm>
            <a:off x="914400" y="7690104"/>
            <a:ext cx="9601200" cy="457200"/>
          </a:xfrm>
          <a:prstGeom prst="rect">
            <a:avLst/>
          </a:prstGeom>
          <a:noFill/>
        </p:spPr>
        <p:txBody>
          <a:bodyPr wrap="square">
            <a:spAutoFit/>
          </a:bodyPr>
          <a:lstStyle/>
          <a:p>
            <a:pPr algn="l">
              <a:defRPr sz="2000" b="1">
                <a:solidFill>
                  <a:srgbClr val="D4880F"/>
                </a:solidFill>
                <a:latin typeface="Segoe UI"/>
              </a:defRPr>
            </a:pPr>
            <a:r>
              <a:t>Authentication: sign up, sign in, onboarding questionnaire</a:t>
            </a:r>
          </a:p>
        </p:txBody>
      </p:sp>
      <p:sp>
        <p:nvSpPr>
          <p:cNvPr id="22" name="TextBox 21"/>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Authentication &amp; User Onboarding</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Secure Authentication</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Password hashing: SHA-256 with random 16-byte salt</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Flask session-based auth with login_required decorator</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r>
              <a:t>Username or email login support</a:t>
            </a:r>
          </a:p>
        </p:txBody>
      </p:sp>
      <p:sp>
        <p:nvSpPr>
          <p:cNvPr id="9" name="TextBox 8"/>
          <p:cNvSpPr txBox="1"/>
          <p:nvPr/>
        </p:nvSpPr>
        <p:spPr>
          <a:xfrm>
            <a:off x="1097280" y="3026664"/>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0" name="TextBox 9"/>
          <p:cNvSpPr txBox="1"/>
          <p:nvPr/>
        </p:nvSpPr>
        <p:spPr>
          <a:xfrm>
            <a:off x="914400" y="3410712"/>
            <a:ext cx="9601200" cy="457200"/>
          </a:xfrm>
          <a:prstGeom prst="rect">
            <a:avLst/>
          </a:prstGeom>
          <a:noFill/>
        </p:spPr>
        <p:txBody>
          <a:bodyPr wrap="square">
            <a:spAutoFit/>
          </a:bodyPr>
          <a:lstStyle/>
          <a:p>
            <a:pPr algn="l">
              <a:defRPr sz="2000" b="1">
                <a:solidFill>
                  <a:srgbClr val="D4880F"/>
                </a:solidFill>
                <a:latin typeface="Segoe UI"/>
              </a:defRPr>
            </a:pPr>
            <a:r>
              <a:t>Onboarding Questionnaire (first login)</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Which BFRBs do you experience? (multi-select)</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r>
              <a:t>How often do these behaviors occur? (5 frequency levels)</a:t>
            </a:r>
          </a:p>
        </p:txBody>
      </p:sp>
      <p:sp>
        <p:nvSpPr>
          <p:cNvPr id="13" name="TextBox 12"/>
          <p:cNvSpPr txBox="1"/>
          <p:nvPr/>
        </p:nvSpPr>
        <p:spPr>
          <a:xfrm>
            <a:off x="1097280" y="4590288"/>
            <a:ext cx="9601200" cy="411480"/>
          </a:xfrm>
          <a:prstGeom prst="rect">
            <a:avLst/>
          </a:prstGeom>
          <a:noFill/>
        </p:spPr>
        <p:txBody>
          <a:bodyPr wrap="square">
            <a:spAutoFit/>
          </a:bodyPr>
          <a:lstStyle/>
          <a:p>
            <a:pPr algn="l">
              <a:defRPr sz="1800" b="0">
                <a:solidFill>
                  <a:srgbClr val="FFFFFF"/>
                </a:solidFill>
                <a:latin typeface="Segoe UI"/>
              </a:defRPr>
            </a:pPr>
            <a:r>
              <a:t>What triggers your BFRBs? (stress, boredom, anxiety, focus...)</a:t>
            </a:r>
          </a:p>
        </p:txBody>
      </p:sp>
      <p:sp>
        <p:nvSpPr>
          <p:cNvPr id="14" name="TextBox 13"/>
          <p:cNvSpPr txBox="1"/>
          <p:nvPr/>
        </p:nvSpPr>
        <p:spPr>
          <a:xfrm>
            <a:off x="1097280" y="4974336"/>
            <a:ext cx="9601200" cy="411480"/>
          </a:xfrm>
          <a:prstGeom prst="rect">
            <a:avLst/>
          </a:prstGeom>
          <a:noFill/>
        </p:spPr>
        <p:txBody>
          <a:bodyPr wrap="square">
            <a:spAutoFit/>
          </a:bodyPr>
          <a:lstStyle/>
          <a:p>
            <a:pPr algn="l">
              <a:defRPr sz="1800" b="0">
                <a:solidFill>
                  <a:srgbClr val="FFFFFF"/>
                </a:solidFill>
                <a:latin typeface="Segoe UI"/>
              </a:defRPr>
            </a:pPr>
            <a:r>
              <a:t>What is your primary goal? (awareness, reduce, track, research, clinical)</a:t>
            </a:r>
          </a:p>
        </p:txBody>
      </p:sp>
      <p:sp>
        <p:nvSpPr>
          <p:cNvPr id="15" name="TextBox 14"/>
          <p:cNvSpPr txBox="1"/>
          <p:nvPr/>
        </p:nvSpPr>
        <p:spPr>
          <a:xfrm>
            <a:off x="1097280" y="5358384"/>
            <a:ext cx="9601200" cy="411480"/>
          </a:xfrm>
          <a:prstGeom prst="rect">
            <a:avLst/>
          </a:prstGeom>
          <a:noFill/>
        </p:spPr>
        <p:txBody>
          <a:bodyPr wrap="square">
            <a:spAutoFit/>
          </a:bodyPr>
          <a:lstStyle/>
          <a:p>
            <a:pPr algn="l">
              <a:defRPr sz="1800" b="0">
                <a:solidFill>
                  <a:srgbClr val="FFFFFF"/>
                </a:solidFill>
                <a:latin typeface="Segoe UI"/>
              </a:defRPr>
            </a:pPr>
            <a:r>
              <a:t>Alert preferences (visual only, visual+sound, gentle, silent)</a:t>
            </a:r>
          </a:p>
        </p:txBody>
      </p:sp>
      <p:sp>
        <p:nvSpPr>
          <p:cNvPr id="16" name="TextBox 15"/>
          <p:cNvSpPr txBox="1"/>
          <p:nvPr/>
        </p:nvSpPr>
        <p:spPr>
          <a:xfrm>
            <a:off x="1097280" y="5742432"/>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7" name="TextBox 16"/>
          <p:cNvSpPr txBox="1"/>
          <p:nvPr/>
        </p:nvSpPr>
        <p:spPr>
          <a:xfrm>
            <a:off x="914400" y="6126480"/>
            <a:ext cx="9601200" cy="457200"/>
          </a:xfrm>
          <a:prstGeom prst="rect">
            <a:avLst/>
          </a:prstGeom>
          <a:noFill/>
        </p:spPr>
        <p:txBody>
          <a:bodyPr wrap="square">
            <a:spAutoFit/>
          </a:bodyPr>
          <a:lstStyle/>
          <a:p>
            <a:pPr algn="l">
              <a:defRPr sz="2000" b="1">
                <a:solidFill>
                  <a:srgbClr val="D4880F"/>
                </a:solidFill>
                <a:latin typeface="Segoe UI"/>
              </a:defRPr>
            </a:pPr>
            <a:r>
              <a:t>Personalization</a:t>
            </a:r>
          </a:p>
        </p:txBody>
      </p:sp>
      <p:sp>
        <p:nvSpPr>
          <p:cNvPr id="18" name="TextBox 17"/>
          <p:cNvSpPr txBox="1"/>
          <p:nvPr/>
        </p:nvSpPr>
        <p:spPr>
          <a:xfrm>
            <a:off x="1097280" y="6537960"/>
            <a:ext cx="9601200" cy="411480"/>
          </a:xfrm>
          <a:prstGeom prst="rect">
            <a:avLst/>
          </a:prstGeom>
          <a:noFill/>
        </p:spPr>
        <p:txBody>
          <a:bodyPr wrap="square">
            <a:spAutoFit/>
          </a:bodyPr>
          <a:lstStyle/>
          <a:p>
            <a:pPr algn="l">
              <a:defRPr sz="1800" b="0">
                <a:solidFill>
                  <a:srgbClr val="FFFFFF"/>
                </a:solidFill>
                <a:latin typeface="Segoe UI"/>
              </a:defRPr>
            </a:pPr>
            <a:r>
              <a:t>Pre-selects the user's reported BFRB types in the detector</a:t>
            </a:r>
          </a:p>
        </p:txBody>
      </p:sp>
      <p:sp>
        <p:nvSpPr>
          <p:cNvPr id="19" name="TextBox 18"/>
          <p:cNvSpPr txBox="1"/>
          <p:nvPr/>
        </p:nvSpPr>
        <p:spPr>
          <a:xfrm>
            <a:off x="1097280" y="6922008"/>
            <a:ext cx="9601200" cy="411480"/>
          </a:xfrm>
          <a:prstGeom prst="rect">
            <a:avLst/>
          </a:prstGeom>
          <a:noFill/>
        </p:spPr>
        <p:txBody>
          <a:bodyPr wrap="square">
            <a:spAutoFit/>
          </a:bodyPr>
          <a:lstStyle/>
          <a:p>
            <a:pPr algn="l">
              <a:defRPr sz="1800" b="0">
                <a:solidFill>
                  <a:srgbClr val="FFFFFF"/>
                </a:solidFill>
                <a:latin typeface="Segoe UI"/>
              </a:defRPr>
            </a:pPr>
            <a:r>
              <a:t>Responses stored in onboarding_responses table for future use</a:t>
            </a:r>
          </a:p>
        </p:txBody>
      </p:sp>
      <p:sp>
        <p:nvSpPr>
          <p:cNvPr id="20" name="TextBox 19"/>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Advanced Features</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Adaptive Threshold Calibration (Tier 2)</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2-step wizard: measure far-baseline and touch distance</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threshold = touch + 0.3 * (baseline - touch)</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r>
              <a:t>Accounts for different face sizes and camera distances</a:t>
            </a:r>
          </a:p>
        </p:txBody>
      </p:sp>
      <p:sp>
        <p:nvSpPr>
          <p:cNvPr id="9" name="TextBox 8"/>
          <p:cNvSpPr txBox="1"/>
          <p:nvPr/>
        </p:nvSpPr>
        <p:spPr>
          <a:xfrm>
            <a:off x="1097280" y="3026664"/>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0" name="TextBox 9"/>
          <p:cNvSpPr txBox="1"/>
          <p:nvPr/>
        </p:nvSpPr>
        <p:spPr>
          <a:xfrm>
            <a:off x="914400" y="3410712"/>
            <a:ext cx="9601200" cy="457200"/>
          </a:xfrm>
          <a:prstGeom prst="rect">
            <a:avLst/>
          </a:prstGeom>
          <a:noFill/>
        </p:spPr>
        <p:txBody>
          <a:bodyPr wrap="square">
            <a:spAutoFit/>
          </a:bodyPr>
          <a:lstStyle/>
          <a:p>
            <a:pPr algn="l">
              <a:defRPr sz="2000" b="1">
                <a:solidFill>
                  <a:srgbClr val="D4880F"/>
                </a:solidFill>
                <a:latin typeface="Segoe UI"/>
              </a:defRPr>
            </a:pPr>
            <a:r>
              <a:t>Bout Detection (Tier 3)</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Groups consecutive detections into clinical 'bouts'</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r>
              <a:t>5-second gap threshold | per-type aggregation</a:t>
            </a:r>
          </a:p>
        </p:txBody>
      </p:sp>
      <p:sp>
        <p:nvSpPr>
          <p:cNvPr id="13" name="TextBox 12"/>
          <p:cNvSpPr txBox="1"/>
          <p:nvPr/>
        </p:nvSpPr>
        <p:spPr>
          <a:xfrm>
            <a:off x="1097280" y="4590288"/>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4" name="TextBox 13"/>
          <p:cNvSpPr txBox="1"/>
          <p:nvPr/>
        </p:nvSpPr>
        <p:spPr>
          <a:xfrm>
            <a:off x="914400" y="4974336"/>
            <a:ext cx="9601200" cy="457200"/>
          </a:xfrm>
          <a:prstGeom prst="rect">
            <a:avLst/>
          </a:prstGeom>
          <a:noFill/>
        </p:spPr>
        <p:txBody>
          <a:bodyPr wrap="square">
            <a:spAutoFit/>
          </a:bodyPr>
          <a:lstStyle/>
          <a:p>
            <a:pPr algn="l">
              <a:defRPr sz="2000" b="1">
                <a:solidFill>
                  <a:srgbClr val="D4880F"/>
                </a:solidFill>
                <a:latin typeface="Segoe UI"/>
              </a:defRPr>
            </a:pPr>
            <a:r>
              <a:t>Pilot Study Mode (Tier 3)</a:t>
            </a:r>
          </a:p>
        </p:txBody>
      </p:sp>
      <p:sp>
        <p:nvSpPr>
          <p:cNvPr id="15" name="TextBox 14"/>
          <p:cNvSpPr txBox="1"/>
          <p:nvPr/>
        </p:nvSpPr>
        <p:spPr>
          <a:xfrm>
            <a:off x="1097280" y="5385816"/>
            <a:ext cx="9601200" cy="411480"/>
          </a:xfrm>
          <a:prstGeom prst="rect">
            <a:avLst/>
          </a:prstGeom>
          <a:noFill/>
        </p:spPr>
        <p:txBody>
          <a:bodyPr wrap="square">
            <a:spAutoFit/>
          </a:bodyPr>
          <a:lstStyle/>
          <a:p>
            <a:pPr algn="l">
              <a:defRPr sz="1800" b="0">
                <a:solidFill>
                  <a:srgbClr val="FFFFFF"/>
                </a:solidFill>
                <a:latin typeface="Segoe UI"/>
              </a:defRPr>
            </a:pPr>
            <a:r>
              <a:t>Structured ground-truth collection: participant, gesture, duration</a:t>
            </a:r>
          </a:p>
        </p:txBody>
      </p:sp>
      <p:sp>
        <p:nvSpPr>
          <p:cNvPr id="16" name="TextBox 15"/>
          <p:cNvSpPr txBox="1"/>
          <p:nvPr/>
        </p:nvSpPr>
        <p:spPr>
          <a:xfrm>
            <a:off x="1097280" y="5769864"/>
            <a:ext cx="9601200" cy="411480"/>
          </a:xfrm>
          <a:prstGeom prst="rect">
            <a:avLst/>
          </a:prstGeom>
          <a:noFill/>
        </p:spPr>
        <p:txBody>
          <a:bodyPr wrap="square">
            <a:spAutoFit/>
          </a:bodyPr>
          <a:lstStyle/>
          <a:p>
            <a:pPr algn="l">
              <a:defRPr sz="1800" b="0">
                <a:solidFill>
                  <a:srgbClr val="FFFFFF"/>
                </a:solidFill>
                <a:latin typeface="Segoe UI"/>
              </a:defRPr>
            </a:pPr>
            <a:r>
              <a:t>Computes precision, recall, F1 per trial</a:t>
            </a:r>
          </a:p>
        </p:txBody>
      </p:sp>
      <p:sp>
        <p:nvSpPr>
          <p:cNvPr id="17" name="TextBox 16"/>
          <p:cNvSpPr txBox="1"/>
          <p:nvPr/>
        </p:nvSpPr>
        <p:spPr>
          <a:xfrm>
            <a:off x="1097280" y="6153912"/>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8" name="TextBox 17"/>
          <p:cNvSpPr txBox="1"/>
          <p:nvPr/>
        </p:nvSpPr>
        <p:spPr>
          <a:xfrm>
            <a:off x="914400" y="6537960"/>
            <a:ext cx="9601200" cy="457200"/>
          </a:xfrm>
          <a:prstGeom prst="rect">
            <a:avLst/>
          </a:prstGeom>
          <a:noFill/>
        </p:spPr>
        <p:txBody>
          <a:bodyPr wrap="square">
            <a:spAutoFit/>
          </a:bodyPr>
          <a:lstStyle/>
          <a:p>
            <a:pPr algn="l">
              <a:defRPr sz="2000" b="1">
                <a:solidFill>
                  <a:srgbClr val="D4880F"/>
                </a:solidFill>
                <a:latin typeface="Segoe UI"/>
              </a:defRPr>
            </a:pPr>
            <a:r>
              <a:t>WebSocket Real-Time (Tier 3)</a:t>
            </a:r>
          </a:p>
        </p:txBody>
      </p:sp>
      <p:sp>
        <p:nvSpPr>
          <p:cNvPr id="19" name="TextBox 18"/>
          <p:cNvSpPr txBox="1"/>
          <p:nvPr/>
        </p:nvSpPr>
        <p:spPr>
          <a:xfrm>
            <a:off x="1097280" y="6949440"/>
            <a:ext cx="9601200" cy="411480"/>
          </a:xfrm>
          <a:prstGeom prst="rect">
            <a:avLst/>
          </a:prstGeom>
          <a:noFill/>
        </p:spPr>
        <p:txBody>
          <a:bodyPr wrap="square">
            <a:spAutoFit/>
          </a:bodyPr>
          <a:lstStyle/>
          <a:p>
            <a:pPr algn="l">
              <a:defRPr sz="1800" b="0">
                <a:solidFill>
                  <a:srgbClr val="FFFFFF"/>
                </a:solidFill>
                <a:latin typeface="Segoe UI"/>
              </a:defRPr>
            </a:pPr>
            <a:r>
              <a:t>Flask-SocketIO: ML predictions over persistent socket</a:t>
            </a:r>
          </a:p>
        </p:txBody>
      </p:sp>
      <p:sp>
        <p:nvSpPr>
          <p:cNvPr id="20" name="TextBox 19"/>
          <p:cNvSpPr txBox="1"/>
          <p:nvPr/>
        </p:nvSpPr>
        <p:spPr>
          <a:xfrm>
            <a:off x="1097280" y="7333488"/>
            <a:ext cx="9601200" cy="411480"/>
          </a:xfrm>
          <a:prstGeom prst="rect">
            <a:avLst/>
          </a:prstGeom>
          <a:noFill/>
        </p:spPr>
        <p:txBody>
          <a:bodyPr wrap="square">
            <a:spAutoFit/>
          </a:bodyPr>
          <a:lstStyle/>
          <a:p>
            <a:pPr algn="l">
              <a:defRPr sz="1800" b="0">
                <a:solidFill>
                  <a:srgbClr val="FFFFFF"/>
                </a:solidFill>
                <a:latin typeface="Segoe UI"/>
              </a:defRPr>
            </a:pPr>
            <a:r>
              <a:t>250ms throttle on WS vs 400ms on HTTP fallback</a:t>
            </a:r>
          </a:p>
        </p:txBody>
      </p:sp>
      <p:sp>
        <p:nvSpPr>
          <p:cNvPr id="21" name="TextBox 20"/>
          <p:cNvSpPr txBox="1"/>
          <p:nvPr/>
        </p:nvSpPr>
        <p:spPr>
          <a:xfrm>
            <a:off x="1097280" y="771753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22" name="TextBox 21"/>
          <p:cNvSpPr txBox="1"/>
          <p:nvPr/>
        </p:nvSpPr>
        <p:spPr>
          <a:xfrm>
            <a:off x="914400" y="8101584"/>
            <a:ext cx="9601200" cy="457200"/>
          </a:xfrm>
          <a:prstGeom prst="rect">
            <a:avLst/>
          </a:prstGeom>
          <a:noFill/>
        </p:spPr>
        <p:txBody>
          <a:bodyPr wrap="square">
            <a:spAutoFit/>
          </a:bodyPr>
          <a:lstStyle/>
          <a:p>
            <a:pPr algn="l">
              <a:defRPr sz="2000" b="1">
                <a:solidFill>
                  <a:srgbClr val="D4880F"/>
                </a:solidFill>
                <a:latin typeface="Segoe UI"/>
              </a:defRPr>
            </a:pPr>
            <a:r>
              <a:t>PWA (Tier 4) - Offline-capable app shell</a:t>
            </a:r>
          </a:p>
        </p:txBody>
      </p:sp>
      <p:sp>
        <p:nvSpPr>
          <p:cNvPr id="23" name="TextBox 22"/>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Live Demonstration</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Demo Flow (5-7 minutes)</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1. Login Page - create a new account</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r>
              <a:t>2. Onboarding - answer setup questionnaire</a:t>
            </a:r>
          </a:p>
        </p:txBody>
      </p:sp>
      <p:sp>
        <p:nvSpPr>
          <p:cNvPr id="9" name="TextBox 8"/>
          <p:cNvSpPr txBox="1"/>
          <p:nvPr/>
        </p:nvSpPr>
        <p:spPr>
          <a:xfrm>
            <a:off x="1097280" y="3026664"/>
            <a:ext cx="9601200" cy="411480"/>
          </a:xfrm>
          <a:prstGeom prst="rect">
            <a:avLst/>
          </a:prstGeom>
          <a:noFill/>
        </p:spPr>
        <p:txBody>
          <a:bodyPr wrap="square">
            <a:spAutoFit/>
          </a:bodyPr>
          <a:lstStyle/>
          <a:p>
            <a:pPr algn="l">
              <a:defRPr sz="1800" b="0">
                <a:solidFill>
                  <a:srgbClr val="FFFFFF"/>
                </a:solidFill>
                <a:latin typeface="Segoe UI"/>
              </a:defRPr>
            </a:pPr>
            <a:r>
              <a:t>3. Dashboard - show the clean white + dark blue interface</a:t>
            </a:r>
          </a:p>
        </p:txBody>
      </p:sp>
      <p:sp>
        <p:nvSpPr>
          <p:cNvPr id="10" name="TextBox 9"/>
          <p:cNvSpPr txBox="1"/>
          <p:nvPr/>
        </p:nvSpPr>
        <p:spPr>
          <a:xfrm>
            <a:off x="1097280" y="3410712"/>
            <a:ext cx="9601200" cy="411480"/>
          </a:xfrm>
          <a:prstGeom prst="rect">
            <a:avLst/>
          </a:prstGeom>
          <a:noFill/>
        </p:spPr>
        <p:txBody>
          <a:bodyPr wrap="square">
            <a:spAutoFit/>
          </a:bodyPr>
          <a:lstStyle/>
          <a:p>
            <a:pPr algn="l">
              <a:defRPr sz="1800" b="0">
                <a:solidFill>
                  <a:srgbClr val="FFFFFF"/>
                </a:solidFill>
                <a:latin typeface="Segoe UI"/>
              </a:defRPr>
            </a:pPr>
            <a:r>
              <a:t>4. Start Session - camera activates, MediaPipe loads</a:t>
            </a:r>
          </a:p>
        </p:txBody>
      </p:sp>
      <p:sp>
        <p:nvSpPr>
          <p:cNvPr id="11" name="TextBox 10"/>
          <p:cNvSpPr txBox="1"/>
          <p:nvPr/>
        </p:nvSpPr>
        <p:spPr>
          <a:xfrm>
            <a:off x="1097280" y="3794760"/>
            <a:ext cx="9601200" cy="411480"/>
          </a:xfrm>
          <a:prstGeom prst="rect">
            <a:avLst/>
          </a:prstGeom>
          <a:noFill/>
        </p:spPr>
        <p:txBody>
          <a:bodyPr wrap="square">
            <a:spAutoFit/>
          </a:bodyPr>
          <a:lstStyle/>
          <a:p>
            <a:pPr algn="l">
              <a:defRPr sz="1800" b="0">
                <a:solidFill>
                  <a:srgbClr val="FFFFFF"/>
                </a:solidFill>
                <a:latin typeface="Segoe UI"/>
              </a:defRPr>
            </a:pPr>
            <a:r>
              <a:t>5. Show Detection - bring hand near face, trigger BFRB detection</a:t>
            </a:r>
          </a:p>
        </p:txBody>
      </p:sp>
      <p:sp>
        <p:nvSpPr>
          <p:cNvPr id="12" name="TextBox 11"/>
          <p:cNvSpPr txBox="1"/>
          <p:nvPr/>
        </p:nvSpPr>
        <p:spPr>
          <a:xfrm>
            <a:off x="1097280" y="4178808"/>
            <a:ext cx="9601200" cy="411480"/>
          </a:xfrm>
          <a:prstGeom prst="rect">
            <a:avLst/>
          </a:prstGeom>
          <a:noFill/>
        </p:spPr>
        <p:txBody>
          <a:bodyPr wrap="square">
            <a:spAutoFit/>
          </a:bodyPr>
          <a:lstStyle/>
          <a:p>
            <a:pPr algn="l">
              <a:defRPr sz="1800" b="0">
                <a:solidFill>
                  <a:srgbClr val="FFFFFF"/>
                </a:solidFill>
                <a:latin typeface="Segoe UI"/>
              </a:defRPr>
            </a:pPr>
            <a:r>
              <a:t>6. Feedback - respond to detection notification (yes/no)</a:t>
            </a:r>
          </a:p>
        </p:txBody>
      </p:sp>
      <p:sp>
        <p:nvSpPr>
          <p:cNvPr id="13" name="TextBox 12"/>
          <p:cNvSpPr txBox="1"/>
          <p:nvPr/>
        </p:nvSpPr>
        <p:spPr>
          <a:xfrm>
            <a:off x="1097280" y="4562856"/>
            <a:ext cx="9601200" cy="411480"/>
          </a:xfrm>
          <a:prstGeom prst="rect">
            <a:avLst/>
          </a:prstGeom>
          <a:noFill/>
        </p:spPr>
        <p:txBody>
          <a:bodyPr wrap="square">
            <a:spAutoFit/>
          </a:bodyPr>
          <a:lstStyle/>
          <a:p>
            <a:pPr algn="l">
              <a:defRPr sz="1800" b="0">
                <a:solidFill>
                  <a:srgbClr val="FFFFFF"/>
                </a:solidFill>
                <a:latin typeface="Segoe UI"/>
              </a:defRPr>
            </a:pPr>
            <a:r>
              <a:t>7. Calibration - run 2-step adaptive threshold calibration</a:t>
            </a:r>
          </a:p>
        </p:txBody>
      </p:sp>
      <p:sp>
        <p:nvSpPr>
          <p:cNvPr id="14" name="TextBox 13"/>
          <p:cNvSpPr txBox="1"/>
          <p:nvPr/>
        </p:nvSpPr>
        <p:spPr>
          <a:xfrm>
            <a:off x="1097280" y="4946904"/>
            <a:ext cx="9601200" cy="411480"/>
          </a:xfrm>
          <a:prstGeom prst="rect">
            <a:avLst/>
          </a:prstGeom>
          <a:noFill/>
        </p:spPr>
        <p:txBody>
          <a:bodyPr wrap="square">
            <a:spAutoFit/>
          </a:bodyPr>
          <a:lstStyle/>
          <a:p>
            <a:pPr algn="l">
              <a:defRPr sz="1800" b="0">
                <a:solidFill>
                  <a:srgbClr val="FFFFFF"/>
                </a:solidFill>
                <a:latin typeface="Segoe UI"/>
              </a:defRPr>
            </a:pPr>
            <a:r>
              <a:t>8. Session HUD - switch to charts tab, show daily/type/timeline charts</a:t>
            </a:r>
          </a:p>
        </p:txBody>
      </p:sp>
      <p:sp>
        <p:nvSpPr>
          <p:cNvPr id="15" name="TextBox 14"/>
          <p:cNvSpPr txBox="1"/>
          <p:nvPr/>
        </p:nvSpPr>
        <p:spPr>
          <a:xfrm>
            <a:off x="1097280" y="5330952"/>
            <a:ext cx="9601200" cy="411480"/>
          </a:xfrm>
          <a:prstGeom prst="rect">
            <a:avLst/>
          </a:prstGeom>
          <a:noFill/>
        </p:spPr>
        <p:txBody>
          <a:bodyPr wrap="square">
            <a:spAutoFit/>
          </a:bodyPr>
          <a:lstStyle/>
          <a:p>
            <a:pPr algn="l">
              <a:defRPr sz="1800" b="0">
                <a:solidFill>
                  <a:srgbClr val="FFFFFF"/>
                </a:solidFill>
                <a:latin typeface="Segoe UI"/>
              </a:defRPr>
            </a:pPr>
            <a:r>
              <a:t>9. History - view past sessions in the table</a:t>
            </a:r>
          </a:p>
        </p:txBody>
      </p:sp>
      <p:sp>
        <p:nvSpPr>
          <p:cNvPr id="16" name="TextBox 15"/>
          <p:cNvSpPr txBox="1"/>
          <p:nvPr/>
        </p:nvSpPr>
        <p:spPr>
          <a:xfrm>
            <a:off x="1097280" y="5715000"/>
            <a:ext cx="9601200" cy="411480"/>
          </a:xfrm>
          <a:prstGeom prst="rect">
            <a:avLst/>
          </a:prstGeom>
          <a:noFill/>
        </p:spPr>
        <p:txBody>
          <a:bodyPr wrap="square">
            <a:spAutoFit/>
          </a:bodyPr>
          <a:lstStyle/>
          <a:p>
            <a:pPr algn="l">
              <a:defRPr sz="1800" b="0">
                <a:solidFill>
                  <a:srgbClr val="FFFFFF"/>
                </a:solidFill>
                <a:latin typeface="Segoe UI"/>
              </a:defRPr>
            </a:pPr>
            <a:r>
              <a:t>10. Export CSV - download session data</a:t>
            </a:r>
          </a:p>
        </p:txBody>
      </p:sp>
      <p:sp>
        <p:nvSpPr>
          <p:cNvPr id="17" name="TextBox 16"/>
          <p:cNvSpPr txBox="1"/>
          <p:nvPr/>
        </p:nvSpPr>
        <p:spPr>
          <a:xfrm>
            <a:off x="1097280" y="6099048"/>
            <a:ext cx="9601200" cy="411480"/>
          </a:xfrm>
          <a:prstGeom prst="rect">
            <a:avLst/>
          </a:prstGeom>
          <a:noFill/>
        </p:spPr>
        <p:txBody>
          <a:bodyPr wrap="square">
            <a:spAutoFit/>
          </a:bodyPr>
          <a:lstStyle/>
          <a:p>
            <a:pPr algn="l">
              <a:defRPr sz="1800" b="0">
                <a:solidFill>
                  <a:srgbClr val="FFFFFF"/>
                </a:solidFill>
                <a:latin typeface="Segoe UI"/>
              </a:defRPr>
            </a:pPr>
            <a:r>
              <a:t>11. Stop Session - end and show summary</a:t>
            </a:r>
          </a:p>
        </p:txBody>
      </p:sp>
      <p:sp>
        <p:nvSpPr>
          <p:cNvPr id="18" name="TextBox 17"/>
          <p:cNvSpPr txBox="1"/>
          <p:nvPr/>
        </p:nvSpPr>
        <p:spPr>
          <a:xfrm>
            <a:off x="1097280" y="6483096"/>
            <a:ext cx="9601200" cy="411480"/>
          </a:xfrm>
          <a:prstGeom prst="rect">
            <a:avLst/>
          </a:prstGeom>
          <a:noFill/>
        </p:spPr>
        <p:txBody>
          <a:bodyPr wrap="square">
            <a:spAutoFit/>
          </a:bodyPr>
          <a:lstStyle/>
          <a:p>
            <a:pPr algn="l">
              <a:defRPr sz="1800" b="0">
                <a:solidFill>
                  <a:srgbClr val="FFFFFF"/>
                </a:solidFill>
                <a:latin typeface="Segoe UI"/>
              </a:defRPr>
            </a:pPr>
            <a:r>
              <a:t>12. Sign Out</a:t>
            </a:r>
          </a:p>
        </p:txBody>
      </p:sp>
      <p:sp>
        <p:nvSpPr>
          <p:cNvPr id="19" name="TextBox 18"/>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GitHub Repository &amp; Deployment</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Repository: github.com/Nishanth3424/bfrb-detection-eneb453</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7" name="TextBox 6"/>
          <p:cNvSpPr txBox="1"/>
          <p:nvPr/>
        </p:nvSpPr>
        <p:spPr>
          <a:xfrm>
            <a:off x="914400" y="2258568"/>
            <a:ext cx="9601200" cy="457200"/>
          </a:xfrm>
          <a:prstGeom prst="rect">
            <a:avLst/>
          </a:prstGeom>
          <a:noFill/>
        </p:spPr>
        <p:txBody>
          <a:bodyPr wrap="square">
            <a:spAutoFit/>
          </a:bodyPr>
          <a:lstStyle/>
          <a:p>
            <a:pPr algn="l">
              <a:defRPr sz="2000" b="1">
                <a:solidFill>
                  <a:srgbClr val="D4880F"/>
                </a:solidFill>
                <a:latin typeface="Segoe UI"/>
              </a:defRPr>
            </a:pPr>
            <a:r>
              <a:t>Project Structure</a:t>
            </a:r>
          </a:p>
        </p:txBody>
      </p:sp>
      <p:sp>
        <p:nvSpPr>
          <p:cNvPr id="8" name="TextBox 7"/>
          <p:cNvSpPr txBox="1"/>
          <p:nvPr/>
        </p:nvSpPr>
        <p:spPr>
          <a:xfrm>
            <a:off x="1097280" y="2670048"/>
            <a:ext cx="9601200" cy="411480"/>
          </a:xfrm>
          <a:prstGeom prst="rect">
            <a:avLst/>
          </a:prstGeom>
          <a:noFill/>
        </p:spPr>
        <p:txBody>
          <a:bodyPr wrap="square">
            <a:spAutoFit/>
          </a:bodyPr>
          <a:lstStyle/>
          <a:p>
            <a:pPr algn="l">
              <a:defRPr sz="1800" b="0">
                <a:solidFill>
                  <a:srgbClr val="FFFFFF"/>
                </a:solidFill>
                <a:latin typeface="Segoe UI"/>
              </a:defRPr>
            </a:pPr>
            <a:r>
              <a:t>bfrb_web_app/app.py         - Flask backend (1,300+ lines)</a:t>
            </a:r>
          </a:p>
        </p:txBody>
      </p:sp>
      <p:sp>
        <p:nvSpPr>
          <p:cNvPr id="9" name="TextBox 8"/>
          <p:cNvSpPr txBox="1"/>
          <p:nvPr/>
        </p:nvSpPr>
        <p:spPr>
          <a:xfrm>
            <a:off x="1097280" y="3054096"/>
            <a:ext cx="9601200" cy="411480"/>
          </a:xfrm>
          <a:prstGeom prst="rect">
            <a:avLst/>
          </a:prstGeom>
          <a:noFill/>
        </p:spPr>
        <p:txBody>
          <a:bodyPr wrap="square">
            <a:spAutoFit/>
          </a:bodyPr>
          <a:lstStyle/>
          <a:p>
            <a:pPr algn="l">
              <a:defRPr sz="1800" b="0">
                <a:solidFill>
                  <a:srgbClr val="FFFFFF"/>
                </a:solidFill>
                <a:latin typeface="Segoe UI"/>
              </a:defRPr>
            </a:pPr>
            <a:r>
              <a:t>bfrb_web_app/templates/     - index.html (3,300+ lines) + login.html</a:t>
            </a:r>
          </a:p>
        </p:txBody>
      </p:sp>
      <p:sp>
        <p:nvSpPr>
          <p:cNvPr id="10" name="TextBox 9"/>
          <p:cNvSpPr txBox="1"/>
          <p:nvPr/>
        </p:nvSpPr>
        <p:spPr>
          <a:xfrm>
            <a:off x="1097280" y="3438144"/>
            <a:ext cx="9601200" cy="411480"/>
          </a:xfrm>
          <a:prstGeom prst="rect">
            <a:avLst/>
          </a:prstGeom>
          <a:noFill/>
        </p:spPr>
        <p:txBody>
          <a:bodyPr wrap="square">
            <a:spAutoFit/>
          </a:bodyPr>
          <a:lstStyle/>
          <a:p>
            <a:pPr algn="l">
              <a:defRPr sz="1800" b="0">
                <a:solidFill>
                  <a:srgbClr val="FFFFFF"/>
                </a:solidFill>
                <a:latin typeface="Segoe UI"/>
              </a:defRPr>
            </a:pPr>
            <a:r>
              <a:t>bfrb_web_app/model/         - Trained ML model + feature metadata</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bfrb_web_app/static/        - PWA manifest + service worker + icons</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r>
              <a:t>database/                   - MySQL schema, seed data, demo queries</a:t>
            </a:r>
          </a:p>
        </p:txBody>
      </p:sp>
      <p:sp>
        <p:nvSpPr>
          <p:cNvPr id="13" name="TextBox 12"/>
          <p:cNvSpPr txBox="1"/>
          <p:nvPr/>
        </p:nvSpPr>
        <p:spPr>
          <a:xfrm>
            <a:off x="1097280" y="4590288"/>
            <a:ext cx="9601200" cy="411480"/>
          </a:xfrm>
          <a:prstGeom prst="rect">
            <a:avLst/>
          </a:prstGeom>
          <a:noFill/>
        </p:spPr>
        <p:txBody>
          <a:bodyPr wrap="square">
            <a:spAutoFit/>
          </a:bodyPr>
          <a:lstStyle/>
          <a:p>
            <a:pPr algn="l">
              <a:defRPr sz="1800" b="0">
                <a:solidFill>
                  <a:srgbClr val="FFFFFF"/>
                </a:solidFill>
                <a:latin typeface="Segoe UI"/>
              </a:defRPr>
            </a:pPr>
            <a:r>
              <a:t>erd/                        - Interactive ERD visualization</a:t>
            </a:r>
          </a:p>
        </p:txBody>
      </p:sp>
      <p:sp>
        <p:nvSpPr>
          <p:cNvPr id="14" name="TextBox 13"/>
          <p:cNvSpPr txBox="1"/>
          <p:nvPr/>
        </p:nvSpPr>
        <p:spPr>
          <a:xfrm>
            <a:off x="1097280" y="4974336"/>
            <a:ext cx="9601200" cy="411480"/>
          </a:xfrm>
          <a:prstGeom prst="rect">
            <a:avLst/>
          </a:prstGeom>
          <a:noFill/>
        </p:spPr>
        <p:txBody>
          <a:bodyPr wrap="square">
            <a:spAutoFit/>
          </a:bodyPr>
          <a:lstStyle/>
          <a:p>
            <a:pPr algn="l">
              <a:defRPr sz="1800" b="0">
                <a:solidFill>
                  <a:srgbClr val="FFFFFF"/>
                </a:solidFill>
                <a:latin typeface="Segoe UI"/>
              </a:defRPr>
            </a:pPr>
            <a:r>
              <a:t>wireframe/                  - UI wireframe mockup</a:t>
            </a:r>
          </a:p>
        </p:txBody>
      </p:sp>
      <p:sp>
        <p:nvSpPr>
          <p:cNvPr id="15" name="TextBox 14"/>
          <p:cNvSpPr txBox="1"/>
          <p:nvPr/>
        </p:nvSpPr>
        <p:spPr>
          <a:xfrm>
            <a:off x="1097280" y="5358384"/>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6" name="TextBox 15"/>
          <p:cNvSpPr txBox="1"/>
          <p:nvPr/>
        </p:nvSpPr>
        <p:spPr>
          <a:xfrm>
            <a:off x="914400" y="5742432"/>
            <a:ext cx="9601200" cy="457200"/>
          </a:xfrm>
          <a:prstGeom prst="rect">
            <a:avLst/>
          </a:prstGeom>
          <a:noFill/>
        </p:spPr>
        <p:txBody>
          <a:bodyPr wrap="square">
            <a:spAutoFit/>
          </a:bodyPr>
          <a:lstStyle/>
          <a:p>
            <a:pPr algn="l">
              <a:defRPr sz="2000" b="1">
                <a:solidFill>
                  <a:srgbClr val="D4880F"/>
                </a:solidFill>
                <a:latin typeface="Segoe UI"/>
              </a:defRPr>
            </a:pPr>
            <a:r>
              <a:t>How to Run</a:t>
            </a:r>
          </a:p>
        </p:txBody>
      </p:sp>
      <p:sp>
        <p:nvSpPr>
          <p:cNvPr id="17" name="TextBox 16"/>
          <p:cNvSpPr txBox="1"/>
          <p:nvPr/>
        </p:nvSpPr>
        <p:spPr>
          <a:xfrm>
            <a:off x="1097280" y="6153912"/>
            <a:ext cx="9601200" cy="411480"/>
          </a:xfrm>
          <a:prstGeom prst="rect">
            <a:avLst/>
          </a:prstGeom>
          <a:noFill/>
        </p:spPr>
        <p:txBody>
          <a:bodyPr wrap="square">
            <a:spAutoFit/>
          </a:bodyPr>
          <a:lstStyle/>
          <a:p>
            <a:pPr algn="l">
              <a:defRPr sz="1800" b="0">
                <a:solidFill>
                  <a:srgbClr val="FFFFFF"/>
                </a:solidFill>
                <a:latin typeface="Segoe UI"/>
              </a:defRPr>
            </a:pPr>
            <a:r>
              <a:t>pip install -r requirements.txt</a:t>
            </a:r>
          </a:p>
        </p:txBody>
      </p:sp>
      <p:sp>
        <p:nvSpPr>
          <p:cNvPr id="18" name="TextBox 17"/>
          <p:cNvSpPr txBox="1"/>
          <p:nvPr/>
        </p:nvSpPr>
        <p:spPr>
          <a:xfrm>
            <a:off x="1097280" y="6537960"/>
            <a:ext cx="9601200" cy="411480"/>
          </a:xfrm>
          <a:prstGeom prst="rect">
            <a:avLst/>
          </a:prstGeom>
          <a:noFill/>
        </p:spPr>
        <p:txBody>
          <a:bodyPr wrap="square">
            <a:spAutoFit/>
          </a:bodyPr>
          <a:lstStyle/>
          <a:p>
            <a:pPr algn="l">
              <a:defRPr sz="1800" b="0">
                <a:solidFill>
                  <a:srgbClr val="FFFFFF"/>
                </a:solidFill>
                <a:latin typeface="Segoe UI"/>
              </a:defRPr>
            </a:pPr>
            <a:r>
              <a:t>python app.py</a:t>
            </a:r>
          </a:p>
        </p:txBody>
      </p:sp>
      <p:sp>
        <p:nvSpPr>
          <p:cNvPr id="19" name="TextBox 18"/>
          <p:cNvSpPr txBox="1"/>
          <p:nvPr/>
        </p:nvSpPr>
        <p:spPr>
          <a:xfrm>
            <a:off x="1097280" y="6922008"/>
            <a:ext cx="9601200" cy="411480"/>
          </a:xfrm>
          <a:prstGeom prst="rect">
            <a:avLst/>
          </a:prstGeom>
          <a:noFill/>
        </p:spPr>
        <p:txBody>
          <a:bodyPr wrap="square">
            <a:spAutoFit/>
          </a:bodyPr>
          <a:lstStyle/>
          <a:p>
            <a:pPr algn="l">
              <a:defRPr sz="1800" b="0">
                <a:solidFill>
                  <a:srgbClr val="FFFFFF"/>
                </a:solidFill>
                <a:latin typeface="Segoe UI"/>
              </a:defRPr>
            </a:pPr>
            <a:r>
              <a:t>Open http://localhost:5000</a:t>
            </a:r>
          </a:p>
        </p:txBody>
      </p:sp>
      <p:sp>
        <p:nvSpPr>
          <p:cNvPr id="20" name="TextBox 19"/>
          <p:cNvSpPr txBox="1"/>
          <p:nvPr/>
        </p:nvSpPr>
        <p:spPr>
          <a:xfrm>
            <a:off x="1097280" y="730605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21" name="TextBox 20"/>
          <p:cNvSpPr txBox="1"/>
          <p:nvPr/>
        </p:nvSpPr>
        <p:spPr>
          <a:xfrm>
            <a:off x="914400" y="7690104"/>
            <a:ext cx="9601200" cy="457200"/>
          </a:xfrm>
          <a:prstGeom prst="rect">
            <a:avLst/>
          </a:prstGeom>
          <a:noFill/>
        </p:spPr>
        <p:txBody>
          <a:bodyPr wrap="square">
            <a:spAutoFit/>
          </a:bodyPr>
          <a:lstStyle/>
          <a:p>
            <a:pPr algn="l">
              <a:defRPr sz="2000" b="1">
                <a:solidFill>
                  <a:srgbClr val="D4880F"/>
                </a:solidFill>
                <a:latin typeface="Segoe UI"/>
              </a:defRPr>
            </a:pPr>
            <a:r>
              <a:t>Total: ~4,800 lines of code (Python + HTML/CSS/JS)</a:t>
            </a:r>
          </a:p>
        </p:txBody>
      </p:sp>
      <p:sp>
        <p:nvSpPr>
          <p:cNvPr id="22" name="TextBox 21"/>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Results &amp; Performance</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ML Model Performance</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Random Forest: 77% accuracy (5-fold CV)</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Macro F1: handles class imbalance (64% BFRB / 36% non-BFRB)</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r>
              <a:t>Training on 8,151 labeled sequences from 80 participants</a:t>
            </a:r>
          </a:p>
        </p:txBody>
      </p:sp>
      <p:sp>
        <p:nvSpPr>
          <p:cNvPr id="9" name="TextBox 8"/>
          <p:cNvSpPr txBox="1"/>
          <p:nvPr/>
        </p:nvSpPr>
        <p:spPr>
          <a:xfrm>
            <a:off x="1097280" y="3026664"/>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0" name="TextBox 9"/>
          <p:cNvSpPr txBox="1"/>
          <p:nvPr/>
        </p:nvSpPr>
        <p:spPr>
          <a:xfrm>
            <a:off x="914400" y="3410712"/>
            <a:ext cx="9601200" cy="457200"/>
          </a:xfrm>
          <a:prstGeom prst="rect">
            <a:avLst/>
          </a:prstGeom>
          <a:noFill/>
        </p:spPr>
        <p:txBody>
          <a:bodyPr wrap="square">
            <a:spAutoFit/>
          </a:bodyPr>
          <a:lstStyle/>
          <a:p>
            <a:pPr algn="l">
              <a:defRPr sz="2000" b="1">
                <a:solidFill>
                  <a:srgbClr val="D4880F"/>
                </a:solidFill>
                <a:latin typeface="Segoe UI"/>
              </a:defRPr>
            </a:pPr>
            <a:r>
              <a:t>Real-Time Performance</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25-30 FPS with MediaPipe Holistic in browser</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r>
              <a:t>ML inference: &lt;10ms per prediction (server-side)</a:t>
            </a:r>
          </a:p>
        </p:txBody>
      </p:sp>
      <p:sp>
        <p:nvSpPr>
          <p:cNvPr id="13" name="TextBox 12"/>
          <p:cNvSpPr txBox="1"/>
          <p:nvPr/>
        </p:nvSpPr>
        <p:spPr>
          <a:xfrm>
            <a:off x="1097280" y="4590288"/>
            <a:ext cx="9601200" cy="411480"/>
          </a:xfrm>
          <a:prstGeom prst="rect">
            <a:avLst/>
          </a:prstGeom>
          <a:noFill/>
        </p:spPr>
        <p:txBody>
          <a:bodyPr wrap="square">
            <a:spAutoFit/>
          </a:bodyPr>
          <a:lstStyle/>
          <a:p>
            <a:pPr algn="l">
              <a:defRPr sz="1800" b="0">
                <a:solidFill>
                  <a:srgbClr val="FFFFFF"/>
                </a:solidFill>
                <a:latin typeface="Segoe UI"/>
              </a:defRPr>
            </a:pPr>
            <a:r>
              <a:t>WebSocket latency: ~5-15ms round-trip</a:t>
            </a:r>
          </a:p>
        </p:txBody>
      </p:sp>
      <p:sp>
        <p:nvSpPr>
          <p:cNvPr id="14" name="TextBox 13"/>
          <p:cNvSpPr txBox="1"/>
          <p:nvPr/>
        </p:nvSpPr>
        <p:spPr>
          <a:xfrm>
            <a:off x="1097280" y="497433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5" name="TextBox 14"/>
          <p:cNvSpPr txBox="1"/>
          <p:nvPr/>
        </p:nvSpPr>
        <p:spPr>
          <a:xfrm>
            <a:off x="914400" y="5358384"/>
            <a:ext cx="9601200" cy="457200"/>
          </a:xfrm>
          <a:prstGeom prst="rect">
            <a:avLst/>
          </a:prstGeom>
          <a:noFill/>
        </p:spPr>
        <p:txBody>
          <a:bodyPr wrap="square">
            <a:spAutoFit/>
          </a:bodyPr>
          <a:lstStyle/>
          <a:p>
            <a:pPr algn="l">
              <a:defRPr sz="2000" b="1">
                <a:solidFill>
                  <a:srgbClr val="D4880F"/>
                </a:solidFill>
                <a:latin typeface="Segoe UI"/>
              </a:defRPr>
            </a:pPr>
            <a:r>
              <a:t>Detection Capability</a:t>
            </a:r>
          </a:p>
        </p:txBody>
      </p:sp>
      <p:sp>
        <p:nvSpPr>
          <p:cNvPr id="16" name="TextBox 15"/>
          <p:cNvSpPr txBox="1"/>
          <p:nvPr/>
        </p:nvSpPr>
        <p:spPr>
          <a:xfrm>
            <a:off x="1097280" y="5769864"/>
            <a:ext cx="9601200" cy="411480"/>
          </a:xfrm>
          <a:prstGeom prst="rect">
            <a:avLst/>
          </a:prstGeom>
          <a:noFill/>
        </p:spPr>
        <p:txBody>
          <a:bodyPr wrap="square">
            <a:spAutoFit/>
          </a:bodyPr>
          <a:lstStyle/>
          <a:p>
            <a:pPr algn="l">
              <a:defRPr sz="1800" b="0">
                <a:solidFill>
                  <a:srgbClr val="FFFFFF"/>
                </a:solidFill>
                <a:latin typeface="Segoe UI"/>
              </a:defRPr>
            </a:pPr>
            <a:r>
              <a:t>8 BFRB types supported (+ custom types)</a:t>
            </a:r>
          </a:p>
        </p:txBody>
      </p:sp>
      <p:sp>
        <p:nvSpPr>
          <p:cNvPr id="17" name="TextBox 16"/>
          <p:cNvSpPr txBox="1"/>
          <p:nvPr/>
        </p:nvSpPr>
        <p:spPr>
          <a:xfrm>
            <a:off x="1097280" y="6153912"/>
            <a:ext cx="9601200" cy="411480"/>
          </a:xfrm>
          <a:prstGeom prst="rect">
            <a:avLst/>
          </a:prstGeom>
          <a:noFill/>
        </p:spPr>
        <p:txBody>
          <a:bodyPr wrap="square">
            <a:spAutoFit/>
          </a:bodyPr>
          <a:lstStyle/>
          <a:p>
            <a:pPr algn="l">
              <a:defRPr sz="1800" b="0">
                <a:solidFill>
                  <a:srgbClr val="FFFFFF"/>
                </a:solidFill>
                <a:latin typeface="Segoe UI"/>
              </a:defRPr>
            </a:pPr>
            <a:r>
              <a:t>Multi-zone face detection (13 anatomical regions)</a:t>
            </a:r>
          </a:p>
        </p:txBody>
      </p:sp>
      <p:sp>
        <p:nvSpPr>
          <p:cNvPr id="18" name="TextBox 17"/>
          <p:cNvSpPr txBox="1"/>
          <p:nvPr/>
        </p:nvSpPr>
        <p:spPr>
          <a:xfrm>
            <a:off x="1097280" y="6537960"/>
            <a:ext cx="9601200" cy="411480"/>
          </a:xfrm>
          <a:prstGeom prst="rect">
            <a:avLst/>
          </a:prstGeom>
          <a:noFill/>
        </p:spPr>
        <p:txBody>
          <a:bodyPr wrap="square">
            <a:spAutoFit/>
          </a:bodyPr>
          <a:lstStyle/>
          <a:p>
            <a:pPr algn="l">
              <a:defRPr sz="1800" b="0">
                <a:solidFill>
                  <a:srgbClr val="FFFFFF"/>
                </a:solidFill>
                <a:latin typeface="Segoe UI"/>
              </a:defRPr>
            </a:pPr>
            <a:r>
              <a:t>False positive filtering (eating, resting)</a:t>
            </a:r>
          </a:p>
        </p:txBody>
      </p:sp>
      <p:sp>
        <p:nvSpPr>
          <p:cNvPr id="19" name="TextBox 18"/>
          <p:cNvSpPr txBox="1"/>
          <p:nvPr/>
        </p:nvSpPr>
        <p:spPr>
          <a:xfrm>
            <a:off x="1097280" y="6922008"/>
            <a:ext cx="9601200" cy="411480"/>
          </a:xfrm>
          <a:prstGeom prst="rect">
            <a:avLst/>
          </a:prstGeom>
          <a:noFill/>
        </p:spPr>
        <p:txBody>
          <a:bodyPr wrap="square">
            <a:spAutoFit/>
          </a:bodyPr>
          <a:lstStyle/>
          <a:p>
            <a:pPr algn="l">
              <a:defRPr sz="1800" b="0">
                <a:solidFill>
                  <a:srgbClr val="FFFFFF"/>
                </a:solidFill>
                <a:latin typeface="Segoe UI"/>
              </a:defRPr>
            </a:pPr>
            <a:r>
              <a:t>Adaptive calibration per user</a:t>
            </a:r>
          </a:p>
        </p:txBody>
      </p:sp>
      <p:sp>
        <p:nvSpPr>
          <p:cNvPr id="20" name="TextBox 19"/>
          <p:cNvSpPr txBox="1"/>
          <p:nvPr/>
        </p:nvSpPr>
        <p:spPr>
          <a:xfrm>
            <a:off x="1097280" y="730605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21" name="TextBox 20"/>
          <p:cNvSpPr txBox="1"/>
          <p:nvPr/>
        </p:nvSpPr>
        <p:spPr>
          <a:xfrm>
            <a:off x="914400" y="7690104"/>
            <a:ext cx="9601200" cy="457200"/>
          </a:xfrm>
          <a:prstGeom prst="rect">
            <a:avLst/>
          </a:prstGeom>
          <a:noFill/>
        </p:spPr>
        <p:txBody>
          <a:bodyPr wrap="square">
            <a:spAutoFit/>
          </a:bodyPr>
          <a:lstStyle/>
          <a:p>
            <a:pPr algn="l">
              <a:defRPr sz="2000" b="1">
                <a:solidFill>
                  <a:srgbClr val="D4880F"/>
                </a:solidFill>
                <a:latin typeface="Segoe UI"/>
              </a:defRPr>
            </a:pPr>
            <a:r>
              <a:t>Code Coverage: 20+ API endpoints, 9 database tables</a:t>
            </a:r>
          </a:p>
        </p:txBody>
      </p:sp>
      <p:sp>
        <p:nvSpPr>
          <p:cNvPr id="22" name="TextBox 21"/>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Challenges &amp; Solutions</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Challenge 1: Sensor-to-Camera Domain Gap</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Kaggle data = wrist sensors, our system = camera</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Solution: semantic feature mapping (16 features bridge both modalities)</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9" name="TextBox 8"/>
          <p:cNvSpPr txBox="1"/>
          <p:nvPr/>
        </p:nvSpPr>
        <p:spPr>
          <a:xfrm>
            <a:off x="914400" y="3026664"/>
            <a:ext cx="9601200" cy="457200"/>
          </a:xfrm>
          <a:prstGeom prst="rect">
            <a:avLst/>
          </a:prstGeom>
          <a:noFill/>
        </p:spPr>
        <p:txBody>
          <a:bodyPr wrap="square">
            <a:spAutoFit/>
          </a:bodyPr>
          <a:lstStyle/>
          <a:p>
            <a:pPr algn="l">
              <a:defRPr sz="2000" b="1">
                <a:solidFill>
                  <a:srgbClr val="D4880F"/>
                </a:solidFill>
                <a:latin typeface="Segoe UI"/>
              </a:defRPr>
            </a:pPr>
            <a:r>
              <a:t>Challenge 2: False Positives</a:t>
            </a:r>
          </a:p>
        </p:txBody>
      </p:sp>
      <p:sp>
        <p:nvSpPr>
          <p:cNvPr id="10" name="TextBox 9"/>
          <p:cNvSpPr txBox="1"/>
          <p:nvPr/>
        </p:nvSpPr>
        <p:spPr>
          <a:xfrm>
            <a:off x="1097280" y="3438144"/>
            <a:ext cx="9601200" cy="411480"/>
          </a:xfrm>
          <a:prstGeom prst="rect">
            <a:avLst/>
          </a:prstGeom>
          <a:noFill/>
        </p:spPr>
        <p:txBody>
          <a:bodyPr wrap="square">
            <a:spAutoFit/>
          </a:bodyPr>
          <a:lstStyle/>
          <a:p>
            <a:pPr algn="l">
              <a:defRPr sz="1800" b="0">
                <a:solidFill>
                  <a:srgbClr val="FFFFFF"/>
                </a:solidFill>
                <a:latin typeface="Segoe UI"/>
              </a:defRPr>
            </a:pPr>
            <a:r>
              <a:t>Eating, resting, scratching look similar to BFRBs</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Solution: multi-signal scoring + eating/resting filters + dwell timers</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3" name="TextBox 12"/>
          <p:cNvSpPr txBox="1"/>
          <p:nvPr/>
        </p:nvSpPr>
        <p:spPr>
          <a:xfrm>
            <a:off x="914400" y="4590288"/>
            <a:ext cx="9601200" cy="457200"/>
          </a:xfrm>
          <a:prstGeom prst="rect">
            <a:avLst/>
          </a:prstGeom>
          <a:noFill/>
        </p:spPr>
        <p:txBody>
          <a:bodyPr wrap="square">
            <a:spAutoFit/>
          </a:bodyPr>
          <a:lstStyle/>
          <a:p>
            <a:pPr algn="l">
              <a:defRPr sz="2000" b="1">
                <a:solidFill>
                  <a:srgbClr val="D4880F"/>
                </a:solidFill>
                <a:latin typeface="Segoe UI"/>
              </a:defRPr>
            </a:pPr>
            <a:r>
              <a:t>Challenge 3: Varying User Distances</a:t>
            </a:r>
          </a:p>
        </p:txBody>
      </p:sp>
      <p:sp>
        <p:nvSpPr>
          <p:cNvPr id="14" name="TextBox 13"/>
          <p:cNvSpPr txBox="1"/>
          <p:nvPr/>
        </p:nvSpPr>
        <p:spPr>
          <a:xfrm>
            <a:off x="1097280" y="5001768"/>
            <a:ext cx="9601200" cy="411480"/>
          </a:xfrm>
          <a:prstGeom prst="rect">
            <a:avLst/>
          </a:prstGeom>
          <a:noFill/>
        </p:spPr>
        <p:txBody>
          <a:bodyPr wrap="square">
            <a:spAutoFit/>
          </a:bodyPr>
          <a:lstStyle/>
          <a:p>
            <a:pPr algn="l">
              <a:defRPr sz="1800" b="0">
                <a:solidFill>
                  <a:srgbClr val="FFFFFF"/>
                </a:solidFill>
                <a:latin typeface="Segoe UI"/>
              </a:defRPr>
            </a:pPr>
            <a:r>
              <a:t>Proximity thresholds break at different camera distances</a:t>
            </a:r>
          </a:p>
        </p:txBody>
      </p:sp>
      <p:sp>
        <p:nvSpPr>
          <p:cNvPr id="15" name="TextBox 14"/>
          <p:cNvSpPr txBox="1"/>
          <p:nvPr/>
        </p:nvSpPr>
        <p:spPr>
          <a:xfrm>
            <a:off x="1097280" y="5385816"/>
            <a:ext cx="9601200" cy="411480"/>
          </a:xfrm>
          <a:prstGeom prst="rect">
            <a:avLst/>
          </a:prstGeom>
          <a:noFill/>
        </p:spPr>
        <p:txBody>
          <a:bodyPr wrap="square">
            <a:spAutoFit/>
          </a:bodyPr>
          <a:lstStyle/>
          <a:p>
            <a:pPr algn="l">
              <a:defRPr sz="1800" b="0">
                <a:solidFill>
                  <a:srgbClr val="FFFFFF"/>
                </a:solidFill>
                <a:latin typeface="Segoe UI"/>
              </a:defRPr>
            </a:pPr>
            <a:r>
              <a:t>Solution: adaptive calibration normalizes by face width</a:t>
            </a:r>
          </a:p>
        </p:txBody>
      </p:sp>
      <p:sp>
        <p:nvSpPr>
          <p:cNvPr id="16" name="TextBox 15"/>
          <p:cNvSpPr txBox="1"/>
          <p:nvPr/>
        </p:nvSpPr>
        <p:spPr>
          <a:xfrm>
            <a:off x="1097280" y="5769864"/>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7" name="TextBox 16"/>
          <p:cNvSpPr txBox="1"/>
          <p:nvPr/>
        </p:nvSpPr>
        <p:spPr>
          <a:xfrm>
            <a:off x="914400" y="6153912"/>
            <a:ext cx="9601200" cy="457200"/>
          </a:xfrm>
          <a:prstGeom prst="rect">
            <a:avLst/>
          </a:prstGeom>
          <a:noFill/>
        </p:spPr>
        <p:txBody>
          <a:bodyPr wrap="square">
            <a:spAutoFit/>
          </a:bodyPr>
          <a:lstStyle/>
          <a:p>
            <a:pPr algn="l">
              <a:defRPr sz="2000" b="1">
                <a:solidFill>
                  <a:srgbClr val="D4880F"/>
                </a:solidFill>
                <a:latin typeface="Segoe UI"/>
              </a:defRPr>
            </a:pPr>
            <a:r>
              <a:t>Challenge 4: Real-Time Performance</a:t>
            </a:r>
          </a:p>
        </p:txBody>
      </p:sp>
      <p:sp>
        <p:nvSpPr>
          <p:cNvPr id="18" name="TextBox 17"/>
          <p:cNvSpPr txBox="1"/>
          <p:nvPr/>
        </p:nvSpPr>
        <p:spPr>
          <a:xfrm>
            <a:off x="1097280" y="6565392"/>
            <a:ext cx="9601200" cy="411480"/>
          </a:xfrm>
          <a:prstGeom prst="rect">
            <a:avLst/>
          </a:prstGeom>
          <a:noFill/>
        </p:spPr>
        <p:txBody>
          <a:bodyPr wrap="square">
            <a:spAutoFit/>
          </a:bodyPr>
          <a:lstStyle/>
          <a:p>
            <a:pPr algn="l">
              <a:defRPr sz="1800" b="0">
                <a:solidFill>
                  <a:srgbClr val="FFFFFF"/>
                </a:solidFill>
                <a:latin typeface="Segoe UI"/>
              </a:defRPr>
            </a:pPr>
            <a:r>
              <a:t>MediaPipe + ML inference must run at &gt;20 FPS</a:t>
            </a:r>
          </a:p>
        </p:txBody>
      </p:sp>
      <p:sp>
        <p:nvSpPr>
          <p:cNvPr id="19" name="TextBox 18"/>
          <p:cNvSpPr txBox="1"/>
          <p:nvPr/>
        </p:nvSpPr>
        <p:spPr>
          <a:xfrm>
            <a:off x="1097280" y="6949440"/>
            <a:ext cx="9601200" cy="411480"/>
          </a:xfrm>
          <a:prstGeom prst="rect">
            <a:avLst/>
          </a:prstGeom>
          <a:noFill/>
        </p:spPr>
        <p:txBody>
          <a:bodyPr wrap="square">
            <a:spAutoFit/>
          </a:bodyPr>
          <a:lstStyle/>
          <a:p>
            <a:pPr algn="l">
              <a:defRPr sz="1800" b="0">
                <a:solidFill>
                  <a:srgbClr val="FFFFFF"/>
                </a:solidFill>
                <a:latin typeface="Segoe UI"/>
              </a:defRPr>
            </a:pPr>
            <a:r>
              <a:t>Solution: One Euro filter + sliding window + WebSocket transport</a:t>
            </a:r>
          </a:p>
        </p:txBody>
      </p:sp>
      <p:sp>
        <p:nvSpPr>
          <p:cNvPr id="20" name="TextBox 19"/>
          <p:cNvSpPr txBox="1"/>
          <p:nvPr/>
        </p:nvSpPr>
        <p:spPr>
          <a:xfrm>
            <a:off x="1097280" y="7333488"/>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21" name="TextBox 20"/>
          <p:cNvSpPr txBox="1"/>
          <p:nvPr/>
        </p:nvSpPr>
        <p:spPr>
          <a:xfrm>
            <a:off x="914400" y="7717536"/>
            <a:ext cx="9601200" cy="457200"/>
          </a:xfrm>
          <a:prstGeom prst="rect">
            <a:avLst/>
          </a:prstGeom>
          <a:noFill/>
        </p:spPr>
        <p:txBody>
          <a:bodyPr wrap="square">
            <a:spAutoFit/>
          </a:bodyPr>
          <a:lstStyle/>
          <a:p>
            <a:pPr algn="l">
              <a:defRPr sz="2000" b="1">
                <a:solidFill>
                  <a:srgbClr val="D4880F"/>
                </a:solidFill>
                <a:latin typeface="Segoe UI"/>
              </a:defRPr>
            </a:pPr>
            <a:r>
              <a:t>Challenge 5: User Experience</a:t>
            </a:r>
          </a:p>
        </p:txBody>
      </p:sp>
      <p:sp>
        <p:nvSpPr>
          <p:cNvPr id="22" name="TextBox 21"/>
          <p:cNvSpPr txBox="1"/>
          <p:nvPr/>
        </p:nvSpPr>
        <p:spPr>
          <a:xfrm>
            <a:off x="1097280" y="8129016"/>
            <a:ext cx="9601200" cy="411480"/>
          </a:xfrm>
          <a:prstGeom prst="rect">
            <a:avLst/>
          </a:prstGeom>
          <a:noFill/>
        </p:spPr>
        <p:txBody>
          <a:bodyPr wrap="square">
            <a:spAutoFit/>
          </a:bodyPr>
          <a:lstStyle/>
          <a:p>
            <a:pPr algn="l">
              <a:defRPr sz="1800" b="0">
                <a:solidFill>
                  <a:srgbClr val="FFFFFF"/>
                </a:solidFill>
                <a:latin typeface="Segoe UI"/>
              </a:defRPr>
            </a:pPr>
            <a:r>
              <a:t>Technical ML system must be accessible to non-technical users</a:t>
            </a:r>
          </a:p>
        </p:txBody>
      </p:sp>
      <p:sp>
        <p:nvSpPr>
          <p:cNvPr id="23" name="TextBox 22"/>
          <p:cNvSpPr txBox="1"/>
          <p:nvPr/>
        </p:nvSpPr>
        <p:spPr>
          <a:xfrm>
            <a:off x="1097280" y="8513064"/>
            <a:ext cx="9601200" cy="411480"/>
          </a:xfrm>
          <a:prstGeom prst="rect">
            <a:avLst/>
          </a:prstGeom>
          <a:noFill/>
        </p:spPr>
        <p:txBody>
          <a:bodyPr wrap="square">
            <a:spAutoFit/>
          </a:bodyPr>
          <a:lstStyle/>
          <a:p>
            <a:pPr algn="l">
              <a:defRPr sz="1800" b="0">
                <a:solidFill>
                  <a:srgbClr val="FFFFFF"/>
                </a:solidFill>
                <a:latin typeface="Segoe UI"/>
              </a:defRPr>
            </a:pPr>
            <a:r>
              <a:t>Solution: onboarding questionnaire + clean professional UI</a:t>
            </a:r>
          </a:p>
        </p:txBody>
      </p:sp>
      <p:sp>
        <p:nvSpPr>
          <p:cNvPr id="24" name="TextBox 23"/>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Future Work</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1463040"/>
            <a:ext cx="9601200" cy="457200"/>
          </a:xfrm>
          <a:prstGeom prst="rect">
            <a:avLst/>
          </a:prstGeom>
          <a:noFill/>
        </p:spPr>
        <p:txBody>
          <a:bodyPr wrap="square">
            <a:spAutoFit/>
          </a:bodyPr>
          <a:lstStyle/>
          <a:p>
            <a:pPr algn="l">
              <a:defRPr sz="2000" b="1">
                <a:solidFill>
                  <a:srgbClr val="D4880F"/>
                </a:solidFill>
                <a:latin typeface="Segoe UI"/>
              </a:defRPr>
            </a:pPr>
            <a:r>
              <a:t>Short-Term Improvements</a:t>
            </a:r>
          </a:p>
        </p:txBody>
      </p:sp>
      <p:sp>
        <p:nvSpPr>
          <p:cNvPr id="6" name="TextBox 5"/>
          <p:cNvSpPr txBox="1"/>
          <p:nvPr/>
        </p:nvSpPr>
        <p:spPr>
          <a:xfrm>
            <a:off x="1097280" y="1874520"/>
            <a:ext cx="9601200" cy="411480"/>
          </a:xfrm>
          <a:prstGeom prst="rect">
            <a:avLst/>
          </a:prstGeom>
          <a:noFill/>
        </p:spPr>
        <p:txBody>
          <a:bodyPr wrap="square">
            <a:spAutoFit/>
          </a:bodyPr>
          <a:lstStyle/>
          <a:p>
            <a:pPr algn="l">
              <a:defRPr sz="1800" b="0">
                <a:solidFill>
                  <a:srgbClr val="FFFFFF"/>
                </a:solidFill>
                <a:latin typeface="Segoe UI"/>
              </a:defRPr>
            </a:pPr>
            <a:r>
              <a:t>Fine-tune ML model on camera-derived features (labeled webcam data)</a:t>
            </a:r>
          </a:p>
        </p:txBody>
      </p:sp>
      <p:sp>
        <p:nvSpPr>
          <p:cNvPr id="7" name="TextBox 6"/>
          <p:cNvSpPr txBox="1"/>
          <p:nvPr/>
        </p:nvSpPr>
        <p:spPr>
          <a:xfrm>
            <a:off x="1097280" y="2258568"/>
            <a:ext cx="9601200" cy="411480"/>
          </a:xfrm>
          <a:prstGeom prst="rect">
            <a:avLst/>
          </a:prstGeom>
          <a:noFill/>
        </p:spPr>
        <p:txBody>
          <a:bodyPr wrap="square">
            <a:spAutoFit/>
          </a:bodyPr>
          <a:lstStyle/>
          <a:p>
            <a:pPr algn="l">
              <a:defRPr sz="1800" b="0">
                <a:solidFill>
                  <a:srgbClr val="FFFFFF"/>
                </a:solidFill>
                <a:latin typeface="Segoe UI"/>
              </a:defRPr>
            </a:pPr>
            <a:r>
              <a:t>Add multi-user support with role-based access (patient vs therapist)</a:t>
            </a:r>
          </a:p>
        </p:txBody>
      </p:sp>
      <p:sp>
        <p:nvSpPr>
          <p:cNvPr id="8" name="TextBox 7"/>
          <p:cNvSpPr txBox="1"/>
          <p:nvPr/>
        </p:nvSpPr>
        <p:spPr>
          <a:xfrm>
            <a:off x="1097280" y="2642616"/>
            <a:ext cx="9601200" cy="411480"/>
          </a:xfrm>
          <a:prstGeom prst="rect">
            <a:avLst/>
          </a:prstGeom>
          <a:noFill/>
        </p:spPr>
        <p:txBody>
          <a:bodyPr wrap="square">
            <a:spAutoFit/>
          </a:bodyPr>
          <a:lstStyle/>
          <a:p>
            <a:pPr algn="l">
              <a:defRPr sz="1800" b="0">
                <a:solidFill>
                  <a:srgbClr val="FFFFFF"/>
                </a:solidFill>
                <a:latin typeface="Segoe UI"/>
              </a:defRPr>
            </a:pPr>
            <a:r>
              <a:t>Mobile-optimized layout for smartphone webcam use</a:t>
            </a:r>
          </a:p>
        </p:txBody>
      </p:sp>
      <p:sp>
        <p:nvSpPr>
          <p:cNvPr id="9" name="TextBox 8"/>
          <p:cNvSpPr txBox="1"/>
          <p:nvPr/>
        </p:nvSpPr>
        <p:spPr>
          <a:xfrm>
            <a:off x="1097280" y="3026664"/>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0" name="TextBox 9"/>
          <p:cNvSpPr txBox="1"/>
          <p:nvPr/>
        </p:nvSpPr>
        <p:spPr>
          <a:xfrm>
            <a:off x="914400" y="3410712"/>
            <a:ext cx="9601200" cy="457200"/>
          </a:xfrm>
          <a:prstGeom prst="rect">
            <a:avLst/>
          </a:prstGeom>
          <a:noFill/>
        </p:spPr>
        <p:txBody>
          <a:bodyPr wrap="square">
            <a:spAutoFit/>
          </a:bodyPr>
          <a:lstStyle/>
          <a:p>
            <a:pPr algn="l">
              <a:defRPr sz="2000" b="1">
                <a:solidFill>
                  <a:srgbClr val="D4880F"/>
                </a:solidFill>
                <a:latin typeface="Segoe UI"/>
              </a:defRPr>
            </a:pPr>
            <a:r>
              <a:t>Research Extensions</a:t>
            </a:r>
          </a:p>
        </p:txBody>
      </p:sp>
      <p:sp>
        <p:nvSpPr>
          <p:cNvPr id="11" name="TextBox 10"/>
          <p:cNvSpPr txBox="1"/>
          <p:nvPr/>
        </p:nvSpPr>
        <p:spPr>
          <a:xfrm>
            <a:off x="1097280" y="3822192"/>
            <a:ext cx="9601200" cy="411480"/>
          </a:xfrm>
          <a:prstGeom prst="rect">
            <a:avLst/>
          </a:prstGeom>
          <a:noFill/>
        </p:spPr>
        <p:txBody>
          <a:bodyPr wrap="square">
            <a:spAutoFit/>
          </a:bodyPr>
          <a:lstStyle/>
          <a:p>
            <a:pPr algn="l">
              <a:defRPr sz="1800" b="0">
                <a:solidFill>
                  <a:srgbClr val="FFFFFF"/>
                </a:solidFill>
                <a:latin typeface="Segoe UI"/>
              </a:defRPr>
            </a:pPr>
            <a:r>
              <a:t>Federated learning: train across users without sharing raw data</a:t>
            </a:r>
          </a:p>
        </p:txBody>
      </p:sp>
      <p:sp>
        <p:nvSpPr>
          <p:cNvPr id="12" name="TextBox 11"/>
          <p:cNvSpPr txBox="1"/>
          <p:nvPr/>
        </p:nvSpPr>
        <p:spPr>
          <a:xfrm>
            <a:off x="1097280" y="4206240"/>
            <a:ext cx="9601200" cy="411480"/>
          </a:xfrm>
          <a:prstGeom prst="rect">
            <a:avLst/>
          </a:prstGeom>
          <a:noFill/>
        </p:spPr>
        <p:txBody>
          <a:bodyPr wrap="square">
            <a:spAutoFit/>
          </a:bodyPr>
          <a:lstStyle/>
          <a:p>
            <a:pPr algn="l">
              <a:defRPr sz="1800" b="0">
                <a:solidFill>
                  <a:srgbClr val="FFFFFF"/>
                </a:solidFill>
                <a:latin typeface="Segoe UI"/>
              </a:defRPr>
            </a:pPr>
            <a:r>
              <a:t>CORAL domain adaptation: align sensor and camera feature distributions</a:t>
            </a:r>
          </a:p>
        </p:txBody>
      </p:sp>
      <p:sp>
        <p:nvSpPr>
          <p:cNvPr id="13" name="TextBox 12"/>
          <p:cNvSpPr txBox="1"/>
          <p:nvPr/>
        </p:nvSpPr>
        <p:spPr>
          <a:xfrm>
            <a:off x="1097280" y="4590288"/>
            <a:ext cx="9601200" cy="411480"/>
          </a:xfrm>
          <a:prstGeom prst="rect">
            <a:avLst/>
          </a:prstGeom>
          <a:noFill/>
        </p:spPr>
        <p:txBody>
          <a:bodyPr wrap="square">
            <a:spAutoFit/>
          </a:bodyPr>
          <a:lstStyle/>
          <a:p>
            <a:pPr algn="l">
              <a:defRPr sz="1800" b="0">
                <a:solidFill>
                  <a:srgbClr val="FFFFFF"/>
                </a:solidFill>
                <a:latin typeface="Segoe UI"/>
              </a:defRPr>
            </a:pPr>
            <a:r>
              <a:t>Longitudinal studies: track behavior patterns over weeks/months</a:t>
            </a:r>
          </a:p>
        </p:txBody>
      </p:sp>
      <p:sp>
        <p:nvSpPr>
          <p:cNvPr id="14" name="TextBox 13"/>
          <p:cNvSpPr txBox="1"/>
          <p:nvPr/>
        </p:nvSpPr>
        <p:spPr>
          <a:xfrm>
            <a:off x="1097280" y="4974336"/>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15" name="TextBox 14"/>
          <p:cNvSpPr txBox="1"/>
          <p:nvPr/>
        </p:nvSpPr>
        <p:spPr>
          <a:xfrm>
            <a:off x="914400" y="5358384"/>
            <a:ext cx="9601200" cy="457200"/>
          </a:xfrm>
          <a:prstGeom prst="rect">
            <a:avLst/>
          </a:prstGeom>
          <a:noFill/>
        </p:spPr>
        <p:txBody>
          <a:bodyPr wrap="square">
            <a:spAutoFit/>
          </a:bodyPr>
          <a:lstStyle/>
          <a:p>
            <a:pPr algn="l">
              <a:defRPr sz="2000" b="1">
                <a:solidFill>
                  <a:srgbClr val="D4880F"/>
                </a:solidFill>
                <a:latin typeface="Segoe UI"/>
              </a:defRPr>
            </a:pPr>
            <a:r>
              <a:t>Clinical Integration</a:t>
            </a:r>
          </a:p>
        </p:txBody>
      </p:sp>
      <p:sp>
        <p:nvSpPr>
          <p:cNvPr id="16" name="TextBox 15"/>
          <p:cNvSpPr txBox="1"/>
          <p:nvPr/>
        </p:nvSpPr>
        <p:spPr>
          <a:xfrm>
            <a:off x="1097280" y="5769864"/>
            <a:ext cx="9601200" cy="411480"/>
          </a:xfrm>
          <a:prstGeom prst="rect">
            <a:avLst/>
          </a:prstGeom>
          <a:noFill/>
        </p:spPr>
        <p:txBody>
          <a:bodyPr wrap="square">
            <a:spAutoFit/>
          </a:bodyPr>
          <a:lstStyle/>
          <a:p>
            <a:pPr algn="l">
              <a:defRPr sz="1800" b="0">
                <a:solidFill>
                  <a:srgbClr val="FFFFFF"/>
                </a:solidFill>
                <a:latin typeface="Segoe UI"/>
              </a:defRPr>
            </a:pPr>
            <a:r>
              <a:t>Therapist dashboard: view patient BFRB trends remotely</a:t>
            </a:r>
          </a:p>
        </p:txBody>
      </p:sp>
      <p:sp>
        <p:nvSpPr>
          <p:cNvPr id="17" name="TextBox 16"/>
          <p:cNvSpPr txBox="1"/>
          <p:nvPr/>
        </p:nvSpPr>
        <p:spPr>
          <a:xfrm>
            <a:off x="1097280" y="6153912"/>
            <a:ext cx="9601200" cy="411480"/>
          </a:xfrm>
          <a:prstGeom prst="rect">
            <a:avLst/>
          </a:prstGeom>
          <a:noFill/>
        </p:spPr>
        <p:txBody>
          <a:bodyPr wrap="square">
            <a:spAutoFit/>
          </a:bodyPr>
          <a:lstStyle/>
          <a:p>
            <a:pPr algn="l">
              <a:defRPr sz="1800" b="0">
                <a:solidFill>
                  <a:srgbClr val="FFFFFF"/>
                </a:solidFill>
                <a:latin typeface="Segoe UI"/>
              </a:defRPr>
            </a:pPr>
            <a:r>
              <a:t>Integration with CBT (Cognitive Behavioral Therapy) protocols</a:t>
            </a:r>
          </a:p>
        </p:txBody>
      </p:sp>
      <p:sp>
        <p:nvSpPr>
          <p:cNvPr id="18" name="TextBox 17"/>
          <p:cNvSpPr txBox="1"/>
          <p:nvPr/>
        </p:nvSpPr>
        <p:spPr>
          <a:xfrm>
            <a:off x="1097280" y="6537960"/>
            <a:ext cx="9601200" cy="411480"/>
          </a:xfrm>
          <a:prstGeom prst="rect">
            <a:avLst/>
          </a:prstGeom>
          <a:noFill/>
        </p:spPr>
        <p:txBody>
          <a:bodyPr wrap="square">
            <a:spAutoFit/>
          </a:bodyPr>
          <a:lstStyle/>
          <a:p>
            <a:pPr algn="l">
              <a:defRPr sz="1800" b="0">
                <a:solidFill>
                  <a:srgbClr val="FFFFFF"/>
                </a:solidFill>
                <a:latin typeface="Segoe UI"/>
              </a:defRPr>
            </a:pPr>
            <a:r>
              <a:t>Smart notifications: context-aware alerts based on time/location</a:t>
            </a:r>
          </a:p>
        </p:txBody>
      </p:sp>
      <p:sp>
        <p:nvSpPr>
          <p:cNvPr id="19" name="TextBox 18"/>
          <p:cNvSpPr txBox="1"/>
          <p:nvPr/>
        </p:nvSpPr>
        <p:spPr>
          <a:xfrm>
            <a:off x="1097280" y="6922008"/>
            <a:ext cx="9601200" cy="411480"/>
          </a:xfrm>
          <a:prstGeom prst="rect">
            <a:avLst/>
          </a:prstGeom>
          <a:noFill/>
        </p:spPr>
        <p:txBody>
          <a:bodyPr wrap="square">
            <a:spAutoFit/>
          </a:bodyPr>
          <a:lstStyle/>
          <a:p>
            <a:pPr algn="l">
              <a:defRPr sz="1800" b="0">
                <a:solidFill>
                  <a:srgbClr val="FFFFFF"/>
                </a:solidFill>
                <a:latin typeface="Segoe UI"/>
              </a:defRPr>
            </a:pPr>
          </a:p>
        </p:txBody>
      </p:sp>
      <p:sp>
        <p:nvSpPr>
          <p:cNvPr id="20" name="TextBox 19"/>
          <p:cNvSpPr txBox="1"/>
          <p:nvPr/>
        </p:nvSpPr>
        <p:spPr>
          <a:xfrm>
            <a:off x="914400" y="7306056"/>
            <a:ext cx="9601200" cy="457200"/>
          </a:xfrm>
          <a:prstGeom prst="rect">
            <a:avLst/>
          </a:prstGeom>
          <a:noFill/>
        </p:spPr>
        <p:txBody>
          <a:bodyPr wrap="square">
            <a:spAutoFit/>
          </a:bodyPr>
          <a:lstStyle/>
          <a:p>
            <a:pPr algn="l">
              <a:defRPr sz="2000" b="1">
                <a:solidFill>
                  <a:srgbClr val="D4880F"/>
                </a:solidFill>
                <a:latin typeface="Segoe UI"/>
              </a:defRPr>
            </a:pPr>
            <a:r>
              <a:t>Deployment</a:t>
            </a:r>
          </a:p>
        </p:txBody>
      </p:sp>
      <p:sp>
        <p:nvSpPr>
          <p:cNvPr id="21" name="TextBox 20"/>
          <p:cNvSpPr txBox="1"/>
          <p:nvPr/>
        </p:nvSpPr>
        <p:spPr>
          <a:xfrm>
            <a:off x="1097280" y="7717536"/>
            <a:ext cx="9601200" cy="411480"/>
          </a:xfrm>
          <a:prstGeom prst="rect">
            <a:avLst/>
          </a:prstGeom>
          <a:noFill/>
        </p:spPr>
        <p:txBody>
          <a:bodyPr wrap="square">
            <a:spAutoFit/>
          </a:bodyPr>
          <a:lstStyle/>
          <a:p>
            <a:pPr algn="l">
              <a:defRPr sz="1800" b="0">
                <a:solidFill>
                  <a:srgbClr val="FFFFFF"/>
                </a:solidFill>
                <a:latin typeface="Segoe UI"/>
              </a:defRPr>
            </a:pPr>
            <a:r>
              <a:t>Cloud hosting (AWS/GCP) for multi-user access</a:t>
            </a:r>
          </a:p>
        </p:txBody>
      </p:sp>
      <p:sp>
        <p:nvSpPr>
          <p:cNvPr id="22" name="TextBox 21"/>
          <p:cNvSpPr txBox="1"/>
          <p:nvPr/>
        </p:nvSpPr>
        <p:spPr>
          <a:xfrm>
            <a:off x="1097280" y="8101584"/>
            <a:ext cx="9601200" cy="411480"/>
          </a:xfrm>
          <a:prstGeom prst="rect">
            <a:avLst/>
          </a:prstGeom>
          <a:noFill/>
        </p:spPr>
        <p:txBody>
          <a:bodyPr wrap="square">
            <a:spAutoFit/>
          </a:bodyPr>
          <a:lstStyle/>
          <a:p>
            <a:pPr algn="l">
              <a:defRPr sz="1800" b="0">
                <a:solidFill>
                  <a:srgbClr val="FFFFFF"/>
                </a:solidFill>
                <a:latin typeface="Segoe UI"/>
              </a:defRPr>
            </a:pPr>
            <a:r>
              <a:t>Browser extension version for always-on monitoring</a:t>
            </a:r>
          </a:p>
        </p:txBody>
      </p:sp>
      <p:sp>
        <p:nvSpPr>
          <p:cNvPr id="23" name="TextBox 22"/>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A3A5C"/>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058400" cy="731520"/>
          </a:xfrm>
          <a:prstGeom prst="rect">
            <a:avLst/>
          </a:prstGeom>
          <a:noFill/>
        </p:spPr>
        <p:txBody>
          <a:bodyPr wrap="square">
            <a:spAutoFit/>
          </a:bodyPr>
          <a:lstStyle/>
          <a:p>
            <a:pPr algn="l">
              <a:defRPr sz="3600" b="1">
                <a:solidFill>
                  <a:srgbClr val="FFFFFF"/>
                </a:solidFill>
                <a:latin typeface="Segoe UI"/>
              </a:defRPr>
            </a:pPr>
            <a:r>
              <a:t>Project Requirements Checklist</a:t>
            </a:r>
          </a:p>
        </p:txBody>
      </p:sp>
      <p:sp>
        <p:nvSpPr>
          <p:cNvPr id="4" name="Rectangle 3"/>
          <p:cNvSpPr/>
          <p:nvPr/>
        </p:nvSpPr>
        <p:spPr>
          <a:xfrm>
            <a:off x="731520" y="1051560"/>
            <a:ext cx="2286000" cy="36576"/>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63040"/>
            <a:ext cx="5029200" cy="384048"/>
          </a:xfrm>
          <a:prstGeom prst="rect">
            <a:avLst/>
          </a:prstGeom>
          <a:noFill/>
        </p:spPr>
        <p:txBody>
          <a:bodyPr wrap="square">
            <a:spAutoFit/>
          </a:bodyPr>
          <a:lstStyle/>
          <a:p>
            <a:pPr algn="l">
              <a:defRPr sz="1700" b="0">
                <a:solidFill>
                  <a:srgbClr val="FFFFFF"/>
                </a:solidFill>
                <a:latin typeface="Segoe UI"/>
              </a:defRPr>
            </a:pPr>
            <a:r>
              <a:t>--- Database ---</a:t>
            </a:r>
          </a:p>
        </p:txBody>
      </p:sp>
      <p:sp>
        <p:nvSpPr>
          <p:cNvPr id="6" name="TextBox 5"/>
          <p:cNvSpPr txBox="1"/>
          <p:nvPr/>
        </p:nvSpPr>
        <p:spPr>
          <a:xfrm>
            <a:off x="731520" y="1828800"/>
            <a:ext cx="5029200" cy="384048"/>
          </a:xfrm>
          <a:prstGeom prst="rect">
            <a:avLst/>
          </a:prstGeom>
          <a:noFill/>
        </p:spPr>
        <p:txBody>
          <a:bodyPr wrap="square">
            <a:spAutoFit/>
          </a:bodyPr>
          <a:lstStyle/>
          <a:p>
            <a:pPr algn="l">
              <a:defRPr sz="1700" b="0">
                <a:solidFill>
                  <a:srgbClr val="FFFFFF"/>
                </a:solidFill>
                <a:latin typeface="Segoe UI"/>
              </a:defRPr>
            </a:pPr>
            <a:r>
              <a:t>[DONE] 3NF normalized schema</a:t>
            </a:r>
          </a:p>
        </p:txBody>
      </p:sp>
      <p:sp>
        <p:nvSpPr>
          <p:cNvPr id="7" name="TextBox 6"/>
          <p:cNvSpPr txBox="1"/>
          <p:nvPr/>
        </p:nvSpPr>
        <p:spPr>
          <a:xfrm>
            <a:off x="731520" y="2194560"/>
            <a:ext cx="5029200" cy="384048"/>
          </a:xfrm>
          <a:prstGeom prst="rect">
            <a:avLst/>
          </a:prstGeom>
          <a:noFill/>
        </p:spPr>
        <p:txBody>
          <a:bodyPr wrap="square">
            <a:spAutoFit/>
          </a:bodyPr>
          <a:lstStyle/>
          <a:p>
            <a:pPr algn="l">
              <a:defRPr sz="1700" b="0">
                <a:solidFill>
                  <a:srgbClr val="FFFFFF"/>
                </a:solidFill>
                <a:latin typeface="Segoe UI"/>
              </a:defRPr>
            </a:pPr>
            <a:r>
              <a:t>[DONE] Proper foreign keys &amp; indexes</a:t>
            </a:r>
          </a:p>
        </p:txBody>
      </p:sp>
      <p:sp>
        <p:nvSpPr>
          <p:cNvPr id="8" name="TextBox 7"/>
          <p:cNvSpPr txBox="1"/>
          <p:nvPr/>
        </p:nvSpPr>
        <p:spPr>
          <a:xfrm>
            <a:off x="731520" y="2560320"/>
            <a:ext cx="5029200" cy="384048"/>
          </a:xfrm>
          <a:prstGeom prst="rect">
            <a:avLst/>
          </a:prstGeom>
          <a:noFill/>
        </p:spPr>
        <p:txBody>
          <a:bodyPr wrap="square">
            <a:spAutoFit/>
          </a:bodyPr>
          <a:lstStyle/>
          <a:p>
            <a:pPr algn="l">
              <a:defRPr sz="1700" b="0">
                <a:solidFill>
                  <a:srgbClr val="FFFFFF"/>
                </a:solidFill>
                <a:latin typeface="Segoe UI"/>
              </a:defRPr>
            </a:pPr>
            <a:r>
              <a:t>[DONE] 9 tables (users, sessions, etc.)</a:t>
            </a:r>
          </a:p>
        </p:txBody>
      </p:sp>
      <p:sp>
        <p:nvSpPr>
          <p:cNvPr id="9" name="TextBox 8"/>
          <p:cNvSpPr txBox="1"/>
          <p:nvPr/>
        </p:nvSpPr>
        <p:spPr>
          <a:xfrm>
            <a:off x="731520" y="2926080"/>
            <a:ext cx="5029200" cy="384048"/>
          </a:xfrm>
          <a:prstGeom prst="rect">
            <a:avLst/>
          </a:prstGeom>
          <a:noFill/>
        </p:spPr>
        <p:txBody>
          <a:bodyPr wrap="square">
            <a:spAutoFit/>
          </a:bodyPr>
          <a:lstStyle/>
          <a:p>
            <a:pPr algn="l">
              <a:defRPr sz="1700" b="0">
                <a:solidFill>
                  <a:srgbClr val="FFFFFF"/>
                </a:solidFill>
                <a:latin typeface="Segoe UI"/>
              </a:defRPr>
            </a:pPr>
            <a:r>
              <a:t>[DONE] MySQL reference schema + Docker</a:t>
            </a:r>
          </a:p>
        </p:txBody>
      </p:sp>
      <p:sp>
        <p:nvSpPr>
          <p:cNvPr id="10" name="TextBox 9"/>
          <p:cNvSpPr txBox="1"/>
          <p:nvPr/>
        </p:nvSpPr>
        <p:spPr>
          <a:xfrm>
            <a:off x="731520" y="3291840"/>
            <a:ext cx="5029200" cy="384048"/>
          </a:xfrm>
          <a:prstGeom prst="rect">
            <a:avLst/>
          </a:prstGeom>
          <a:noFill/>
        </p:spPr>
        <p:txBody>
          <a:bodyPr wrap="square">
            <a:spAutoFit/>
          </a:bodyPr>
          <a:lstStyle/>
          <a:p>
            <a:pPr algn="l">
              <a:defRPr sz="1700" b="0">
                <a:solidFill>
                  <a:srgbClr val="FFFFFF"/>
                </a:solidFill>
                <a:latin typeface="Segoe UI"/>
              </a:defRPr>
            </a:pPr>
            <a:r>
              <a:t>[DONE] ERD diagram</a:t>
            </a:r>
          </a:p>
        </p:txBody>
      </p:sp>
      <p:sp>
        <p:nvSpPr>
          <p:cNvPr id="11" name="TextBox 10"/>
          <p:cNvSpPr txBox="1"/>
          <p:nvPr/>
        </p:nvSpPr>
        <p:spPr>
          <a:xfrm>
            <a:off x="731520" y="3657600"/>
            <a:ext cx="5029200" cy="384048"/>
          </a:xfrm>
          <a:prstGeom prst="rect">
            <a:avLst/>
          </a:prstGeom>
          <a:noFill/>
        </p:spPr>
        <p:txBody>
          <a:bodyPr wrap="square">
            <a:spAutoFit/>
          </a:bodyPr>
          <a:lstStyle/>
          <a:p>
            <a:pPr algn="l">
              <a:defRPr sz="1700" b="0">
                <a:solidFill>
                  <a:srgbClr val="FFFFFF"/>
                </a:solidFill>
                <a:latin typeface="Segoe UI"/>
              </a:defRPr>
            </a:pPr>
          </a:p>
        </p:txBody>
      </p:sp>
      <p:sp>
        <p:nvSpPr>
          <p:cNvPr id="12" name="TextBox 11"/>
          <p:cNvSpPr txBox="1"/>
          <p:nvPr/>
        </p:nvSpPr>
        <p:spPr>
          <a:xfrm>
            <a:off x="731520" y="4023360"/>
            <a:ext cx="5029200" cy="384048"/>
          </a:xfrm>
          <a:prstGeom prst="rect">
            <a:avLst/>
          </a:prstGeom>
          <a:noFill/>
        </p:spPr>
        <p:txBody>
          <a:bodyPr wrap="square">
            <a:spAutoFit/>
          </a:bodyPr>
          <a:lstStyle/>
          <a:p>
            <a:pPr algn="l">
              <a:defRPr sz="1700" b="0">
                <a:solidFill>
                  <a:srgbClr val="FFFFFF"/>
                </a:solidFill>
                <a:latin typeface="Segoe UI"/>
              </a:defRPr>
            </a:pPr>
            <a:r>
              <a:t>--- Backend ---</a:t>
            </a:r>
          </a:p>
        </p:txBody>
      </p:sp>
      <p:sp>
        <p:nvSpPr>
          <p:cNvPr id="13" name="TextBox 12"/>
          <p:cNvSpPr txBox="1"/>
          <p:nvPr/>
        </p:nvSpPr>
        <p:spPr>
          <a:xfrm>
            <a:off x="731520" y="4389120"/>
            <a:ext cx="5029200" cy="384048"/>
          </a:xfrm>
          <a:prstGeom prst="rect">
            <a:avLst/>
          </a:prstGeom>
          <a:noFill/>
        </p:spPr>
        <p:txBody>
          <a:bodyPr wrap="square">
            <a:spAutoFit/>
          </a:bodyPr>
          <a:lstStyle/>
          <a:p>
            <a:pPr algn="l">
              <a:defRPr sz="1700" b="0">
                <a:solidFill>
                  <a:srgbClr val="FFFFFF"/>
                </a:solidFill>
                <a:latin typeface="Segoe UI"/>
              </a:defRPr>
            </a:pPr>
            <a:r>
              <a:t>[DONE] Flask routes (20+ endpoints)</a:t>
            </a:r>
          </a:p>
        </p:txBody>
      </p:sp>
      <p:sp>
        <p:nvSpPr>
          <p:cNvPr id="14" name="TextBox 13"/>
          <p:cNvSpPr txBox="1"/>
          <p:nvPr/>
        </p:nvSpPr>
        <p:spPr>
          <a:xfrm>
            <a:off x="731520" y="4754880"/>
            <a:ext cx="5029200" cy="384048"/>
          </a:xfrm>
          <a:prstGeom prst="rect">
            <a:avLst/>
          </a:prstGeom>
          <a:noFill/>
        </p:spPr>
        <p:txBody>
          <a:bodyPr wrap="square">
            <a:spAutoFit/>
          </a:bodyPr>
          <a:lstStyle/>
          <a:p>
            <a:pPr algn="l">
              <a:defRPr sz="1700" b="0">
                <a:solidFill>
                  <a:srgbClr val="FFFFFF"/>
                </a:solidFill>
                <a:latin typeface="Segoe UI"/>
              </a:defRPr>
            </a:pPr>
            <a:r>
              <a:t>[DONE] Session management</a:t>
            </a:r>
          </a:p>
        </p:txBody>
      </p:sp>
      <p:sp>
        <p:nvSpPr>
          <p:cNvPr id="15" name="TextBox 14"/>
          <p:cNvSpPr txBox="1"/>
          <p:nvPr/>
        </p:nvSpPr>
        <p:spPr>
          <a:xfrm>
            <a:off x="731520" y="5120640"/>
            <a:ext cx="5029200" cy="384048"/>
          </a:xfrm>
          <a:prstGeom prst="rect">
            <a:avLst/>
          </a:prstGeom>
          <a:noFill/>
        </p:spPr>
        <p:txBody>
          <a:bodyPr wrap="square">
            <a:spAutoFit/>
          </a:bodyPr>
          <a:lstStyle/>
          <a:p>
            <a:pPr algn="l">
              <a:defRPr sz="1700" b="0">
                <a:solidFill>
                  <a:srgbClr val="FFFFFF"/>
                </a:solidFill>
                <a:latin typeface="Segoe UI"/>
              </a:defRPr>
            </a:pPr>
            <a:r>
              <a:t>[DONE] Error handling (JSON responses)</a:t>
            </a:r>
          </a:p>
        </p:txBody>
      </p:sp>
      <p:sp>
        <p:nvSpPr>
          <p:cNvPr id="16" name="TextBox 15"/>
          <p:cNvSpPr txBox="1"/>
          <p:nvPr/>
        </p:nvSpPr>
        <p:spPr>
          <a:xfrm>
            <a:off x="731520" y="5486400"/>
            <a:ext cx="5029200" cy="384048"/>
          </a:xfrm>
          <a:prstGeom prst="rect">
            <a:avLst/>
          </a:prstGeom>
          <a:noFill/>
        </p:spPr>
        <p:txBody>
          <a:bodyPr wrap="square">
            <a:spAutoFit/>
          </a:bodyPr>
          <a:lstStyle/>
          <a:p>
            <a:pPr algn="l">
              <a:defRPr sz="1700" b="0">
                <a:solidFill>
                  <a:srgbClr val="FFFFFF"/>
                </a:solidFill>
                <a:latin typeface="Segoe UI"/>
              </a:defRPr>
            </a:pPr>
            <a:r>
              <a:t>[DONE] ML inference endpoint</a:t>
            </a:r>
          </a:p>
        </p:txBody>
      </p:sp>
      <p:sp>
        <p:nvSpPr>
          <p:cNvPr id="17" name="TextBox 16"/>
          <p:cNvSpPr txBox="1"/>
          <p:nvPr/>
        </p:nvSpPr>
        <p:spPr>
          <a:xfrm>
            <a:off x="731520" y="5852160"/>
            <a:ext cx="5029200" cy="384048"/>
          </a:xfrm>
          <a:prstGeom prst="rect">
            <a:avLst/>
          </a:prstGeom>
          <a:noFill/>
        </p:spPr>
        <p:txBody>
          <a:bodyPr wrap="square">
            <a:spAutoFit/>
          </a:bodyPr>
          <a:lstStyle/>
          <a:p>
            <a:pPr algn="l">
              <a:defRPr sz="1700" b="0">
                <a:solidFill>
                  <a:srgbClr val="FFFFFF"/>
                </a:solidFill>
                <a:latin typeface="Segoe UI"/>
              </a:defRPr>
            </a:pPr>
            <a:r>
              <a:t>[DONE] WebSocket real-time</a:t>
            </a:r>
          </a:p>
        </p:txBody>
      </p:sp>
      <p:sp>
        <p:nvSpPr>
          <p:cNvPr id="18" name="TextBox 17"/>
          <p:cNvSpPr txBox="1"/>
          <p:nvPr/>
        </p:nvSpPr>
        <p:spPr>
          <a:xfrm>
            <a:off x="6217920" y="1463040"/>
            <a:ext cx="5029200" cy="384048"/>
          </a:xfrm>
          <a:prstGeom prst="rect">
            <a:avLst/>
          </a:prstGeom>
          <a:noFill/>
        </p:spPr>
        <p:txBody>
          <a:bodyPr wrap="square">
            <a:spAutoFit/>
          </a:bodyPr>
          <a:lstStyle/>
          <a:p>
            <a:pPr algn="l">
              <a:defRPr sz="1700" b="0">
                <a:solidFill>
                  <a:srgbClr val="FFFFFF"/>
                </a:solidFill>
                <a:latin typeface="Segoe UI"/>
              </a:defRPr>
            </a:pPr>
            <a:r>
              <a:t>--- Frontend ---</a:t>
            </a:r>
          </a:p>
        </p:txBody>
      </p:sp>
      <p:sp>
        <p:nvSpPr>
          <p:cNvPr id="19" name="TextBox 18"/>
          <p:cNvSpPr txBox="1"/>
          <p:nvPr/>
        </p:nvSpPr>
        <p:spPr>
          <a:xfrm>
            <a:off x="6217920" y="1828800"/>
            <a:ext cx="5029200" cy="384048"/>
          </a:xfrm>
          <a:prstGeom prst="rect">
            <a:avLst/>
          </a:prstGeom>
          <a:noFill/>
        </p:spPr>
        <p:txBody>
          <a:bodyPr wrap="square">
            <a:spAutoFit/>
          </a:bodyPr>
          <a:lstStyle/>
          <a:p>
            <a:pPr algn="l">
              <a:defRPr sz="1700" b="0">
                <a:solidFill>
                  <a:srgbClr val="FFFFFF"/>
                </a:solidFill>
                <a:latin typeface="Segoe UI"/>
              </a:defRPr>
            </a:pPr>
            <a:r>
              <a:t>[DONE] Responsive HTML/CSS/JS</a:t>
            </a:r>
          </a:p>
        </p:txBody>
      </p:sp>
      <p:sp>
        <p:nvSpPr>
          <p:cNvPr id="20" name="TextBox 19"/>
          <p:cNvSpPr txBox="1"/>
          <p:nvPr/>
        </p:nvSpPr>
        <p:spPr>
          <a:xfrm>
            <a:off x="6217920" y="2194560"/>
            <a:ext cx="5029200" cy="384048"/>
          </a:xfrm>
          <a:prstGeom prst="rect">
            <a:avLst/>
          </a:prstGeom>
          <a:noFill/>
        </p:spPr>
        <p:txBody>
          <a:bodyPr wrap="square">
            <a:spAutoFit/>
          </a:bodyPr>
          <a:lstStyle/>
          <a:p>
            <a:pPr algn="l">
              <a:defRPr sz="1700" b="0">
                <a:solidFill>
                  <a:srgbClr val="FFFFFF"/>
                </a:solidFill>
                <a:latin typeface="Segoe UI"/>
              </a:defRPr>
            </a:pPr>
            <a:r>
              <a:t>[DONE] Real-time webcam detection</a:t>
            </a:r>
          </a:p>
        </p:txBody>
      </p:sp>
      <p:sp>
        <p:nvSpPr>
          <p:cNvPr id="21" name="TextBox 20"/>
          <p:cNvSpPr txBox="1"/>
          <p:nvPr/>
        </p:nvSpPr>
        <p:spPr>
          <a:xfrm>
            <a:off x="6217920" y="2560320"/>
            <a:ext cx="5029200" cy="384048"/>
          </a:xfrm>
          <a:prstGeom prst="rect">
            <a:avLst/>
          </a:prstGeom>
          <a:noFill/>
        </p:spPr>
        <p:txBody>
          <a:bodyPr wrap="square">
            <a:spAutoFit/>
          </a:bodyPr>
          <a:lstStyle/>
          <a:p>
            <a:pPr algn="l">
              <a:defRPr sz="1700" b="0">
                <a:solidFill>
                  <a:srgbClr val="FFFFFF"/>
                </a:solidFill>
                <a:latin typeface="Segoe UI"/>
              </a:defRPr>
            </a:pPr>
            <a:r>
              <a:t>[DONE] Charts &amp; analytics dashboard</a:t>
            </a:r>
          </a:p>
        </p:txBody>
      </p:sp>
      <p:sp>
        <p:nvSpPr>
          <p:cNvPr id="22" name="TextBox 21"/>
          <p:cNvSpPr txBox="1"/>
          <p:nvPr/>
        </p:nvSpPr>
        <p:spPr>
          <a:xfrm>
            <a:off x="6217920" y="2926080"/>
            <a:ext cx="5029200" cy="384048"/>
          </a:xfrm>
          <a:prstGeom prst="rect">
            <a:avLst/>
          </a:prstGeom>
          <a:noFill/>
        </p:spPr>
        <p:txBody>
          <a:bodyPr wrap="square">
            <a:spAutoFit/>
          </a:bodyPr>
          <a:lstStyle/>
          <a:p>
            <a:pPr algn="l">
              <a:defRPr sz="1700" b="0">
                <a:solidFill>
                  <a:srgbClr val="FFFFFF"/>
                </a:solidFill>
                <a:latin typeface="Segoe UI"/>
              </a:defRPr>
            </a:pPr>
            <a:r>
              <a:t>[DONE] Authentication (login/signup)</a:t>
            </a:r>
          </a:p>
        </p:txBody>
      </p:sp>
      <p:sp>
        <p:nvSpPr>
          <p:cNvPr id="23" name="TextBox 22"/>
          <p:cNvSpPr txBox="1"/>
          <p:nvPr/>
        </p:nvSpPr>
        <p:spPr>
          <a:xfrm>
            <a:off x="6217920" y="3291840"/>
            <a:ext cx="5029200" cy="384048"/>
          </a:xfrm>
          <a:prstGeom prst="rect">
            <a:avLst/>
          </a:prstGeom>
          <a:noFill/>
        </p:spPr>
        <p:txBody>
          <a:bodyPr wrap="square">
            <a:spAutoFit/>
          </a:bodyPr>
          <a:lstStyle/>
          <a:p>
            <a:pPr algn="l">
              <a:defRPr sz="1700" b="0">
                <a:solidFill>
                  <a:srgbClr val="FFFFFF"/>
                </a:solidFill>
                <a:latin typeface="Segoe UI"/>
              </a:defRPr>
            </a:pPr>
            <a:r>
              <a:t>[DONE] Onboarding questionnaire</a:t>
            </a:r>
          </a:p>
        </p:txBody>
      </p:sp>
      <p:sp>
        <p:nvSpPr>
          <p:cNvPr id="24" name="TextBox 23"/>
          <p:cNvSpPr txBox="1"/>
          <p:nvPr/>
        </p:nvSpPr>
        <p:spPr>
          <a:xfrm>
            <a:off x="6217920" y="3657600"/>
            <a:ext cx="5029200" cy="384048"/>
          </a:xfrm>
          <a:prstGeom prst="rect">
            <a:avLst/>
          </a:prstGeom>
          <a:noFill/>
        </p:spPr>
        <p:txBody>
          <a:bodyPr wrap="square">
            <a:spAutoFit/>
          </a:bodyPr>
          <a:lstStyle/>
          <a:p>
            <a:pPr algn="l">
              <a:defRPr sz="1700" b="0">
                <a:solidFill>
                  <a:srgbClr val="FFFFFF"/>
                </a:solidFill>
                <a:latin typeface="Segoe UI"/>
              </a:defRPr>
            </a:pPr>
          </a:p>
        </p:txBody>
      </p:sp>
      <p:sp>
        <p:nvSpPr>
          <p:cNvPr id="25" name="TextBox 24"/>
          <p:cNvSpPr txBox="1"/>
          <p:nvPr/>
        </p:nvSpPr>
        <p:spPr>
          <a:xfrm>
            <a:off x="6217920" y="4023360"/>
            <a:ext cx="5029200" cy="384048"/>
          </a:xfrm>
          <a:prstGeom prst="rect">
            <a:avLst/>
          </a:prstGeom>
          <a:noFill/>
        </p:spPr>
        <p:txBody>
          <a:bodyPr wrap="square">
            <a:spAutoFit/>
          </a:bodyPr>
          <a:lstStyle/>
          <a:p>
            <a:pPr algn="l">
              <a:defRPr sz="1700" b="0">
                <a:solidFill>
                  <a:srgbClr val="FFFFFF"/>
                </a:solidFill>
                <a:latin typeface="Segoe UI"/>
              </a:defRPr>
            </a:pPr>
            <a:r>
              <a:t>--- Extras ---</a:t>
            </a:r>
          </a:p>
        </p:txBody>
      </p:sp>
      <p:sp>
        <p:nvSpPr>
          <p:cNvPr id="26" name="TextBox 25"/>
          <p:cNvSpPr txBox="1"/>
          <p:nvPr/>
        </p:nvSpPr>
        <p:spPr>
          <a:xfrm>
            <a:off x="6217920" y="4389120"/>
            <a:ext cx="5029200" cy="384048"/>
          </a:xfrm>
          <a:prstGeom prst="rect">
            <a:avLst/>
          </a:prstGeom>
          <a:noFill/>
        </p:spPr>
        <p:txBody>
          <a:bodyPr wrap="square">
            <a:spAutoFit/>
          </a:bodyPr>
          <a:lstStyle/>
          <a:p>
            <a:pPr algn="l">
              <a:defRPr sz="1700" b="0">
                <a:solidFill>
                  <a:srgbClr val="FFFFFF"/>
                </a:solidFill>
                <a:latin typeface="Segoe UI"/>
              </a:defRPr>
            </a:pPr>
            <a:r>
              <a:t>[DONE] BFRB type selector (custom)</a:t>
            </a:r>
          </a:p>
        </p:txBody>
      </p:sp>
      <p:sp>
        <p:nvSpPr>
          <p:cNvPr id="27" name="TextBox 26"/>
          <p:cNvSpPr txBox="1"/>
          <p:nvPr/>
        </p:nvSpPr>
        <p:spPr>
          <a:xfrm>
            <a:off x="6217920" y="4754880"/>
            <a:ext cx="5029200" cy="384048"/>
          </a:xfrm>
          <a:prstGeom prst="rect">
            <a:avLst/>
          </a:prstGeom>
          <a:noFill/>
        </p:spPr>
        <p:txBody>
          <a:bodyPr wrap="square">
            <a:spAutoFit/>
          </a:bodyPr>
          <a:lstStyle/>
          <a:p>
            <a:pPr algn="l">
              <a:defRPr sz="1700" b="0">
                <a:solidFill>
                  <a:srgbClr val="FFFFFF"/>
                </a:solidFill>
                <a:latin typeface="Segoe UI"/>
              </a:defRPr>
            </a:pPr>
            <a:r>
              <a:t>[DONE] Adaptive calibration</a:t>
            </a:r>
          </a:p>
        </p:txBody>
      </p:sp>
      <p:sp>
        <p:nvSpPr>
          <p:cNvPr id="28" name="TextBox 27"/>
          <p:cNvSpPr txBox="1"/>
          <p:nvPr/>
        </p:nvSpPr>
        <p:spPr>
          <a:xfrm>
            <a:off x="6217920" y="5120640"/>
            <a:ext cx="5029200" cy="384048"/>
          </a:xfrm>
          <a:prstGeom prst="rect">
            <a:avLst/>
          </a:prstGeom>
          <a:noFill/>
        </p:spPr>
        <p:txBody>
          <a:bodyPr wrap="square">
            <a:spAutoFit/>
          </a:bodyPr>
          <a:lstStyle/>
          <a:p>
            <a:pPr algn="l">
              <a:defRPr sz="1700" b="0">
                <a:solidFill>
                  <a:srgbClr val="FFFFFF"/>
                </a:solidFill>
                <a:latin typeface="Segoe UI"/>
              </a:defRPr>
            </a:pPr>
            <a:r>
              <a:t>[DONE] CSV export</a:t>
            </a:r>
          </a:p>
        </p:txBody>
      </p:sp>
      <p:sp>
        <p:nvSpPr>
          <p:cNvPr id="29" name="TextBox 28"/>
          <p:cNvSpPr txBox="1"/>
          <p:nvPr/>
        </p:nvSpPr>
        <p:spPr>
          <a:xfrm>
            <a:off x="6217920" y="5486400"/>
            <a:ext cx="5029200" cy="384048"/>
          </a:xfrm>
          <a:prstGeom prst="rect">
            <a:avLst/>
          </a:prstGeom>
          <a:noFill/>
        </p:spPr>
        <p:txBody>
          <a:bodyPr wrap="square">
            <a:spAutoFit/>
          </a:bodyPr>
          <a:lstStyle/>
          <a:p>
            <a:pPr algn="l">
              <a:defRPr sz="1700" b="0">
                <a:solidFill>
                  <a:srgbClr val="FFFFFF"/>
                </a:solidFill>
                <a:latin typeface="Segoe UI"/>
              </a:defRPr>
            </a:pPr>
            <a:r>
              <a:t>[DONE] PWA (offline capable)</a:t>
            </a:r>
          </a:p>
        </p:txBody>
      </p:sp>
      <p:sp>
        <p:nvSpPr>
          <p:cNvPr id="30" name="TextBox 29"/>
          <p:cNvSpPr txBox="1"/>
          <p:nvPr/>
        </p:nvSpPr>
        <p:spPr>
          <a:xfrm>
            <a:off x="6217920" y="5852160"/>
            <a:ext cx="5029200" cy="384048"/>
          </a:xfrm>
          <a:prstGeom prst="rect">
            <a:avLst/>
          </a:prstGeom>
          <a:noFill/>
        </p:spPr>
        <p:txBody>
          <a:bodyPr wrap="square">
            <a:spAutoFit/>
          </a:bodyPr>
          <a:lstStyle/>
          <a:p>
            <a:pPr algn="l">
              <a:defRPr sz="1700" b="0">
                <a:solidFill>
                  <a:srgbClr val="FFFFFF"/>
                </a:solidFill>
                <a:latin typeface="Segoe UI"/>
              </a:defRPr>
            </a:pPr>
            <a:r>
              <a:t>[DONE] GitHub repository</a:t>
            </a:r>
          </a:p>
        </p:txBody>
      </p:sp>
      <p:sp>
        <p:nvSpPr>
          <p:cNvPr id="31" name="TextBox 30"/>
          <p:cNvSpPr txBox="1"/>
          <p:nvPr/>
        </p:nvSpPr>
        <p:spPr>
          <a:xfrm>
            <a:off x="11247120" y="6400800"/>
            <a:ext cx="731520" cy="274320"/>
          </a:xfrm>
          <a:prstGeom prst="rect">
            <a:avLst/>
          </a:prstGeom>
          <a:noFill/>
        </p:spPr>
        <p:txBody>
          <a:bodyPr wrap="square">
            <a:spAutoFit/>
          </a:bodyPr>
          <a:lstStyle/>
          <a:p>
            <a:pPr algn="r">
              <a:defRPr sz="1000" b="0">
                <a:solidFill>
                  <a:srgbClr val="5A6A7E"/>
                </a:solidFill>
                <a:latin typeface="Segoe U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253D"/>
        </a:solidFill>
        <a:effectLst/>
      </p:bgPr>
    </p:bg>
    <p:spTree>
      <p:nvGrpSpPr>
        <p:cNvPr id="1" name=""/>
        <p:cNvGrpSpPr/>
        <p:nvPr/>
      </p:nvGrpSpPr>
      <p:grpSpPr/>
      <p:sp>
        <p:nvSpPr>
          <p:cNvPr id="2" name="Rectangle 1"/>
          <p:cNvSpPr/>
          <p:nvPr/>
        </p:nvSpPr>
        <p:spPr>
          <a:xfrm>
            <a:off x="0" y="2926080"/>
            <a:ext cx="12188952" cy="54864"/>
          </a:xfrm>
          <a:prstGeom prst="rect">
            <a:avLst/>
          </a:prstGeom>
          <a:solidFill>
            <a:srgbClr val="D953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828800"/>
            <a:ext cx="10058400" cy="914400"/>
          </a:xfrm>
          <a:prstGeom prst="rect">
            <a:avLst/>
          </a:prstGeom>
          <a:noFill/>
        </p:spPr>
        <p:txBody>
          <a:bodyPr wrap="square">
            <a:spAutoFit/>
          </a:bodyPr>
          <a:lstStyle/>
          <a:p>
            <a:pPr algn="ctr">
              <a:defRPr sz="5200" b="1">
                <a:solidFill>
                  <a:srgbClr val="FFFFFF"/>
                </a:solidFill>
                <a:latin typeface="Segoe UI"/>
              </a:defRPr>
            </a:pPr>
            <a:r>
              <a:t>Thank You!</a:t>
            </a:r>
          </a:p>
        </p:txBody>
      </p:sp>
      <p:sp>
        <p:nvSpPr>
          <p:cNvPr id="4" name="TextBox 3"/>
          <p:cNvSpPr txBox="1"/>
          <p:nvPr/>
        </p:nvSpPr>
        <p:spPr>
          <a:xfrm>
            <a:off x="914400" y="3291840"/>
            <a:ext cx="10058400" cy="548640"/>
          </a:xfrm>
          <a:prstGeom prst="rect">
            <a:avLst/>
          </a:prstGeom>
          <a:noFill/>
        </p:spPr>
        <p:txBody>
          <a:bodyPr wrap="square">
            <a:spAutoFit/>
          </a:bodyPr>
          <a:lstStyle/>
          <a:p>
            <a:pPr algn="ctr">
              <a:defRPr sz="2800" b="0">
                <a:solidFill>
                  <a:srgbClr val="D4880F"/>
                </a:solidFill>
                <a:latin typeface="Segoe UI"/>
              </a:defRPr>
            </a:pPr>
            <a:r>
              <a:t>Questions &amp; Discussion</a:t>
            </a:r>
          </a:p>
        </p:txBody>
      </p:sp>
      <p:sp>
        <p:nvSpPr>
          <p:cNvPr id="5" name="TextBox 4"/>
          <p:cNvSpPr txBox="1"/>
          <p:nvPr/>
        </p:nvSpPr>
        <p:spPr>
          <a:xfrm>
            <a:off x="914400" y="4114800"/>
            <a:ext cx="10058400" cy="457200"/>
          </a:xfrm>
          <a:prstGeom prst="rect">
            <a:avLst/>
          </a:prstGeom>
          <a:noFill/>
        </p:spPr>
        <p:txBody>
          <a:bodyPr wrap="square">
            <a:spAutoFit/>
          </a:bodyPr>
          <a:lstStyle/>
          <a:p>
            <a:pPr algn="ctr">
              <a:defRPr sz="1800" b="0">
                <a:solidFill>
                  <a:srgbClr val="5A6A7E"/>
                </a:solidFill>
                <a:latin typeface="Segoe UI"/>
              </a:defRPr>
            </a:pPr>
            <a:r>
              <a:t>Nishanth S.  |  ENEB453  |  University of Maryland</a:t>
            </a:r>
          </a:p>
        </p:txBody>
      </p:sp>
      <p:sp>
        <p:nvSpPr>
          <p:cNvPr id="6" name="TextBox 5"/>
          <p:cNvSpPr txBox="1"/>
          <p:nvPr/>
        </p:nvSpPr>
        <p:spPr>
          <a:xfrm>
            <a:off x="914400" y="4754880"/>
            <a:ext cx="10058400" cy="457200"/>
          </a:xfrm>
          <a:prstGeom prst="rect">
            <a:avLst/>
          </a:prstGeom>
          <a:noFill/>
        </p:spPr>
        <p:txBody>
          <a:bodyPr wrap="square">
            <a:spAutoFit/>
          </a:bodyPr>
          <a:lstStyle/>
          <a:p>
            <a:pPr algn="ctr">
              <a:defRPr sz="1600" b="0">
                <a:solidFill>
                  <a:srgbClr val="2A6CB6"/>
                </a:solidFill>
                <a:latin typeface="Segoe UI"/>
              </a:defRPr>
            </a:pPr>
            <a:r>
              <a:t>GitHub: github.com/Nishanth3424/bfrb-detection-eneb453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