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32918400" cx="43891200"/>
  <p:notesSz cx="20104100" cy="150812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286">
          <p15:clr>
            <a:srgbClr val="A4A3A4"/>
          </p15:clr>
        </p15:guide>
        <p15:guide id="2" pos="4716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in2Zzrx5nTld7FumOqjzhV/lKW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286" orient="horz"/>
        <p:guide pos="4716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8712200" cy="75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1387138" y="0"/>
            <a:ext cx="8712200" cy="75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659563" y="1885950"/>
            <a:ext cx="6784975" cy="5089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2009775" y="7258050"/>
            <a:ext cx="16084550" cy="5938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4325600"/>
            <a:ext cx="8712200" cy="7556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1387138" y="14325600"/>
            <a:ext cx="8712200" cy="7556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6659563" y="1885950"/>
            <a:ext cx="6784975" cy="5089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2009775" y="7258050"/>
            <a:ext cx="16084550" cy="5938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 txBox="1"/>
          <p:nvPr>
            <p:ph idx="12" type="sldNum"/>
          </p:nvPr>
        </p:nvSpPr>
        <p:spPr>
          <a:xfrm>
            <a:off x="11387138" y="14325600"/>
            <a:ext cx="8712200" cy="7556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1115273" y="7513"/>
            <a:ext cx="8141912" cy="1553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19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2194560" y="7571232"/>
            <a:ext cx="395020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1" type="ftr"/>
          </p:nvPr>
        </p:nvSpPr>
        <p:spPr>
          <a:xfrm>
            <a:off x="14532598" y="32021914"/>
            <a:ext cx="14844819" cy="537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92">
                <a:solidFill>
                  <a:srgbClr val="79131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2194561" y="30614113"/>
            <a:ext cx="100949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31601667" y="30614113"/>
            <a:ext cx="100949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3291839" y="10204703"/>
            <a:ext cx="37307522" cy="3107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19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6583680" y="18434304"/>
            <a:ext cx="3072384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1" type="ftr"/>
          </p:nvPr>
        </p:nvSpPr>
        <p:spPr>
          <a:xfrm>
            <a:off x="14532598" y="32021914"/>
            <a:ext cx="14844819" cy="537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92">
                <a:solidFill>
                  <a:srgbClr val="79131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2194561" y="30614113"/>
            <a:ext cx="100949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31601667" y="30614113"/>
            <a:ext cx="100949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1115273" y="7513"/>
            <a:ext cx="8141912" cy="1553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19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2194560" y="7571232"/>
            <a:ext cx="1909267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22603967" y="7571232"/>
            <a:ext cx="1909267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14532598" y="32021914"/>
            <a:ext cx="14844819" cy="537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92">
                <a:solidFill>
                  <a:srgbClr val="79131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2194561" y="30614113"/>
            <a:ext cx="100949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31601667" y="30614113"/>
            <a:ext cx="100949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1115273" y="7513"/>
            <a:ext cx="8141912" cy="1553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19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14532598" y="32021914"/>
            <a:ext cx="14844819" cy="537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92">
                <a:solidFill>
                  <a:srgbClr val="79131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2194561" y="30614113"/>
            <a:ext cx="100949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31601667" y="30614113"/>
            <a:ext cx="100949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idx="11" type="ftr"/>
          </p:nvPr>
        </p:nvSpPr>
        <p:spPr>
          <a:xfrm>
            <a:off x="14532598" y="32021914"/>
            <a:ext cx="14844819" cy="537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92">
                <a:solidFill>
                  <a:srgbClr val="79131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0" type="dt"/>
          </p:nvPr>
        </p:nvSpPr>
        <p:spPr>
          <a:xfrm>
            <a:off x="2194561" y="30614113"/>
            <a:ext cx="100949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31601667" y="30614113"/>
            <a:ext cx="100949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115273" y="7513"/>
            <a:ext cx="8141912" cy="1423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25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2194560" y="7571232"/>
            <a:ext cx="395020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1" type="ftr"/>
          </p:nvPr>
        </p:nvSpPr>
        <p:spPr>
          <a:xfrm>
            <a:off x="14532598" y="32021914"/>
            <a:ext cx="14844819" cy="537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92">
                <a:solidFill>
                  <a:srgbClr val="79131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>
            <p:ph idx="10" type="dt"/>
          </p:nvPr>
        </p:nvSpPr>
        <p:spPr>
          <a:xfrm>
            <a:off x="2194561" y="30614113"/>
            <a:ext cx="100949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31601667" y="30614113"/>
            <a:ext cx="100949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15.png"/><Relationship Id="rId8" Type="http://schemas.openxmlformats.org/officeDocument/2006/relationships/image" Target="../media/image3.png"/><Relationship Id="rId9" Type="http://schemas.openxmlformats.org/officeDocument/2006/relationships/image" Target="../media/image4.png"/><Relationship Id="rId10" Type="http://schemas.openxmlformats.org/officeDocument/2006/relationships/image" Target="../media/image13.png"/><Relationship Id="rId11" Type="http://schemas.openxmlformats.org/officeDocument/2006/relationships/image" Target="../media/image5.png"/><Relationship Id="rId12" Type="http://schemas.openxmlformats.org/officeDocument/2006/relationships/image" Target="../media/image7.png"/><Relationship Id="rId13" Type="http://schemas.openxmlformats.org/officeDocument/2006/relationships/image" Target="../media/image12.png"/><Relationship Id="rId14" Type="http://schemas.openxmlformats.org/officeDocument/2006/relationships/image" Target="../media/image11.png"/><Relationship Id="rId15" Type="http://schemas.openxmlformats.org/officeDocument/2006/relationships/image" Target="../media/image10.png"/><Relationship Id="rId16" Type="http://schemas.openxmlformats.org/officeDocument/2006/relationships/image" Target="../media/image8.png"/><Relationship Id="rId17" Type="http://schemas.openxmlformats.org/officeDocument/2006/relationships/image" Target="../media/image14.png"/><Relationship Id="rId1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0076" y="6078715"/>
            <a:ext cx="10373714" cy="920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1" y="0"/>
            <a:ext cx="43881958" cy="548524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"/>
          <p:cNvSpPr txBox="1"/>
          <p:nvPr>
            <p:ph type="title"/>
          </p:nvPr>
        </p:nvSpPr>
        <p:spPr>
          <a:xfrm>
            <a:off x="1119658" y="159396"/>
            <a:ext cx="25482900" cy="31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2325">
            <a:spAutoFit/>
          </a:bodyPr>
          <a:lstStyle/>
          <a:p>
            <a:pPr indent="0" lvl="0" marL="2772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Real-Time ASL Alphabet to Text Translator and Trainer</a:t>
            </a:r>
            <a:endParaRPr sz="792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4200">
                <a:solidFill>
                  <a:srgbClr val="BBDDEE"/>
                </a:solidFill>
                <a:latin typeface="Arial"/>
                <a:ea typeface="Arial"/>
                <a:cs typeface="Arial"/>
                <a:sym typeface="Arial"/>
              </a:rPr>
              <a:t>Using MediaPipe Hand Tracking and TensorFlow.js Neural Networks</a:t>
            </a:r>
            <a:endParaRPr sz="2079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3000">
                <a:solidFill>
                  <a:srgbClr val="99BBCC"/>
                </a:solidFill>
                <a:latin typeface="Arial"/>
                <a:ea typeface="Arial"/>
                <a:cs typeface="Arial"/>
                <a:sym typeface="Arial"/>
              </a:rPr>
              <a:t>Nishanth S.  |  ENEB408B Capstone Design Lab II  |  University of Maryland  |  Spring 2026</a:t>
            </a:r>
            <a:endParaRPr sz="20790"/>
          </a:p>
        </p:txBody>
      </p:sp>
      <p:sp>
        <p:nvSpPr>
          <p:cNvPr id="51" name="Google Shape;51;p1"/>
          <p:cNvSpPr txBox="1"/>
          <p:nvPr/>
        </p:nvSpPr>
        <p:spPr>
          <a:xfrm>
            <a:off x="1315197" y="6162225"/>
            <a:ext cx="10218593" cy="703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875">
            <a:spAutoFit/>
          </a:bodyPr>
          <a:lstStyle/>
          <a:p>
            <a:pPr indent="0" lvl="0" marL="59236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65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BACKGROUND AND MOTIVATION</a:t>
            </a:r>
            <a:endParaRPr sz="392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293924" y="6066019"/>
            <a:ext cx="10449898" cy="93324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 txBox="1"/>
          <p:nvPr/>
        </p:nvSpPr>
        <p:spPr>
          <a:xfrm>
            <a:off x="32449039" y="6155739"/>
            <a:ext cx="10294780" cy="703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875">
            <a:spAutoFit/>
          </a:bodyPr>
          <a:lstStyle/>
          <a:p>
            <a:pPr indent="0" lvl="0" marL="59236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65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RESULTS AND ANALYSIS</a:t>
            </a:r>
            <a:endParaRPr sz="392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32449039" y="22368558"/>
            <a:ext cx="3332035" cy="1375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875">
            <a:spAutoFit/>
          </a:bodyPr>
          <a:lstStyle/>
          <a:p>
            <a:pPr indent="0" lvl="0" marL="2772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6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Team</a:t>
            </a:r>
            <a:endParaRPr sz="4365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7379" y="17133796"/>
            <a:ext cx="10443549" cy="93274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1302500" y="17223268"/>
            <a:ext cx="8834058" cy="703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875">
            <a:spAutoFit/>
          </a:bodyPr>
          <a:lstStyle/>
          <a:p>
            <a:pPr indent="0" lvl="0" marL="59236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65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 sz="392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2707237" y="26299042"/>
            <a:ext cx="10568958" cy="703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875">
            <a:spAutoFit/>
          </a:bodyPr>
          <a:lstStyle/>
          <a:p>
            <a:pPr indent="0" lvl="0" marL="2772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65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sz="392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1147380" y="7024159"/>
            <a:ext cx="10399442" cy="9660684"/>
          </a:xfrm>
          <a:custGeom>
            <a:rect b="b" l="l" r="r" t="t"/>
            <a:pathLst>
              <a:path extrusionOk="0" h="4425950" w="4764405">
                <a:moveTo>
                  <a:pt x="4764252" y="0"/>
                </a:moveTo>
                <a:lnTo>
                  <a:pt x="0" y="0"/>
                </a:lnTo>
                <a:lnTo>
                  <a:pt x="0" y="4425694"/>
                </a:lnTo>
                <a:lnTo>
                  <a:pt x="4764252" y="4425694"/>
                </a:lnTo>
                <a:lnTo>
                  <a:pt x="4764252" y="0"/>
                </a:lnTo>
                <a:close/>
              </a:path>
            </a:pathLst>
          </a:custGeom>
          <a:solidFill>
            <a:srgbClr val="005DAC">
              <a:alpha val="5882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1147380" y="18066541"/>
            <a:ext cx="10460428" cy="14242259"/>
          </a:xfrm>
          <a:custGeom>
            <a:rect b="b" l="l" r="r" t="t"/>
            <a:pathLst>
              <a:path extrusionOk="0" h="6277609" w="4792345">
                <a:moveTo>
                  <a:pt x="4791884" y="0"/>
                </a:moveTo>
                <a:lnTo>
                  <a:pt x="0" y="0"/>
                </a:lnTo>
                <a:lnTo>
                  <a:pt x="0" y="6277517"/>
                </a:lnTo>
                <a:lnTo>
                  <a:pt x="4791884" y="6277517"/>
                </a:lnTo>
                <a:lnTo>
                  <a:pt x="4791884" y="0"/>
                </a:lnTo>
                <a:close/>
              </a:path>
            </a:pathLst>
          </a:custGeom>
          <a:solidFill>
            <a:srgbClr val="005DAC">
              <a:alpha val="5882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32293922" y="7024160"/>
            <a:ext cx="10450726" cy="12975097"/>
          </a:xfrm>
          <a:custGeom>
            <a:rect b="b" l="l" r="r" t="t"/>
            <a:pathLst>
              <a:path extrusionOk="0" h="6735445" w="4787900">
                <a:moveTo>
                  <a:pt x="4787521" y="0"/>
                </a:moveTo>
                <a:lnTo>
                  <a:pt x="0" y="0"/>
                </a:lnTo>
                <a:lnTo>
                  <a:pt x="0" y="6735373"/>
                </a:lnTo>
                <a:lnTo>
                  <a:pt x="4787521" y="6735373"/>
                </a:lnTo>
                <a:lnTo>
                  <a:pt x="4787521" y="0"/>
                </a:lnTo>
                <a:close/>
              </a:path>
            </a:pathLst>
          </a:custGeom>
          <a:solidFill>
            <a:srgbClr val="005DAC">
              <a:alpha val="5882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12707239" y="6180891"/>
            <a:ext cx="5811657" cy="1375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875">
            <a:spAutoFit/>
          </a:bodyPr>
          <a:lstStyle/>
          <a:p>
            <a:pPr indent="0" lvl="0" marL="2772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6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Technology</a:t>
            </a:r>
            <a:endParaRPr sz="4365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285196" y="1142760"/>
            <a:ext cx="14458623" cy="3914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65150" y="6091414"/>
            <a:ext cx="18773927" cy="920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282597" y="20426900"/>
            <a:ext cx="10449898" cy="93324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"/>
          <p:cNvSpPr/>
          <p:nvPr/>
        </p:nvSpPr>
        <p:spPr>
          <a:xfrm>
            <a:off x="12574588" y="6996650"/>
            <a:ext cx="18764489" cy="25312150"/>
          </a:xfrm>
          <a:custGeom>
            <a:rect b="b" l="l" r="r" t="t"/>
            <a:pathLst>
              <a:path extrusionOk="0" h="4425950" w="4764405">
                <a:moveTo>
                  <a:pt x="4764252" y="0"/>
                </a:moveTo>
                <a:lnTo>
                  <a:pt x="0" y="0"/>
                </a:lnTo>
                <a:lnTo>
                  <a:pt x="0" y="4425694"/>
                </a:lnTo>
                <a:lnTo>
                  <a:pt x="4764252" y="4425694"/>
                </a:lnTo>
                <a:lnTo>
                  <a:pt x="4764252" y="0"/>
                </a:lnTo>
                <a:close/>
              </a:path>
            </a:pathLst>
          </a:custGeom>
          <a:solidFill>
            <a:srgbClr val="005DAC">
              <a:alpha val="5882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12751397" y="6162225"/>
            <a:ext cx="13537603" cy="703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875">
            <a:spAutoFit/>
          </a:bodyPr>
          <a:lstStyle/>
          <a:p>
            <a:pPr indent="0" lvl="0" marL="59236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65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METHODOLOGY AND SYSTEM DESIGN</a:t>
            </a:r>
            <a:endParaRPr sz="392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32282597" y="21474804"/>
            <a:ext cx="10450726" cy="6907096"/>
          </a:xfrm>
          <a:custGeom>
            <a:rect b="b" l="l" r="r" t="t"/>
            <a:pathLst>
              <a:path extrusionOk="0" h="6735445" w="4787900">
                <a:moveTo>
                  <a:pt x="4787521" y="0"/>
                </a:moveTo>
                <a:lnTo>
                  <a:pt x="0" y="0"/>
                </a:lnTo>
                <a:lnTo>
                  <a:pt x="0" y="6735373"/>
                </a:lnTo>
                <a:lnTo>
                  <a:pt x="4787521" y="6735373"/>
                </a:lnTo>
                <a:lnTo>
                  <a:pt x="4787521" y="0"/>
                </a:lnTo>
                <a:close/>
              </a:path>
            </a:pathLst>
          </a:custGeom>
          <a:solidFill>
            <a:srgbClr val="005DAC">
              <a:alpha val="5882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"/>
          <p:cNvSpPr txBox="1"/>
          <p:nvPr/>
        </p:nvSpPr>
        <p:spPr>
          <a:xfrm>
            <a:off x="32437715" y="20541564"/>
            <a:ext cx="10524799" cy="703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1875">
            <a:spAutoFit/>
          </a:bodyPr>
          <a:lstStyle/>
          <a:p>
            <a:pPr indent="0" lvl="0" marL="2772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65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CONCLUSION AND FUTURE WORK</a:t>
            </a:r>
            <a:endParaRPr sz="392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32282597" y="28887831"/>
            <a:ext cx="10450726" cy="3420969"/>
          </a:xfrm>
          <a:custGeom>
            <a:rect b="b" l="l" r="r" t="t"/>
            <a:pathLst>
              <a:path extrusionOk="0" h="6735445" w="4787900">
                <a:moveTo>
                  <a:pt x="4787521" y="0"/>
                </a:moveTo>
                <a:lnTo>
                  <a:pt x="0" y="0"/>
                </a:lnTo>
                <a:lnTo>
                  <a:pt x="0" y="6735373"/>
                </a:lnTo>
                <a:lnTo>
                  <a:pt x="4787521" y="6735373"/>
                </a:lnTo>
                <a:lnTo>
                  <a:pt x="4787521" y="0"/>
                </a:lnTo>
                <a:close/>
              </a:path>
            </a:pathLst>
          </a:custGeom>
          <a:solidFill>
            <a:srgbClr val="005DAC">
              <a:alpha val="5882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References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1330260" y="7161319"/>
            <a:ext cx="10033682" cy="9386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Over 500,000 people in the United States use American Sign Language as their primary language, but most hearing people don't understand it. This creates a real communication gap in everyday situations like classrooms, hospitals, and workplaces.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Existing ASL translation tools are either expensive, require special hardware, or need a server connection. Most people who need a quick translation don't have access to these tools.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ASL fingerspelling is used to spell out names, technical terms, and words that don't have a dedicated sign. It accounts for roughly 35% of ASL communication in educational settings.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A free, browser-based translator that works on any device with a webcam could make ASL communication more accessible to millions of people without any setup or cost.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7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Prior Work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Previous approaches used Convolutional Neural Networks on raw images, requiring large models (50-200MB) and server-side processing with significant latency.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Our approach uses hand landmark extraction (MediaPipe) to reduce the problem from image classification to a lightweight 100-feature vector classification, enabling real-time browser inference.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1330260" y="18203701"/>
            <a:ext cx="10094668" cy="13967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1. Build a real-time ASL fingerspelling translator that runs entirely in the browser with no server, no installation, and no cost</a:t>
            </a:r>
            <a:endParaRPr sz="4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2. Achieve ≥95% classification accuracy across all 26 ASL alphabet letters (A–Z)</a:t>
            </a:r>
            <a:endParaRPr sz="4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3. Maintain real-time performance (≥25 FPS) on standard consumer hardware</a:t>
            </a:r>
            <a:endParaRPr sz="4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4. Handle confusable letter pairs (P/G, U/V, A/S/T, M/N) through engineered features and post-processing</a:t>
            </a:r>
            <a:endParaRPr sz="4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5. Support motion-based letters J and Z through wrist trajectory analysis</a:t>
            </a:r>
            <a:endParaRPr sz="46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46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6. Provide a complete learning experience with Practice, Learn, and Quiz modes</a:t>
            </a:r>
            <a:endParaRPr sz="4600"/>
          </a:p>
        </p:txBody>
      </p:sp>
      <p:sp>
        <p:nvSpPr>
          <p:cNvPr id="72" name="Google Shape;72;p1"/>
          <p:cNvSpPr txBox="1"/>
          <p:nvPr/>
        </p:nvSpPr>
        <p:spPr>
          <a:xfrm>
            <a:off x="12757468" y="7133810"/>
            <a:ext cx="18398729" cy="25037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Technology Stack: HTML/CSS/JS • MediaPipe Hands • TensorFlow.js • No backend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1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The system runs entirely in the browser with zero server dependency. It uses a three-stage pipeline: hand detection, feature extraction, and neural network classification.</a:t>
            </a:r>
            <a:endParaRPr sz="21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Stage 1: Hand Detection (MediaPipe)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Google's MediaPipe Hands detects 21 3D landmarks on the hand in real time at 30+ FPS using WebGL acceleration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Each landmark has x, y, z coordinates relative to the image frame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Runs as a client-side WASM + WebGL module — no server needed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Stage 2: Feature Engineering (100-D Vector)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Raw 63 landmarks are normalized relative to the wrist and scaled by hand size, making the features position- and size-independent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10 pairwise fingertip distances capture finger spread patterns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9 joint angles measure finger curl and bend at each knuckle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5 curl ratios (fingertip-to-wrist / knuckle-to-wrist) per finger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3 palm orientation features via cross-product normal vector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4 thumb-to-fingertip distances separate A/S/T fist variants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4 finger spread angles differentiate U vs V, W vs 3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2 hand direction features distinguish P/Q (pointing down) from G/H (pointing sideways)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StandardScaler normalization ensures all features contribute equally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Stage 3: Neural Network Classification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MLP architecture: 100 → 512 → 256 → 128 → 26 (ReLU activations, Softmax output)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Trained on 59,211 samples from Kaggle ASL Alphabet dataset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Model size: 877 KB — loads in under 1 second in browser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Tens</a:t>
            </a:r>
            <a:endParaRPr sz="2000">
              <a:solidFill>
                <a:srgbClr val="102235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orFlow.js inference: 2-5 ms per prediction using WebGL backend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Post-Processing Intelligence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Adaptive temporal smoothing with entropy-based window sizing (6-20 frames)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Geometric rules resolve confusable pairs: P/G (palm orientation), U/V (finger spread), A/S/T (thumb position)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Motion detection for J and Z using 18-frame wrist trajectory tracking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Auto-space on hand removal enables natural word/sentence building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System Pipeline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Webcam (30 FPS)  →  MediaPipe Hands (21 landmarks)  →  Feature Engineering (100-D vector)  →  StandardScaler  →  MLP Neural Network  →  Post-Processing  →  Letter Output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Neural Network Architecture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Input (100)  →  Dense (512, ReLU)  →  Dense (256, ReLU)  →  Dense (128, ReLU)  →  Output (26, Softmax)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6E93B0"/>
                </a:solidFill>
                <a:latin typeface="Arial"/>
                <a:ea typeface="Arial"/>
                <a:cs typeface="Arial"/>
                <a:sym typeface="Arial"/>
              </a:rPr>
              <a:t>Total parameters: ~500,000  |  Model file: 877 KB  |  Inference: 2-5 ms/frame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100-Dimensional Feature Vector Breakdown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[63]  Normalized 3D landmark coordinates (position/size invariant)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[10]  Pairwise fingertip distances (finger spread patterns)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[9]  Joint angles at each knuckle (finger curl/bend)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[5]  Finger curl ratios (extended vs curled per finger)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[3]  Palm orientation normal vector (resolves P vs G)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[4]  Thumb-to-fingertip distances (resolves A vs S vs T)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[4]  Adjacent finger spread angles (resolves U vs V)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[2]  Hand pointing direction (resolves P/Q vs G/H)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9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sz="21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Quantitative Testing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Evaluated on a held-out test set of 8,882 samples (15% of total data) with stratified split to ensure all letters are represented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Confusion matrix shows strong diagonal with minimal off-diagonal errors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Per-class precision and recall both exceed 0.96 for every letter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Compared against a baseline 63-feature model (no engineered features) which achieved only 92% accuracy — the 100-D features added 7 percentage points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Live User Testing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Tested with 5 users in varied lighting (daylight, fluorescent, dim room)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Webcam distances from 1 to 3 feet all produced reliable detection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Average sentence building speed: 4-6 letters per minute in Careful mode, 8-10 in Normal mode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Practice mode drill completion rates: 95%+ on A-Z sequential drill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Robustness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Works across different skin tones via landmark-based approach (no pixel color dependency)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Handles partial occlusion — MediaPipe still detects landmarks when 1-2 fingers are slightly obscured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Adaptive smoothing prevents false commits during hand transitions between letters</a:t>
            </a:r>
            <a:endParaRPr sz="21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"/>
          <p:cNvSpPr txBox="1"/>
          <p:nvPr/>
        </p:nvSpPr>
        <p:spPr>
          <a:xfrm>
            <a:off x="32476802" y="7161320"/>
            <a:ext cx="10084966" cy="12700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99.0%</a:t>
            </a:r>
            <a:endParaRPr sz="2400"/>
          </a:p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600">
                <a:solidFill>
                  <a:srgbClr val="6E93B0"/>
                </a:solidFill>
                <a:latin typeface="Arial"/>
                <a:ea typeface="Arial"/>
                <a:cs typeface="Arial"/>
                <a:sym typeface="Arial"/>
              </a:rPr>
              <a:t>Test Accuracy on 8,882 Samples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Key Performance Metrics</a:t>
            </a:r>
            <a:endParaRPr sz="2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  Test Accuracy:  99.0% on 8,882 test samples</a:t>
            </a:r>
            <a:endParaRPr sz="24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  Per-Letter F1:  0.96–1.00 across all 26 letters</a:t>
            </a:r>
            <a:endParaRPr sz="24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  Inference Latency:  2–5 ms per frame (real-time at 30 FPS)</a:t>
            </a:r>
            <a:endParaRPr sz="24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  Model Size:  877 KB (loads in &lt; 1 second)</a:t>
            </a:r>
            <a:endParaRPr sz="24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  Training Data:  59,211 landmark samples from Kaggle ASL dataset</a:t>
            </a:r>
            <a:endParaRPr sz="24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Results Highlights</a:t>
            </a:r>
            <a:endParaRPr sz="2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Perfect or near-perfect scores (F1 ≥ 0.99) on 18 of 26 letters</a:t>
            </a:r>
            <a:endParaRPr sz="24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Hardest letters: M (0.96), N (0.97) — visually similar closed-fist signs resolved through thumb-position features</a:t>
            </a:r>
            <a:endParaRPr sz="24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J and Z motion detection works at 95%+ accuracy using wrist trajectory heuristic</a:t>
            </a:r>
            <a:endParaRPr sz="24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Tested across multiple users, lighting conditions, and skin tones</a:t>
            </a:r>
            <a:endParaRPr sz="24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Comparison vs. Prior Approaches</a:t>
            </a:r>
            <a:endParaRPr sz="2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  CNN on raw images:  ~95% accuracy, 50-200MB model, requires server</a:t>
            </a:r>
            <a:endParaRPr sz="24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  Our approach:  99% accuracy, 877KB model, runs in browser</a:t>
            </a:r>
            <a:endParaRPr sz="24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Per-Letter Classification (F1 Scores)</a:t>
            </a:r>
            <a:endParaRPr sz="2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Perfect (1.00): F, G, L, V, Y, Z</a:t>
            </a:r>
            <a:endParaRPr sz="24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Near-perfect (0.99): A, B, D, H, I, J, K, P, Q, R, T, U, W, X</a:t>
            </a:r>
            <a:endParaRPr sz="24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24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Strong (0.96-0.98): C, E, M, N, O, S</a:t>
            </a:r>
            <a:endParaRPr sz="24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No letter below 0.96 F1 score</a:t>
            </a:r>
            <a:endParaRPr sz="2400"/>
          </a:p>
        </p:txBody>
      </p:sp>
      <p:sp>
        <p:nvSpPr>
          <p:cNvPr id="74" name="Google Shape;74;p1"/>
          <p:cNvSpPr txBox="1"/>
          <p:nvPr/>
        </p:nvSpPr>
        <p:spPr>
          <a:xfrm>
            <a:off x="32465477" y="21611964"/>
            <a:ext cx="10084966" cy="6449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Key Achievements</a:t>
            </a:r>
            <a:endParaRPr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Successfully built a real-time ASL fingerspelling translator achieving 99.0% accuracy, running entirely in the browser with no server dependency</a:t>
            </a:r>
            <a:endParaRPr sz="17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The 100-dimensional engineered feature vector and adaptive post-processing solve the key challenges of hand-shape ambiguity and temporal noise</a:t>
            </a:r>
            <a:endParaRPr sz="17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The complete web application includes Recognize, Practice, and Learn modes, making it both a translation tool and an educational platform</a:t>
            </a:r>
            <a:endParaRPr sz="17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Future Directions</a:t>
            </a:r>
            <a:endParaRPr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Expand to full ASL sign recognition (250+ signs) using LSTM sequence models on two-hand landmark data</a:t>
            </a:r>
            <a:endParaRPr sz="17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Add facial expression analysis for ASL grammar (questions, emphasis)</a:t>
            </a:r>
            <a:endParaRPr sz="17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Integrate text-to-sign animation for bidirectional communication</a:t>
            </a:r>
            <a:endParaRPr sz="17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• Deploy as a Progressive Web App for offline mobile use</a:t>
            </a:r>
            <a:endParaRPr sz="17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0223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0E7490"/>
                </a:solidFill>
                <a:latin typeface="Arial"/>
                <a:ea typeface="Arial"/>
                <a:cs typeface="Arial"/>
                <a:sym typeface="Arial"/>
              </a:rPr>
              <a:t>The Team</a:t>
            </a:r>
            <a:endParaRPr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Nishanth S.</a:t>
            </a:r>
            <a:endParaRPr sz="17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Program: Cyber-Physical Systems Engineering</a:t>
            </a:r>
            <a:endParaRPr sz="17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Advisor: Prof. Jerry Wu</a:t>
            </a:r>
            <a:endParaRPr sz="17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University of Maryland</a:t>
            </a:r>
            <a:endParaRPr sz="17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102235"/>
                </a:solidFill>
                <a:latin typeface="Arial"/>
                <a:ea typeface="Arial"/>
                <a:cs typeface="Arial"/>
                <a:sym typeface="Arial"/>
              </a:rPr>
              <a:t>Spring 2026</a:t>
            </a:r>
            <a:endParaRPr sz="1700"/>
          </a:p>
        </p:txBody>
      </p:sp>
      <p:sp>
        <p:nvSpPr>
          <p:cNvPr id="75" name="Google Shape;75;p1"/>
          <p:cNvSpPr txBox="1"/>
          <p:nvPr/>
        </p:nvSpPr>
        <p:spPr>
          <a:xfrm>
            <a:off x="32465477" y="29436471"/>
            <a:ext cx="10084966" cy="3146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6E93B0"/>
                </a:solidFill>
                <a:latin typeface="Arial"/>
                <a:ea typeface="Arial"/>
                <a:cs typeface="Arial"/>
                <a:sym typeface="Arial"/>
              </a:rPr>
              <a:t>[1] Zhang, F. et al. "MediaPipe Hands: On-device Real-time Hand Tracking." Google Research, 2020.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6E93B0"/>
                </a:solidFill>
                <a:latin typeface="Arial"/>
                <a:ea typeface="Arial"/>
                <a:cs typeface="Arial"/>
                <a:sym typeface="Arial"/>
              </a:rPr>
              <a:t>[2] Kaggle ASL Alphabet Dataset. kaggle.com/datasets/grassknoted/asl-alphabet. 87,000+ labeled images.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6E93B0"/>
                </a:solidFill>
                <a:latin typeface="Arial"/>
                <a:ea typeface="Arial"/>
                <a:cs typeface="Arial"/>
                <a:sym typeface="Arial"/>
              </a:rPr>
              <a:t>[3] Abadi, M. et al. "TensorFlow: A System for Large-Scale Machine Learning." OSDI, 2016.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6E93B0"/>
                </a:solidFill>
                <a:latin typeface="Arial"/>
                <a:ea typeface="Arial"/>
                <a:cs typeface="Arial"/>
                <a:sym typeface="Arial"/>
              </a:rPr>
              <a:t>[4] Rastgoo, R. et al. "Sign Language Recognition: A Deep Survey." Expert Systems with Applications, 2021.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6E93B0"/>
                </a:solidFill>
                <a:latin typeface="Arial"/>
                <a:ea typeface="Arial"/>
                <a:cs typeface="Arial"/>
                <a:sym typeface="Arial"/>
              </a:rPr>
              <a:t>[5] Koller, O. "Quantitative Survey of the State of the Art in Sign Language Recognition." arXiv, 2020.</a:t>
            </a:r>
            <a:endParaRPr sz="21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6E93B0"/>
                </a:solidFill>
                <a:latin typeface="Arial"/>
                <a:ea typeface="Arial"/>
                <a:cs typeface="Arial"/>
                <a:sym typeface="Arial"/>
              </a:rPr>
              <a:t>[6] Smilkov, D. et al. "TensorFlow.js: Machine Learning for the Web and Beyond." MLSys, 2019.</a:t>
            </a:r>
            <a:endParaRPr sz="2100"/>
          </a:p>
        </p:txBody>
      </p:sp>
      <p:pic>
        <p:nvPicPr>
          <p:cNvPr id="76" name="Google Shape;76;p1" title="adobe-express-qr-cod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862000" y="22860000"/>
            <a:ext cx="320040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735519" y="15087600"/>
            <a:ext cx="96012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463040" y="28163520"/>
            <a:ext cx="9601200" cy="3840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463040" y="23317200"/>
            <a:ext cx="96012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3258800" y="26974800"/>
            <a:ext cx="17373600" cy="502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 title="Alphabet-ASL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828800" y="12801600"/>
            <a:ext cx="8686800" cy="3474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2025-08-11T20:34:45Z</dcterms:created>
  <dc:creator>Nestor Michael C. Tiglao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2025-07-28T00:00:00Z</vt:filetime>
  </property>
  <property fmtid="{D5CDD505-2E9C-101B-9397-08002B2CF9AE}" pid="3" name="Creator">
    <vt:lpwstr>Adobe InDesign 20.4 (Macintosh)</vt:lpwstr>
  </property>
  <property fmtid="{D5CDD505-2E9C-101B-9397-08002B2CF9AE}" pid="4" name="LastSaved">
    <vt:filetime>2025-07-28T00:00:00Z</vt:filetime>
  </property>
  <property fmtid="{D5CDD505-2E9C-101B-9397-08002B2CF9AE}" pid="5" name="Producer">
    <vt:lpwstr>Adobe PDF Library 17.0</vt:lpwstr>
  </property>
</Properties>
</file>