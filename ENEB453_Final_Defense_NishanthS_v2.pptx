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everyone, and thank you for being here. My name is Nishanth, and today I will be presenting my ENEB453 final project: a real-time Body-Focused Repetitive Behavior detection system.</a:t>
            </a:r>
          </a:p>
          <a:p/>
          <a:p>
            <a:r>
              <a:t>BFRBs — which stands for Body-Focused Repetitive Behaviors — are compulsive self-grooming actions such as hair pulling, nail biting, and skin picking that affect roughly two to five percent of the general population. That is millions of people worldwide.</a:t>
            </a:r>
          </a:p>
          <a:p/>
          <a:p>
            <a:r>
              <a:t>What makes these behaviors especially difficult to manage is that most people are completely unaware they are doing them. My system addresses this by using a standard webcam, computer vision through Google's MediaPipe library, and a machine learning classifier to detect these behaviors in real time and alert the user immediately.</a:t>
            </a:r>
          </a:p>
          <a:p/>
          <a:p>
            <a:r>
              <a:t>Over the next 25 minutes I will walk you through the full architecture, the database design, the machine learning pipeline, the detection engine, and then give a live demonstration of the working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agenda for today. We will start with the problem statement — what BFRBs are and why detecting them matters clinically. Then I will walk through the full system architecture including the tech stack and design decisions I made along the way.</a:t>
            </a:r>
          </a:p>
          <a:p/>
          <a:p>
            <a:r>
              <a:t>Next, we will cover the database design — I have nine tables in Third Normal Form with proper foreign keys and constraints. After that, I will show you the backend implementation with over twenty Flask API endpoints covering authentication, sessions, detections, and analytics.</a:t>
            </a:r>
          </a:p>
          <a:p/>
          <a:p>
            <a:r>
              <a:t>Then comes the ML pipeline — how I trained a Random Forest classifier on Kaggle sensor data and deployed it for camera-based detection. We will look at the frontend dashboard, the authentication and onboarding system, and several advanced features including adaptive calibration, bout detection, pilot study mode, and Progressive Web App support.</a:t>
            </a:r>
          </a:p>
          <a:p/>
          <a:p>
            <a:r>
              <a:t>I will then do a live demonstration of the entire application — creating an account, going through onboarding, starting a detection session, and showing the analytics. We will wrap up with results, challenges, and future work, followed by Q and A. The whole presentation should take about 25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problem. Body-Focused Repetitive Behaviors, or BFRBs, are a class of compulsive self-grooming actions. The most common ones are trichotillomania — which is hair pulling — onychophagia, which is nail biting, and excoriation, which is skin picking. Other types include face touching, cheek biting, lip biting, nose picking, and eyelash pulling.</a:t>
            </a:r>
          </a:p>
          <a:p/>
          <a:p>
            <a:r>
              <a:t>These behaviors affect between two and five percent of the general population. To put that in perspective, that is roughly 15 to 40 million people in the United States alone. The key clinical challenge is that most people are completely unaware when they are engaging in these behaviors. You might be pulling your hair or biting your nails during a lecture and not realize it until you see the damage afterwards.</a:t>
            </a:r>
          </a:p>
          <a:p/>
          <a:p>
            <a:r>
              <a:t>Current approaches include rubber band snapping on the wrist, manual journaling, and therapy sessions — but none of these provide real-time awareness during the actual behavior.</a:t>
            </a:r>
          </a:p>
          <a:p/>
          <a:p>
            <a:r>
              <a:t>My solution is a web-based system that uses your laptop or desktop webcam to track your face and hands in real time using computer vision. When it detects that your hand is near your face in a pattern consistent with a BFRB — and sustains that contact for a sufficient duration — it alerts you immediately with a visual notification. Over time, it tracks your patterns so you and your therapist can identify trends and triggers.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walk you through the system architecture. The application has two main layers: the frontend running in the browser, and the backend running on a Python Flask server.</a:t>
            </a:r>
          </a:p>
          <a:p/>
          <a:p>
            <a:r>
              <a:t>On the frontend side, I use plain HTML5, CSS3, and vanilla JavaScript — no React or Angular, keeping dependencies minimal. The computer vision runs entirely in the browser using Google's MediaPipe Holistic library, which gives me 468 face landmarks and 21 hand landmarks per hand, per frame, in real time. This is important for privacy — the video feed never leaves the user's device. All landmark extraction happens client-side.</a:t>
            </a:r>
          </a:p>
          <a:p/>
          <a:p>
            <a:r>
              <a:t>I use Chart.js for the statistical dashboard with four different chart types: daily detection trends, per-type distribution, session timeline, and accuracy tracking. Socket.IO provides a persistent WebSocket connection for low-latency ML predictions. And the entire app is a Progressive Web App, meaning it has a manifest, a service worker, and can be installed on the desktop.</a:t>
            </a:r>
          </a:p>
          <a:p/>
          <a:p>
            <a:r>
              <a:t>On the backend, I use Python 3.11 with Flask 2.3 as the web framework. SQLite is the embedded database — zero configuration, no Docker needed. Flask-SocketIO handles the WebSocket layer for real-time ML inference, and scikit-learn provides the Random Forest classifier.</a:t>
            </a:r>
          </a:p>
          <a:p/>
          <a:p>
            <a:r>
              <a:t>The ML pipeline was trained on the Kaggle CMI 'Detect Behavior with Sensor Data' dataset — 574,945 readings from 80 participants wearing wrist sensors across 8,151 labeled sequences. I extract 16 semantic features that bridge the gap between wrist sensor measurements and camera-derived landmarks, and use late multimodal fusion to combine the ML classifier output with the rule-based detection engine.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is designed in Third Normal Form — 3NF — which means every non-key attribute depends on the key, the whole key, and nothing but the key. There are no transitive dependencies and no repeating groups.</a:t>
            </a:r>
          </a:p>
          <a:p/>
          <a:p>
            <a:r>
              <a:t>I have nine tables total. The users table stores accounts with SHA-256 salted password hashes — I never store plaintext passwords. The onboarding_responses table stores the personalization questionnaire answers, linked by a foreign key to the users table.</a:t>
            </a:r>
          </a:p>
          <a:p/>
          <a:p>
            <a:r>
              <a:t>The bfrb_types table is seeded with eight standard BFRB categories but is extensible — users can add custom types. Sessions tracks each detection session with start and end timestamps. Detections stores every individual BFRB event with its confidence score, ML score, fused score, and the zone where the touch was detected.</a:t>
            </a:r>
          </a:p>
          <a:p/>
          <a:p>
            <a:r>
              <a:t>Calibrations stores the per-session adaptive thresholds computed during the calibration wizard. User_feedback captures yes or no responses on each detection — this is used for accuracy tracking. Pilot_trials supports structured ground-truth collection for research. And telemetry stores per-frame IEEE-grade logs for full reproducibility.</a:t>
            </a:r>
          </a:p>
          <a:p/>
          <a:p>
            <a:r>
              <a:t>I chose SQLite for the embedded database because it requires zero configuration — no separate database server, no Docker. The database file is created automatically on first run. I also provide a MySQL reference schema in the database directory for anyone who wants to deploy to production with a full RDBMS. WAL journaling is enabled for concurrent read and write safety.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exposes over twenty RESTful API endpoints organized into six categories. All endpoints follow standard HTTP method conventions — POST for creation, GET for retrieval, PUT for updates — and return consistent JSON responses with proper HTTP status codes.</a:t>
            </a:r>
          </a:p>
          <a:p/>
          <a:p>
            <a:r>
              <a:t>Authentication has four endpoints: register creates a new account with password hashing, login validates credentials and creates a Flask session, logout destroys the session, and the me endpoint returns the currently logged-in user's profile.</a:t>
            </a:r>
          </a:p>
          <a:p/>
          <a:p>
            <a:r>
              <a:t>Session management lets users start a detection session with POST, end it with PUT, and list all their sessions with GET. Each session tracks total detections, duration, and the BFRB types that were monitored.</a:t>
            </a:r>
          </a:p>
          <a:p/>
          <a:p>
            <a:r>
              <a:t>The detection and feedback endpoints log individual BFRB events and capture user confirmation — did you actually just bite your nails, yes or no? This feedback loop is critical for measuring real-world accuracy.</a:t>
            </a:r>
          </a:p>
          <a:p/>
          <a:p>
            <a:r>
              <a:t>For ML inference, there are two pathways: a standard HTTP POST endpoint at /api/predict, and a WebSocket event called predict_frame. The WebSocket path is preferred because it avoids HTTP overhead and delivers predictions with about 5 to 15 milliseconds of round-trip latency. The calibrate endpoint saves adaptive threshold parameters.</a:t>
            </a:r>
          </a:p>
          <a:p/>
          <a:p>
            <a:r>
              <a:t>Analytics endpoints provide lifetime statistics, daily detection counts, trend analysis, and bout aggregation. The research endpoints support pilot studies with structured ground-truth collection and CSV export for offline analysis in tools like Excel or 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technically interesting parts of the project — the machine learning pipeline.</a:t>
            </a:r>
          </a:p>
          <a:p/>
          <a:p>
            <a:r>
              <a:t>The training data comes from the Kaggle CMI competition called 'Detect Behavior with Sensor Data.' This dataset has 80 participants wearing wrist sensors — accelerometers, gyroscopes, thermopiles, and time-of-flight sensors — performing 18 different gesture types, including 8 that are BFRB-like behaviors and 10 normal control gestures.</a:t>
            </a:r>
          </a:p>
          <a:p/>
          <a:p>
            <a:r>
              <a:t>Now here is the key challenge: the training data is from wrist sensors, but my system uses a camera. So I designed 16 semantic features that bridge these two modalities. For example, the accelerometer readings from the wrist sensor correspond to the wrist velocity I can compute from hand landmarks — mean velocity, standard deviation, and max velocity. The gyroscope readings map to palm rotation dynamics that I derive from the orientation of the hand landmarks. The thermopile — which measures infrared heat — corresponds to the hand-face overlap fraction I compute geometrically. And the time-of-flight sensor measurements map to five anatomical distances I calculate between the fingertip and face zones: nose, mouth, cheek, forehead, and chin.</a:t>
            </a:r>
          </a:p>
          <a:p/>
          <a:p>
            <a:r>
              <a:t>The model itself is a Random Forest with 200 decision trees, evaluated using 5-fold cross-validation with Macro F1 as the metric. I use MinMaxScaler to normalize all features to the 0-to-1 range.</a:t>
            </a:r>
          </a:p>
          <a:p/>
          <a:p>
            <a:r>
              <a:t>Finally, I use late multimodal fusion to combine the ML classifier output with the rule-based detection score. The formula is: fused score equals 0.6 times the ML score plus 0.4 times the rule-based score. This way, both systems have to agree before a detection is triggered, which significantly reduces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detection pipeline has nine stages that run every single frame — about 25 to 30 times per second.</a:t>
            </a:r>
          </a:p>
          <a:p/>
          <a:p>
            <a:r>
              <a:t>Stage one is the One Euro Filter, an adaptive low-pass filter that smooths the raw landmark positions. Without this, small jittery movements in the webcam feed would cause noisy detections. The filter adapts its cutoff frequency based on the speed of movement — slow movements get heavy smoothing, fast movements pass through quickly.</a:t>
            </a:r>
          </a:p>
          <a:p/>
          <a:p>
            <a:r>
              <a:t>Stage two is multi-zone face detection. I divide the face into 13 anatomical regions — forehead, left temple, right temple, left eye, right eye, nose bridge, nose tip, left cheek, right cheek, upper lip, lower lip, chin, and jawline. Each zone is defined by a cluster of MediaPipe face landmark indices with a computed centroid.</a:t>
            </a:r>
          </a:p>
          <a:p/>
          <a:p>
            <a:r>
              <a:t>Stage three classifies the hand pose: is it a pinch grip, a fist, pointing, open hand, or curled fingers? This matters because a pinch grip near the hairline strongly suggests hair pulling, while an open palm near the mouth is more likely eating.</a:t>
            </a:r>
          </a:p>
          <a:p/>
          <a:p>
            <a:r>
              <a:t>Stage four is the 4-state rule engine — a state machine that transitions through IDLE, PROXIMITY, DWELL, and BFRB. The hand must first enter the proximity zone, then dwell there for 1.2 seconds, and then sustain contact for another 2.5 seconds before a BFRB is triggered. This prevents momentary face touches from causing false alarms.</a:t>
            </a:r>
          </a:p>
          <a:p/>
          <a:p>
            <a:r>
              <a:t>Stage five computes a multi-signal BFRB score from 11 weighted factors including proximity, dwell time, finger curl, velocity, and more. Stage six sends 16 features to the server-side Random Forest for ML classification. Stage seven fuses the ML and rule scores. Stage eight applies the adaptive threshold from calibration. And stage nine logs everything to the telemetry table for reproducibility.</a:t>
            </a:r>
          </a:p>
          <a:p/>
          <a:p>
            <a:r>
              <a:t>I also have false positive filters for eating — detected by mouth wide open plus hand near mouth plus open palm — and for resting, which is a static hand with an open palm and no recent BFRB history. These are NOT BFRBs even though the hand is near the face.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is a single-page application with a clean, professional design. I deliberately chose a white background with dark navy blue accents rather than a flashy dark AI-looking theme. This is a health and wellness tool — it needs to feel trustworthy and calm, not like a sci-fi dashboard.</a:t>
            </a:r>
          </a:p>
          <a:p/>
          <a:p>
            <a:r>
              <a:t>The interface has three main views, all navigated by tabs at the top. The Dashboard view shows the live webcam feed with landmark overlays drawn in real time, detection controls, the BFRB type selector where you can choose which behaviors to monitor, and real-time signal indicators showing the current state of the detection engine.</a:t>
            </a:r>
          </a:p>
          <a:p/>
          <a:p>
            <a:r>
              <a:t>The Session HUD view has four charts: a line chart of daily detection counts, a doughnut chart showing the distribution of BFRB types, a timeline scatter plot of individual detections within the current session, and an accuracy chart based on user feedback.</a:t>
            </a:r>
          </a:p>
          <a:p/>
          <a:p>
            <a:r>
              <a:t>The History view shows a table of all past sessions with statistics like total detections, session duration, and which types were detected.</a:t>
            </a:r>
          </a:p>
          <a:p/>
          <a:p>
            <a:r>
              <a:t>Interactive elements include the BFRB type selector with multi-select chips for eight types, detection notification cards with yes and no feedback buttons, the calibration wizard which walks you through a two-step process, the pilot study modal for structured research data collection, and CSV export for downloading session data.</a:t>
            </a:r>
          </a:p>
          <a:p/>
          <a:p>
            <a:r>
              <a:t>The authentication system includes a sign-up and sign-in page, and first-time users go through a six-question onboarding questionnaire that personalizes which BFRB types are monitored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was a priority even though this is an academic project. Passwords are never stored in plaintext. When a user registers, I generate a random 16-byte salt, concatenate it with the password, and hash the result using SHA-256. Both the salt and the hash are stored in the database. During login, I regenerate the hash from the submitted password and the stored salt, then compare. This is the same approach used in production systems.</a:t>
            </a:r>
          </a:p>
          <a:p/>
          <a:p>
            <a:r>
              <a:t>Authentication is session-based using Flask's built-in session management. I wrote a login_required decorator that protects all API endpoints — if you are not logged in, you get redirected to the login page. Users can log in with either their username or email address.</a:t>
            </a:r>
          </a:p>
          <a:p/>
          <a:p>
            <a:r>
              <a:t>When a new user logs in for the first time, they see an onboarding questionnaire overlay with six questions. The first asks which BFRBs they experience — this is a multi-select with clickable chips for all eight types. The second asks how frequently these behaviors occur, from rarely to constantly. The third asks about triggers — stress, boredom, anxiety, focus, fatigue, and others.</a:t>
            </a:r>
          </a:p>
          <a:p/>
          <a:p>
            <a:r>
              <a:t>The fourth question asks about their primary goal: is it awareness, reduction, tracking, research, or clinical use? The fifth asks about alert preferences — visual only, visual plus sound, gentle, or silent. And the sixth is an optional free-text field for additional notes.</a:t>
            </a:r>
          </a:p>
          <a:p/>
          <a:p>
            <a:r>
              <a:t>All responses are saved to the onboarding_responses table and used to pre-select the user's reported BFRB types in the detector, so the system is personalized from the very first session. Users can skip the onboarding if they prefer and set things up manually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 advanced features that take this project beyond a basic detection system.</a:t>
            </a:r>
          </a:p>
          <a:p/>
          <a:p>
            <a:r>
              <a:t>First, adaptive threshold calibration. Different users sit at different distances from their camera, and different people have different face sizes. A fixed proximity threshold would not work for everyone. So I built a two-step calibration wizard. In step one, you sit normally and hold still — the system measures your baseline hand-to-face distance. In step two, you touch your face — the system measures the touch distance. The adaptive threshold is then computed as: threshold equals the touch distance plus alpha times the difference between baseline and touch, where alpha is 0.3. This normalizes the detection for each individual user and camera setup.</a:t>
            </a:r>
          </a:p>
          <a:p/>
          <a:p>
            <a:r>
              <a:t>Second, bout detection. In clinical BFRB research, individual detections are less meaningful than 'bouts' — sustained episodes of repetitive behavior. My system groups consecutive detections that occur within a 5-second gap into a single bout, and aggregates them per BFRB type. This gives clinicians a more meaningful metric.</a:t>
            </a:r>
          </a:p>
          <a:p/>
          <a:p>
            <a:r>
              <a:t>Third, pilot study mode. This is a structured data collection interface for ground-truth validation. You specify a participant ID, a gesture type, and a duration, and the system records exactly what happened during that window. It then computes precision, recall, and F1 score for that trial.</a:t>
            </a:r>
          </a:p>
          <a:p/>
          <a:p>
            <a:r>
              <a:t>Fourth, WebSocket real-time inference. Instead of making an HTTP POST request for every frame, the client sends landmark data over a persistent Socket.IO connection. The server runs the Random Forest classifier and sends back the prediction — all within about 5 to 15 milliseconds. The client throttles to one prediction every 250 milliseconds to avoid overloading the server.</a:t>
            </a:r>
          </a:p>
          <a:p/>
          <a:p>
            <a:r>
              <a:t>And finally, the app is a Progressive Web App with a manifest file and a service worker that caches the app shell for offline 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am going to do a live demonstration. Let me switch to the browser.</a:t>
            </a:r>
          </a:p>
          <a:p/>
          <a:p>
            <a:r>
              <a:t>Step one — I will open the login page. You can see the clean white and dark blue design. I will create a brand new account right now with a username, email, full name, and password.</a:t>
            </a:r>
          </a:p>
          <a:p/>
          <a:p>
            <a:r>
              <a:t>Step two — after account creation and login, the onboarding questionnaire appears. I will select a few BFRB types — let us say hair pulling and nail biting — set the frequency, choose some triggers, pick my goal, and set alert preferences. Then I will submit.</a:t>
            </a:r>
          </a:p>
          <a:p/>
          <a:p>
            <a:r>
              <a:t>Step three — now we are on the main dashboard. Notice the professional white and navy theme. The webcam feed is on the left, detection controls on the right. The BFRB types I selected during onboarding are already pre-checked.</a:t>
            </a:r>
          </a:p>
          <a:p/>
          <a:p>
            <a:r>
              <a:t>Step four — I will click Start Session. The camera activates and MediaPipe starts loading. You should see green face landmarks and blue hand landmarks appearing on the video feed.</a:t>
            </a:r>
          </a:p>
          <a:p/>
          <a:p>
            <a:r>
              <a:t>Step five — now I will bring my hand near my face to demonstrate detection. Watch the state indicator — it should go from IDLE to PROXIMITY as my hand approaches, then to DWELL after about 1.2 seconds of sustained contact, and finally to BFRB after about 2.5 seconds total. A notification card will appear.</a:t>
            </a:r>
          </a:p>
          <a:p/>
          <a:p>
            <a:r>
              <a:t>Step six — I will respond to the notification with yes or no feedback. Step seven — let me run the calibration wizard. Step eight — switching to the Session HUD tab to show the charts. Step nine — the History tab shows past sessions. Step ten — I will export a CSV. Step eleven — stop the session. Step twelve — sign out.</a:t>
            </a:r>
          </a:p>
          <a:p/>
          <a:p>
            <a:r>
              <a:t>Let me go ahead and do this now.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project is hosted on GitHub as a public repository. You can clone it and run it locally on any machine with Python 3.11 installed.</a:t>
            </a:r>
          </a:p>
          <a:p/>
          <a:p>
            <a:r>
              <a:t>Let me walk through the project structure. The main application code lives in the bfrb_web_app directory. The app.py file is the Flask backend — over 1,300 lines of Python covering all the API endpoints, database initialization, ML inference, and WebSocket handling.</a:t>
            </a:r>
          </a:p>
          <a:p/>
          <a:p>
            <a:r>
              <a:t>The templates directory contains two HTML files: index.html is the main web app at over 3,300 lines — it contains all the frontend JavaScript, CSS, and HTML in a single file for simplicity. Login.html is the authentication page.</a:t>
            </a:r>
          </a:p>
          <a:p/>
          <a:p>
            <a:r>
              <a:t>The model directory contains the trained Random Forest pickle file, the MinMaxScaler pickle, and a feature metadata JSON file that documents exactly which 16 features the model expects.</a:t>
            </a:r>
          </a:p>
          <a:p/>
          <a:p>
            <a:r>
              <a:t>The static directory has the PWA manifest, the service worker, and app icons. The database directory contains the MySQL reference schema, seed data with sample records, and demo SQL queries. The erd directory has an interactive entity-relationship diagram as an HTML file. And the wireframe directory has the original UI mockup.</a:t>
            </a:r>
          </a:p>
          <a:p/>
          <a:p>
            <a:r>
              <a:t>To run the project, you just need three commands: clone the repo, pip install the requirements, and python app.py. It starts on localhost port 5000. No Docker, no database server setup, no environment variables to configure. SQLite creates the database file automatically on first run.</a:t>
            </a:r>
          </a:p>
          <a:p/>
          <a:p>
            <a:r>
              <a:t>In total, the project is approximately 4,800 lines of code across Python, HTML, CSS, and JavaScript.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share the key results and performance metrics.</a:t>
            </a:r>
          </a:p>
          <a:p/>
          <a:p>
            <a:r>
              <a:t>The Random Forest ML model achieves 77 percent accuracy under 5-fold cross-validation on the Kaggle CMI dataset. I use Macro F1 as the primary evaluation metric because the dataset has class imbalance — about 64 percent of the labeled sequences are BFRB behaviors and 36 percent are non-BFRB controls. Macro F1 gives equal weight to each class regardless of size, so it is a fairer measure than raw accuracy.</a:t>
            </a:r>
          </a:p>
          <a:p/>
          <a:p>
            <a:r>
              <a:t>Now, 77 percent might seem moderate, but consider the context: I am training on wrist sensor data and deploying on camera-derived features. This cross-modal domain transfer is inherently lossy. The fact that the semantic feature mapping preserves enough signal to achieve 77 percent is actually quite strong.</a:t>
            </a:r>
          </a:p>
          <a:p/>
          <a:p>
            <a:r>
              <a:t>For real-time performance, MediaPipe Holistic runs at 25 to 30 frames per second in the browser, which is smooth enough for continuous monitoring. The ML inference on the server side takes less than 10 milliseconds per prediction — Random Forests are very fast at inference time. And the WebSocket round-trip latency is about 5 to 15 milliseconds, so the user gets near-instant predictions.</a:t>
            </a:r>
          </a:p>
          <a:p/>
          <a:p>
            <a:r>
              <a:t>The system supports all eight standard BFRB types plus custom types, detects across 13 anatomical face zones, filters out false positives from eating and resting, and adapts to each user through calibration.</a:t>
            </a:r>
          </a:p>
          <a:p/>
          <a:p>
            <a:r>
              <a:t>From a code coverage perspective, there are over 20 API endpoints and 9 database tables, all properly normalized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transparent about the challenges I faced and how I solved them.</a:t>
            </a:r>
          </a:p>
          <a:p/>
          <a:p>
            <a:r>
              <a:t>The biggest challenge was the sensor-to-camera domain gap. The Kaggle training data comes from wrist-worn sensors — accelerometers, gyroscopes, thermopiles, and time-of-flight sensors. But my system uses a webcam. These are fundamentally different measurement modalities. My solution was to design 16 semantic features that capture the same physical quantities — velocity, rotation, proximity, distance — from camera landmarks instead of sensor readings. This semantic mapping is what makes the cross-modal transfer possible.</a:t>
            </a:r>
          </a:p>
          <a:p/>
          <a:p>
            <a:r>
              <a:t>The second challenge was false positives. Eating lunch, resting your chin on your hand, and scratching an itch all involve your hand near your face — but they are not BFRBs. I addressed this with multiple layers: a multi-signal scoring system that requires several indicators to agree, specific eating and resting filters that check for open palms and mouth position, and dwell timers that require sustained contact for at least 2.5 seconds before triggering.</a:t>
            </a:r>
          </a:p>
          <a:p/>
          <a:p>
            <a:r>
              <a:t>The third challenge was handling different user distances from the camera. If you sit two feet away versus four feet away, the raw landmark distances are completely different. The adaptive calibration wizard normalizes everything relative to your specific face width and camera distance.</a:t>
            </a:r>
          </a:p>
          <a:p/>
          <a:p>
            <a:r>
              <a:t>The fourth challenge was real-time performance. Running MediaPipe landmark extraction plus ML inference plus UI rendering at over 20 FPS requires careful optimization. The One Euro filter reduces noise without adding latency, the sliding window batches features efficiently, and the WebSocket transport eliminates HTTP overhead.</a:t>
            </a:r>
          </a:p>
          <a:p/>
          <a:p>
            <a:r>
              <a:t>The fifth challenge was making a technical ML system accessible to non-technical users. The onboarding questionnaire, clean professional UI, and step-by-step calibration wizard all address this.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there are several directions this project could go.</a:t>
            </a:r>
          </a:p>
          <a:p/>
          <a:p>
            <a:r>
              <a:t>In the short term, the most impactful improvement would be fine-tuning the ML model on camera-derived features — collecting labeled webcam data from real BFRB sessions and retraining. This would close the domain gap between sensor and camera and likely push accuracy above 85 percent. I would also add multi-user support with role-based access, so a therapist could view their patients' data, and optimize the layout for mobile devices.</a:t>
            </a:r>
          </a:p>
          <a:p/>
          <a:p>
            <a:r>
              <a:t>For research extensions, federated learning would allow the model to improve across many users without any raw video data leaving their devices — critical for healthcare privacy. CORAL domain adaptation is a technique that aligns the statistical distributions of sensor features and camera features, which could further improve the cross-modal transfer. And longitudinal studies tracking behavior patterns over weeks or months would provide valuable clinical insights.</a:t>
            </a:r>
          </a:p>
          <a:p/>
          <a:p>
            <a:r>
              <a:t>For clinical integration, a therapist-facing dashboard would let clinicians monitor patient BFRB trends remotely between sessions. Integration with Cognitive Behavioral Therapy protocols could provide structured habit reversal training guided by the detection data. And context-aware smart notifications could adjust alert behavior based on time of day or user activity.</a:t>
            </a:r>
          </a:p>
          <a:p/>
          <a:p>
            <a:r>
              <a:t>For deployment, moving to a cloud-hosted solution on AWS or GCP would enable multi-user access without local installation, and a browser extension version could provide always-on monitoring during daily computer 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wrap up, let me walk through the project requirements checklist to confirm everything is covered.</a:t>
            </a:r>
          </a:p>
          <a:p/>
          <a:p>
            <a:r>
              <a:t>For the database: we have a fully normalized 3NF schema with 9 tables, proper foreign keys and indexes on all lookup columns, a MySQL reference schema for production deployment, and an interactive ERD diagram. All done.</a:t>
            </a:r>
          </a:p>
          <a:p/>
          <a:p>
            <a:r>
              <a:t>For the backend: over 20 Flask API endpoints following RESTful conventions, session-based authentication with proper security, consistent JSON error handling across all endpoints, ML inference via both HTTP and WebSocket, and real-time communication through Flask-SocketIO. All done.</a:t>
            </a:r>
          </a:p>
          <a:p/>
          <a:p>
            <a:r>
              <a:t>For the frontend: a responsive HTML, CSS, and JavaScript interface that works on desktop and tablet, real-time webcam detection with MediaPipe landmark visualization, four different charts on the analytics dashboard, a complete authentication flow with sign-up and sign-in pages, and an onboarding questionnaire for new users. All done.</a:t>
            </a:r>
          </a:p>
          <a:p/>
          <a:p>
            <a:r>
              <a:t>And for the extras that go beyond the basic requirements: a custom BFRB type selector with multi-select support, adaptive threshold calibration that personalizes the detection for each user, CSV export for offline analysis, Progressive Web App support with offline caching, and a fully public GitHub repository with documentation. All done.</a:t>
            </a:r>
          </a:p>
          <a:p/>
          <a:p>
            <a:r>
              <a:t>Every single requirement in the rubric has been met or exceeded.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time and attention. I am happy to take any questions you might have about the project.</a:t>
            </a:r>
          </a:p>
          <a:p/>
          <a:p>
            <a:r>
              <a:t>Here are some questions I anticipate and my prepared answers:</a:t>
            </a:r>
          </a:p>
          <a:p/>
          <a:p>
            <a:r>
              <a:t>Q: Why did you choose MediaPipe over other computer vision libraries like OpenCV or TensorFlow.js?</a:t>
            </a:r>
          </a:p>
          <a:p>
            <a:r>
              <a:t>A: MediaPipe Holistic is free, runs natively in the browser with no server-side video processing, provides both face and hand landmarks in a single model, and achieves real-time performance at 25-30 FPS. OpenCV would require server-side processing which raises privacy concerns. TensorFlow.js could work but MediaPipe is purpose-built for landmark detection and is more efficient.</a:t>
            </a:r>
          </a:p>
          <a:p/>
          <a:p>
            <a:r>
              <a:t>Q: Why Random Forest instead of a deep learning model like an LSTM or CNN?</a:t>
            </a:r>
          </a:p>
          <a:p>
            <a:r>
              <a:t>A: The 16 features I extract are tabular, not sequential or spatial. Random Forest is ideal for tabular data — it is fast at inference time (under 10ms), interpretable (you can inspect feature importances), and does not require a GPU. For 16 numeric features, it outperforms neural networks in practice.</a:t>
            </a:r>
          </a:p>
          <a:p/>
          <a:p>
            <a:r>
              <a:t>Q: How accurate is the real-world detection?</a:t>
            </a:r>
          </a:p>
          <a:p>
            <a:r>
              <a:t>A: The ML model achieves 77 percent on the Kaggle validation set. Real-world accuracy depends on calibration, lighting, and camera quality. The late fusion approach and dwell timers significantly reduce false positives compared to using either the ML model or rule engine alone.</a:t>
            </a:r>
          </a:p>
          <a:p/>
          <a:p>
            <a:r>
              <a:t>Q: What about privacy? Is the video being sent to a server?</a:t>
            </a:r>
          </a:p>
          <a:p>
            <a:r>
              <a:t>A: No. All video processing and landmark extraction happens entirely in the browser using MediaPipe. The video feed never leaves the user's device. Only the 16 numeric features — numbers, not images — are sent to the server for ML classification.</a:t>
            </a:r>
          </a:p>
          <a:p/>
          <a:p>
            <a:r>
              <a:t>Q: Could this work on a phone?</a:t>
            </a:r>
          </a:p>
          <a:p>
            <a:r>
              <a:t>A: The PWA can be installed on a phone, and MediaPipe does support mobile browsers. The current UI layout is optimized for desktop, but making it mobile-responsive is a straightforward future improvement.</a:t>
            </a:r>
          </a:p>
          <a:p/>
          <a:p>
            <a:r>
              <a:t>Thank you again. The GitHub repository is linked on screen if you would like to try it yourself.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53D"/>
        </a:solidFill>
        <a:effectLst/>
      </p:bgPr>
    </p:bg>
    <p:spTree>
      <p:nvGrpSpPr>
        <p:cNvPr id="1" name=""/>
        <p:cNvGrpSpPr/>
        <p:nvPr/>
      </p:nvGrpSpPr>
      <p:grpSpPr/>
      <p:sp>
        <p:nvSpPr>
          <p:cNvPr id="2" name="Rectangle 1"/>
          <p:cNvSpPr/>
          <p:nvPr/>
        </p:nvSpPr>
        <p:spPr>
          <a:xfrm>
            <a:off x="0" y="292608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ctr">
              <a:defRPr sz="5200" b="1">
                <a:solidFill>
                  <a:srgbClr val="FFFFFF"/>
                </a:solidFill>
                <a:latin typeface="Segoe UI"/>
              </a:defRPr>
            </a:pPr>
            <a:r>
              <a:t>BFRB Detection System</a:t>
            </a:r>
          </a:p>
        </p:txBody>
      </p:sp>
      <p:sp>
        <p:nvSpPr>
          <p:cNvPr id="4" name="TextBox 3"/>
          <p:cNvSpPr txBox="1"/>
          <p:nvPr/>
        </p:nvSpPr>
        <p:spPr>
          <a:xfrm>
            <a:off x="914400" y="2377440"/>
            <a:ext cx="10058400" cy="548640"/>
          </a:xfrm>
          <a:prstGeom prst="rect">
            <a:avLst/>
          </a:prstGeom>
          <a:noFill/>
        </p:spPr>
        <p:txBody>
          <a:bodyPr wrap="square">
            <a:spAutoFit/>
          </a:bodyPr>
          <a:lstStyle/>
          <a:p>
            <a:pPr algn="ctr">
              <a:defRPr sz="2200" b="0">
                <a:solidFill>
                  <a:srgbClr val="F0F4F8"/>
                </a:solidFill>
                <a:latin typeface="Segoe UI"/>
              </a:defRPr>
            </a:pPr>
            <a:r>
              <a:t>Real-Time Webcam-Based Body-Focused Repetitive Behavior Detection</a:t>
            </a:r>
          </a:p>
        </p:txBody>
      </p:sp>
      <p:sp>
        <p:nvSpPr>
          <p:cNvPr id="5" name="TextBox 4"/>
          <p:cNvSpPr txBox="1"/>
          <p:nvPr/>
        </p:nvSpPr>
        <p:spPr>
          <a:xfrm>
            <a:off x="914400" y="3474720"/>
            <a:ext cx="10058400" cy="457200"/>
          </a:xfrm>
          <a:prstGeom prst="rect">
            <a:avLst/>
          </a:prstGeom>
          <a:noFill/>
        </p:spPr>
        <p:txBody>
          <a:bodyPr wrap="square">
            <a:spAutoFit/>
          </a:bodyPr>
          <a:lstStyle/>
          <a:p>
            <a:pPr algn="ctr">
              <a:defRPr sz="2000" b="1">
                <a:solidFill>
                  <a:srgbClr val="D4880F"/>
                </a:solidFill>
                <a:latin typeface="Segoe UI"/>
              </a:defRPr>
            </a:pPr>
            <a:r>
              <a:t>ENEB453 Final Project Defense</a:t>
            </a:r>
          </a:p>
        </p:txBody>
      </p:sp>
      <p:sp>
        <p:nvSpPr>
          <p:cNvPr id="6" name="TextBox 5"/>
          <p:cNvSpPr txBox="1"/>
          <p:nvPr/>
        </p:nvSpPr>
        <p:spPr>
          <a:xfrm>
            <a:off x="914400" y="4206240"/>
            <a:ext cx="10058400" cy="457200"/>
          </a:xfrm>
          <a:prstGeom prst="rect">
            <a:avLst/>
          </a:prstGeom>
          <a:noFill/>
        </p:spPr>
        <p:txBody>
          <a:bodyPr wrap="square">
            <a:spAutoFit/>
          </a:bodyPr>
          <a:lstStyle/>
          <a:p>
            <a:pPr algn="ctr">
              <a:defRPr sz="1800" b="0">
                <a:solidFill>
                  <a:srgbClr val="5A6A7E"/>
                </a:solidFill>
                <a:latin typeface="Segoe UI"/>
              </a:defRPr>
            </a:pPr>
            <a:r>
              <a:t>Nishanth S.  |  University of Maryland  |  Spring 2026</a:t>
            </a:r>
          </a:p>
        </p:txBody>
      </p:sp>
      <p:sp>
        <p:nvSpPr>
          <p:cNvPr id="7" name="TextBox 6"/>
          <p:cNvSpPr txBox="1"/>
          <p:nvPr/>
        </p:nvSpPr>
        <p:spPr>
          <a:xfrm>
            <a:off x="914400" y="4846320"/>
            <a:ext cx="10058400" cy="457200"/>
          </a:xfrm>
          <a:prstGeom prst="rect">
            <a:avLst/>
          </a:prstGeom>
          <a:noFill/>
        </p:spPr>
        <p:txBody>
          <a:bodyPr wrap="square">
            <a:spAutoFit/>
          </a:bodyPr>
          <a:lstStyle/>
          <a:p>
            <a:pPr algn="ctr">
              <a:defRPr sz="1600" b="0">
                <a:solidFill>
                  <a:srgbClr val="5A6A7E"/>
                </a:solidFill>
                <a:latin typeface="Segoe UI"/>
              </a:defRPr>
            </a:pPr>
            <a:r>
              <a:t>May 11,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Presentation Agenda</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9601200" cy="411480"/>
          </a:xfrm>
          <a:prstGeom prst="rect">
            <a:avLst/>
          </a:prstGeom>
          <a:noFill/>
        </p:spPr>
        <p:txBody>
          <a:bodyPr wrap="square">
            <a:spAutoFit/>
          </a:bodyPr>
          <a:lstStyle/>
          <a:p>
            <a:pPr algn="l">
              <a:defRPr sz="1800" b="0">
                <a:solidFill>
                  <a:srgbClr val="FFFFFF"/>
                </a:solidFill>
                <a:latin typeface="Segoe UI"/>
              </a:defRPr>
            </a:pPr>
            <a:r>
              <a:t>1.  Problem Statement: What are BFRBs and why detect them?</a:t>
            </a:r>
          </a:p>
        </p:txBody>
      </p:sp>
      <p:sp>
        <p:nvSpPr>
          <p:cNvPr id="6" name="TextBox 5"/>
          <p:cNvSpPr txBox="1"/>
          <p:nvPr/>
        </p:nvSpPr>
        <p:spPr>
          <a:xfrm>
            <a:off x="1097280" y="1847088"/>
            <a:ext cx="9601200" cy="411480"/>
          </a:xfrm>
          <a:prstGeom prst="rect">
            <a:avLst/>
          </a:prstGeom>
          <a:noFill/>
        </p:spPr>
        <p:txBody>
          <a:bodyPr wrap="square">
            <a:spAutoFit/>
          </a:bodyPr>
          <a:lstStyle/>
          <a:p>
            <a:pPr algn="l">
              <a:defRPr sz="1800" b="0">
                <a:solidFill>
                  <a:srgbClr val="FFFFFF"/>
                </a:solidFill>
                <a:latin typeface="Segoe UI"/>
              </a:defRPr>
            </a:pPr>
            <a:r>
              <a:t>2.  System Architecture: Tech stack and design decisions</a:t>
            </a:r>
          </a:p>
        </p:txBody>
      </p:sp>
      <p:sp>
        <p:nvSpPr>
          <p:cNvPr id="7" name="TextBox 6"/>
          <p:cNvSpPr txBox="1"/>
          <p:nvPr/>
        </p:nvSpPr>
        <p:spPr>
          <a:xfrm>
            <a:off x="1097280" y="2231136"/>
            <a:ext cx="9601200" cy="411480"/>
          </a:xfrm>
          <a:prstGeom prst="rect">
            <a:avLst/>
          </a:prstGeom>
          <a:noFill/>
        </p:spPr>
        <p:txBody>
          <a:bodyPr wrap="square">
            <a:spAutoFit/>
          </a:bodyPr>
          <a:lstStyle/>
          <a:p>
            <a:pPr algn="l">
              <a:defRPr sz="1800" b="0">
                <a:solidFill>
                  <a:srgbClr val="FFFFFF"/>
                </a:solidFill>
                <a:latin typeface="Segoe UI"/>
              </a:defRPr>
            </a:pPr>
            <a:r>
              <a:t>3.  Database Design: Schema, 3NF normalization, ERD</a:t>
            </a:r>
          </a:p>
        </p:txBody>
      </p:sp>
      <p:sp>
        <p:nvSpPr>
          <p:cNvPr id="8" name="TextBox 7"/>
          <p:cNvSpPr txBox="1"/>
          <p:nvPr/>
        </p:nvSpPr>
        <p:spPr>
          <a:xfrm>
            <a:off x="1097280" y="2615184"/>
            <a:ext cx="9601200" cy="411480"/>
          </a:xfrm>
          <a:prstGeom prst="rect">
            <a:avLst/>
          </a:prstGeom>
          <a:noFill/>
        </p:spPr>
        <p:txBody>
          <a:bodyPr wrap="square">
            <a:spAutoFit/>
          </a:bodyPr>
          <a:lstStyle/>
          <a:p>
            <a:pPr algn="l">
              <a:defRPr sz="1800" b="0">
                <a:solidFill>
                  <a:srgbClr val="FFFFFF"/>
                </a:solidFill>
                <a:latin typeface="Segoe UI"/>
              </a:defRPr>
            </a:pPr>
            <a:r>
              <a:t>4.  Backend Implementation: Flask API, session management</a:t>
            </a:r>
          </a:p>
        </p:txBody>
      </p:sp>
      <p:sp>
        <p:nvSpPr>
          <p:cNvPr id="9" name="TextBox 8"/>
          <p:cNvSpPr txBox="1"/>
          <p:nvPr/>
        </p:nvSpPr>
        <p:spPr>
          <a:xfrm>
            <a:off x="1097280" y="2999232"/>
            <a:ext cx="9601200" cy="411480"/>
          </a:xfrm>
          <a:prstGeom prst="rect">
            <a:avLst/>
          </a:prstGeom>
          <a:noFill/>
        </p:spPr>
        <p:txBody>
          <a:bodyPr wrap="square">
            <a:spAutoFit/>
          </a:bodyPr>
          <a:lstStyle/>
          <a:p>
            <a:pPr algn="l">
              <a:defRPr sz="1800" b="0">
                <a:solidFill>
                  <a:srgbClr val="FFFFFF"/>
                </a:solidFill>
                <a:latin typeface="Segoe UI"/>
              </a:defRPr>
            </a:pPr>
            <a:r>
              <a:t>5.  ML Pipeline: Random Forest classifier, feature engineering</a:t>
            </a:r>
          </a:p>
        </p:txBody>
      </p:sp>
      <p:sp>
        <p:nvSpPr>
          <p:cNvPr id="10" name="TextBox 9"/>
          <p:cNvSpPr txBox="1"/>
          <p:nvPr/>
        </p:nvSpPr>
        <p:spPr>
          <a:xfrm>
            <a:off x="1097280" y="3383280"/>
            <a:ext cx="9601200" cy="411480"/>
          </a:xfrm>
          <a:prstGeom prst="rect">
            <a:avLst/>
          </a:prstGeom>
          <a:noFill/>
        </p:spPr>
        <p:txBody>
          <a:bodyPr wrap="square">
            <a:spAutoFit/>
          </a:bodyPr>
          <a:lstStyle/>
          <a:p>
            <a:pPr algn="l">
              <a:defRPr sz="1800" b="0">
                <a:solidFill>
                  <a:srgbClr val="FFFFFF"/>
                </a:solidFill>
                <a:latin typeface="Segoe UI"/>
              </a:defRPr>
            </a:pPr>
            <a:r>
              <a:t>6.  Frontend UI: Real-time detection dashboard</a:t>
            </a:r>
          </a:p>
        </p:txBody>
      </p:sp>
      <p:sp>
        <p:nvSpPr>
          <p:cNvPr id="11" name="TextBox 10"/>
          <p:cNvSpPr txBox="1"/>
          <p:nvPr/>
        </p:nvSpPr>
        <p:spPr>
          <a:xfrm>
            <a:off x="1097280" y="3767328"/>
            <a:ext cx="9601200" cy="411480"/>
          </a:xfrm>
          <a:prstGeom prst="rect">
            <a:avLst/>
          </a:prstGeom>
          <a:noFill/>
        </p:spPr>
        <p:txBody>
          <a:bodyPr wrap="square">
            <a:spAutoFit/>
          </a:bodyPr>
          <a:lstStyle/>
          <a:p>
            <a:pPr algn="l">
              <a:defRPr sz="1800" b="0">
                <a:solidFill>
                  <a:srgbClr val="FFFFFF"/>
                </a:solidFill>
                <a:latin typeface="Segoe UI"/>
              </a:defRPr>
            </a:pPr>
            <a:r>
              <a:t>7.  Authentication &amp; Onboarding: User management</a:t>
            </a:r>
          </a:p>
        </p:txBody>
      </p:sp>
      <p:sp>
        <p:nvSpPr>
          <p:cNvPr id="12" name="TextBox 11"/>
          <p:cNvSpPr txBox="1"/>
          <p:nvPr/>
        </p:nvSpPr>
        <p:spPr>
          <a:xfrm>
            <a:off x="1097280" y="4151376"/>
            <a:ext cx="9601200" cy="411480"/>
          </a:xfrm>
          <a:prstGeom prst="rect">
            <a:avLst/>
          </a:prstGeom>
          <a:noFill/>
        </p:spPr>
        <p:txBody>
          <a:bodyPr wrap="square">
            <a:spAutoFit/>
          </a:bodyPr>
          <a:lstStyle/>
          <a:p>
            <a:pPr algn="l">
              <a:defRPr sz="1800" b="0">
                <a:solidFill>
                  <a:srgbClr val="FFFFFF"/>
                </a:solidFill>
                <a:latin typeface="Segoe UI"/>
              </a:defRPr>
            </a:pPr>
            <a:r>
              <a:t>8.  Advanced Features: Calibration, bouts, pilot studies, PWA</a:t>
            </a:r>
          </a:p>
        </p:txBody>
      </p:sp>
      <p:sp>
        <p:nvSpPr>
          <p:cNvPr id="13" name="TextBox 12"/>
          <p:cNvSpPr txBox="1"/>
          <p:nvPr/>
        </p:nvSpPr>
        <p:spPr>
          <a:xfrm>
            <a:off x="1097280" y="4535424"/>
            <a:ext cx="9601200" cy="411480"/>
          </a:xfrm>
          <a:prstGeom prst="rect">
            <a:avLst/>
          </a:prstGeom>
          <a:noFill/>
        </p:spPr>
        <p:txBody>
          <a:bodyPr wrap="square">
            <a:spAutoFit/>
          </a:bodyPr>
          <a:lstStyle/>
          <a:p>
            <a:pPr algn="l">
              <a:defRPr sz="1800" b="0">
                <a:solidFill>
                  <a:srgbClr val="FFFFFF"/>
                </a:solidFill>
                <a:latin typeface="Segoe UI"/>
              </a:defRPr>
            </a:pPr>
            <a:r>
              <a:t>9.  Live Demonstration</a:t>
            </a:r>
          </a:p>
        </p:txBody>
      </p:sp>
      <p:sp>
        <p:nvSpPr>
          <p:cNvPr id="14" name="TextBox 13"/>
          <p:cNvSpPr txBox="1"/>
          <p:nvPr/>
        </p:nvSpPr>
        <p:spPr>
          <a:xfrm>
            <a:off x="1097280" y="4919472"/>
            <a:ext cx="9601200" cy="411480"/>
          </a:xfrm>
          <a:prstGeom prst="rect">
            <a:avLst/>
          </a:prstGeom>
          <a:noFill/>
        </p:spPr>
        <p:txBody>
          <a:bodyPr wrap="square">
            <a:spAutoFit/>
          </a:bodyPr>
          <a:lstStyle/>
          <a:p>
            <a:pPr algn="l">
              <a:defRPr sz="1800" b="0">
                <a:solidFill>
                  <a:srgbClr val="FFFFFF"/>
                </a:solidFill>
                <a:latin typeface="Segoe UI"/>
              </a:defRPr>
            </a:pPr>
            <a:r>
              <a:t>10. Results, Challenges &amp; Future Work</a:t>
            </a:r>
          </a:p>
        </p:txBody>
      </p:sp>
      <p:sp>
        <p:nvSpPr>
          <p:cNvPr id="15" name="TextBox 14"/>
          <p:cNvSpPr txBox="1"/>
          <p:nvPr/>
        </p:nvSpPr>
        <p:spPr>
          <a:xfrm>
            <a:off x="1097280" y="5303520"/>
            <a:ext cx="9601200" cy="411480"/>
          </a:xfrm>
          <a:prstGeom prst="rect">
            <a:avLst/>
          </a:prstGeom>
          <a:noFill/>
        </p:spPr>
        <p:txBody>
          <a:bodyPr wrap="square">
            <a:spAutoFit/>
          </a:bodyPr>
          <a:lstStyle/>
          <a:p>
            <a:pPr algn="l">
              <a:defRPr sz="1800" b="0">
                <a:solidFill>
                  <a:srgbClr val="FFFFFF"/>
                </a:solidFill>
                <a:latin typeface="Segoe UI"/>
              </a:defRPr>
            </a:pPr>
            <a:r>
              <a:t>11. Q&amp;A</a:t>
            </a:r>
          </a:p>
        </p:txBody>
      </p:sp>
      <p:sp>
        <p:nvSpPr>
          <p:cNvPr id="16" name="TextBox 15"/>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Problem Statement: BFRBs</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What are BFRBs?</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Body-Focused Repetitive Behaviors: compulsive self-grooming actions</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Hair pulling (trichotillomania), nail biting, skin picking, face touching</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Affects 2-5% of the population worldwide</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The Challenge</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Most people are UNAWARE when they're engaging in BFRBs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Awareness is the first step to behavioral change</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Current solutions: rubber bands, journals, therapy alone</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58384"/>
            <a:ext cx="9601200" cy="457200"/>
          </a:xfrm>
          <a:prstGeom prst="rect">
            <a:avLst/>
          </a:prstGeom>
          <a:noFill/>
        </p:spPr>
        <p:txBody>
          <a:bodyPr wrap="square">
            <a:spAutoFit/>
          </a:bodyPr>
          <a:lstStyle/>
          <a:p>
            <a:pPr algn="l">
              <a:defRPr sz="2000" b="1">
                <a:solidFill>
                  <a:srgbClr val="D4880F"/>
                </a:solidFill>
                <a:latin typeface="Segoe UI"/>
              </a:defRPr>
            </a:pPr>
            <a:r>
              <a:t>Our Solution</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Real-time webcam detection using computer vision + ML</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Immediate visual alerts when BFRB is detected</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Track patterns over time for therapy support</a:t>
            </a:r>
          </a:p>
        </p:txBody>
      </p:sp>
      <p:sp>
        <p:nvSpPr>
          <p:cNvPr id="19" name="TextBox 18"/>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System Architecture</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029200" cy="384048"/>
          </a:xfrm>
          <a:prstGeom prst="rect">
            <a:avLst/>
          </a:prstGeom>
          <a:noFill/>
        </p:spPr>
        <p:txBody>
          <a:bodyPr wrap="square">
            <a:spAutoFit/>
          </a:bodyPr>
          <a:lstStyle/>
          <a:p>
            <a:pPr algn="l">
              <a:defRPr sz="1700" b="0">
                <a:solidFill>
                  <a:srgbClr val="FFFFFF"/>
                </a:solidFill>
                <a:latin typeface="Segoe UI"/>
              </a:defRPr>
            </a:pPr>
            <a:r>
              <a:t>--- Frontend ---</a:t>
            </a:r>
          </a:p>
        </p:txBody>
      </p:sp>
      <p:sp>
        <p:nvSpPr>
          <p:cNvPr id="6" name="TextBox 5"/>
          <p:cNvSpPr txBox="1"/>
          <p:nvPr/>
        </p:nvSpPr>
        <p:spPr>
          <a:xfrm>
            <a:off x="731520" y="1828800"/>
            <a:ext cx="5029200" cy="384048"/>
          </a:xfrm>
          <a:prstGeom prst="rect">
            <a:avLst/>
          </a:prstGeom>
          <a:noFill/>
        </p:spPr>
        <p:txBody>
          <a:bodyPr wrap="square">
            <a:spAutoFit/>
          </a:bodyPr>
          <a:lstStyle/>
          <a:p>
            <a:pPr algn="l">
              <a:defRPr sz="1700" b="0">
                <a:solidFill>
                  <a:srgbClr val="FFFFFF"/>
                </a:solidFill>
                <a:latin typeface="Segoe UI"/>
              </a:defRPr>
            </a:pPr>
            <a:r>
              <a:t>HTML5, CSS3, Vanilla JavaScript</a:t>
            </a:r>
          </a:p>
        </p:txBody>
      </p:sp>
      <p:sp>
        <p:nvSpPr>
          <p:cNvPr id="7" name="TextBox 6"/>
          <p:cNvSpPr txBox="1"/>
          <p:nvPr/>
        </p:nvSpPr>
        <p:spPr>
          <a:xfrm>
            <a:off x="731520" y="2194560"/>
            <a:ext cx="5029200" cy="384048"/>
          </a:xfrm>
          <a:prstGeom prst="rect">
            <a:avLst/>
          </a:prstGeom>
          <a:noFill/>
        </p:spPr>
        <p:txBody>
          <a:bodyPr wrap="square">
            <a:spAutoFit/>
          </a:bodyPr>
          <a:lstStyle/>
          <a:p>
            <a:pPr algn="l">
              <a:defRPr sz="1700" b="0">
                <a:solidFill>
                  <a:srgbClr val="FFFFFF"/>
                </a:solidFill>
                <a:latin typeface="Segoe UI"/>
              </a:defRPr>
            </a:pPr>
            <a:r>
              <a:t>MediaPipe Holistic (face + hand tracking)</a:t>
            </a:r>
          </a:p>
        </p:txBody>
      </p:sp>
      <p:sp>
        <p:nvSpPr>
          <p:cNvPr id="8" name="TextBox 7"/>
          <p:cNvSpPr txBox="1"/>
          <p:nvPr/>
        </p:nvSpPr>
        <p:spPr>
          <a:xfrm>
            <a:off x="731520" y="2560320"/>
            <a:ext cx="5029200" cy="384048"/>
          </a:xfrm>
          <a:prstGeom prst="rect">
            <a:avLst/>
          </a:prstGeom>
          <a:noFill/>
        </p:spPr>
        <p:txBody>
          <a:bodyPr wrap="square">
            <a:spAutoFit/>
          </a:bodyPr>
          <a:lstStyle/>
          <a:p>
            <a:pPr algn="l">
              <a:defRPr sz="1700" b="0">
                <a:solidFill>
                  <a:srgbClr val="FFFFFF"/>
                </a:solidFill>
                <a:latin typeface="Segoe UI"/>
              </a:defRPr>
            </a:pPr>
            <a:r>
              <a:t>Chart.js (statistical dashboard)</a:t>
            </a:r>
          </a:p>
        </p:txBody>
      </p:sp>
      <p:sp>
        <p:nvSpPr>
          <p:cNvPr id="9" name="TextBox 8"/>
          <p:cNvSpPr txBox="1"/>
          <p:nvPr/>
        </p:nvSpPr>
        <p:spPr>
          <a:xfrm>
            <a:off x="731520" y="2926080"/>
            <a:ext cx="5029200" cy="384048"/>
          </a:xfrm>
          <a:prstGeom prst="rect">
            <a:avLst/>
          </a:prstGeom>
          <a:noFill/>
        </p:spPr>
        <p:txBody>
          <a:bodyPr wrap="square">
            <a:spAutoFit/>
          </a:bodyPr>
          <a:lstStyle/>
          <a:p>
            <a:pPr algn="l">
              <a:defRPr sz="1700" b="0">
                <a:solidFill>
                  <a:srgbClr val="FFFFFF"/>
                </a:solidFill>
                <a:latin typeface="Segoe UI"/>
              </a:defRPr>
            </a:pPr>
            <a:r>
              <a:t>Socket.IO client (real-time)</a:t>
            </a:r>
          </a:p>
        </p:txBody>
      </p:sp>
      <p:sp>
        <p:nvSpPr>
          <p:cNvPr id="10" name="TextBox 9"/>
          <p:cNvSpPr txBox="1"/>
          <p:nvPr/>
        </p:nvSpPr>
        <p:spPr>
          <a:xfrm>
            <a:off x="731520" y="3291840"/>
            <a:ext cx="5029200" cy="384048"/>
          </a:xfrm>
          <a:prstGeom prst="rect">
            <a:avLst/>
          </a:prstGeom>
          <a:noFill/>
        </p:spPr>
        <p:txBody>
          <a:bodyPr wrap="square">
            <a:spAutoFit/>
          </a:bodyPr>
          <a:lstStyle/>
          <a:p>
            <a:pPr algn="l">
              <a:defRPr sz="1700" b="0">
                <a:solidFill>
                  <a:srgbClr val="FFFFFF"/>
                </a:solidFill>
                <a:latin typeface="Segoe UI"/>
              </a:defRPr>
            </a:pPr>
            <a:r>
              <a:t>Progressive Web App (PWA)</a:t>
            </a:r>
          </a:p>
        </p:txBody>
      </p:sp>
      <p:sp>
        <p:nvSpPr>
          <p:cNvPr id="11" name="TextBox 10"/>
          <p:cNvSpPr txBox="1"/>
          <p:nvPr/>
        </p:nvSpPr>
        <p:spPr>
          <a:xfrm>
            <a:off x="731520" y="365760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12" name="TextBox 11"/>
          <p:cNvSpPr txBox="1"/>
          <p:nvPr/>
        </p:nvSpPr>
        <p:spPr>
          <a:xfrm>
            <a:off x="731520" y="4023360"/>
            <a:ext cx="5029200" cy="384048"/>
          </a:xfrm>
          <a:prstGeom prst="rect">
            <a:avLst/>
          </a:prstGeom>
          <a:noFill/>
        </p:spPr>
        <p:txBody>
          <a:bodyPr wrap="square">
            <a:spAutoFit/>
          </a:bodyPr>
          <a:lstStyle/>
          <a:p>
            <a:pPr algn="l">
              <a:defRPr sz="1700" b="0">
                <a:solidFill>
                  <a:srgbClr val="FFFFFF"/>
                </a:solidFill>
                <a:latin typeface="Segoe UI"/>
              </a:defRPr>
            </a:pPr>
            <a:r>
              <a:t>--- Computer Vision ---</a:t>
            </a:r>
          </a:p>
        </p:txBody>
      </p:sp>
      <p:sp>
        <p:nvSpPr>
          <p:cNvPr id="13" name="TextBox 12"/>
          <p:cNvSpPr txBox="1"/>
          <p:nvPr/>
        </p:nvSpPr>
        <p:spPr>
          <a:xfrm>
            <a:off x="731520" y="4389120"/>
            <a:ext cx="5029200" cy="384048"/>
          </a:xfrm>
          <a:prstGeom prst="rect">
            <a:avLst/>
          </a:prstGeom>
          <a:noFill/>
        </p:spPr>
        <p:txBody>
          <a:bodyPr wrap="square">
            <a:spAutoFit/>
          </a:bodyPr>
          <a:lstStyle/>
          <a:p>
            <a:pPr algn="l">
              <a:defRPr sz="1700" b="0">
                <a:solidFill>
                  <a:srgbClr val="FFFFFF"/>
                </a:solidFill>
                <a:latin typeface="Segoe UI"/>
              </a:defRPr>
            </a:pPr>
            <a:r>
              <a:t>468 face landmarks per frame</a:t>
            </a:r>
          </a:p>
        </p:txBody>
      </p:sp>
      <p:sp>
        <p:nvSpPr>
          <p:cNvPr id="14" name="TextBox 13"/>
          <p:cNvSpPr txBox="1"/>
          <p:nvPr/>
        </p:nvSpPr>
        <p:spPr>
          <a:xfrm>
            <a:off x="731520" y="4754880"/>
            <a:ext cx="5029200" cy="384048"/>
          </a:xfrm>
          <a:prstGeom prst="rect">
            <a:avLst/>
          </a:prstGeom>
          <a:noFill/>
        </p:spPr>
        <p:txBody>
          <a:bodyPr wrap="square">
            <a:spAutoFit/>
          </a:bodyPr>
          <a:lstStyle/>
          <a:p>
            <a:pPr algn="l">
              <a:defRPr sz="1700" b="0">
                <a:solidFill>
                  <a:srgbClr val="FFFFFF"/>
                </a:solidFill>
                <a:latin typeface="Segoe UI"/>
              </a:defRPr>
            </a:pPr>
            <a:r>
              <a:t>21 hand landmarks per frame</a:t>
            </a:r>
          </a:p>
        </p:txBody>
      </p:sp>
      <p:sp>
        <p:nvSpPr>
          <p:cNvPr id="15" name="TextBox 14"/>
          <p:cNvSpPr txBox="1"/>
          <p:nvPr/>
        </p:nvSpPr>
        <p:spPr>
          <a:xfrm>
            <a:off x="731520" y="5120640"/>
            <a:ext cx="5029200" cy="384048"/>
          </a:xfrm>
          <a:prstGeom prst="rect">
            <a:avLst/>
          </a:prstGeom>
          <a:noFill/>
        </p:spPr>
        <p:txBody>
          <a:bodyPr wrap="square">
            <a:spAutoFit/>
          </a:bodyPr>
          <a:lstStyle/>
          <a:p>
            <a:pPr algn="l">
              <a:defRPr sz="1700" b="0">
                <a:solidFill>
                  <a:srgbClr val="FFFFFF"/>
                </a:solidFill>
                <a:latin typeface="Segoe UI"/>
              </a:defRPr>
            </a:pPr>
            <a:r>
              <a:t>One Euro Filter for smoothing</a:t>
            </a:r>
          </a:p>
        </p:txBody>
      </p:sp>
      <p:sp>
        <p:nvSpPr>
          <p:cNvPr id="16" name="TextBox 15"/>
          <p:cNvSpPr txBox="1"/>
          <p:nvPr/>
        </p:nvSpPr>
        <p:spPr>
          <a:xfrm>
            <a:off x="731520" y="5486400"/>
            <a:ext cx="5029200" cy="384048"/>
          </a:xfrm>
          <a:prstGeom prst="rect">
            <a:avLst/>
          </a:prstGeom>
          <a:noFill/>
        </p:spPr>
        <p:txBody>
          <a:bodyPr wrap="square">
            <a:spAutoFit/>
          </a:bodyPr>
          <a:lstStyle/>
          <a:p>
            <a:pPr algn="l">
              <a:defRPr sz="1700" b="0">
                <a:solidFill>
                  <a:srgbClr val="FFFFFF"/>
                </a:solidFill>
                <a:latin typeface="Segoe UI"/>
              </a:defRPr>
            </a:pPr>
            <a:r>
              <a:t>13 anatomical face zones</a:t>
            </a:r>
          </a:p>
        </p:txBody>
      </p:sp>
      <p:sp>
        <p:nvSpPr>
          <p:cNvPr id="17" name="TextBox 16"/>
          <p:cNvSpPr txBox="1"/>
          <p:nvPr/>
        </p:nvSpPr>
        <p:spPr>
          <a:xfrm>
            <a:off x="6217920" y="1463040"/>
            <a:ext cx="5029200" cy="384048"/>
          </a:xfrm>
          <a:prstGeom prst="rect">
            <a:avLst/>
          </a:prstGeom>
          <a:noFill/>
        </p:spPr>
        <p:txBody>
          <a:bodyPr wrap="square">
            <a:spAutoFit/>
          </a:bodyPr>
          <a:lstStyle/>
          <a:p>
            <a:pPr algn="l">
              <a:defRPr sz="1700" b="0">
                <a:solidFill>
                  <a:srgbClr val="FFFFFF"/>
                </a:solidFill>
                <a:latin typeface="Segoe UI"/>
              </a:defRPr>
            </a:pPr>
            <a:r>
              <a:t>--- Backend ---</a:t>
            </a:r>
          </a:p>
        </p:txBody>
      </p:sp>
      <p:sp>
        <p:nvSpPr>
          <p:cNvPr id="18" name="TextBox 17"/>
          <p:cNvSpPr txBox="1"/>
          <p:nvPr/>
        </p:nvSpPr>
        <p:spPr>
          <a:xfrm>
            <a:off x="6217920" y="1828800"/>
            <a:ext cx="5029200" cy="384048"/>
          </a:xfrm>
          <a:prstGeom prst="rect">
            <a:avLst/>
          </a:prstGeom>
          <a:noFill/>
        </p:spPr>
        <p:txBody>
          <a:bodyPr wrap="square">
            <a:spAutoFit/>
          </a:bodyPr>
          <a:lstStyle/>
          <a:p>
            <a:pPr algn="l">
              <a:defRPr sz="1700" b="0">
                <a:solidFill>
                  <a:srgbClr val="FFFFFF"/>
                </a:solidFill>
                <a:latin typeface="Segoe UI"/>
              </a:defRPr>
            </a:pPr>
            <a:r>
              <a:t>Python 3.11 + Flask 2.3</a:t>
            </a:r>
          </a:p>
        </p:txBody>
      </p:sp>
      <p:sp>
        <p:nvSpPr>
          <p:cNvPr id="19" name="TextBox 18"/>
          <p:cNvSpPr txBox="1"/>
          <p:nvPr/>
        </p:nvSpPr>
        <p:spPr>
          <a:xfrm>
            <a:off x="6217920" y="2194560"/>
            <a:ext cx="5029200" cy="384048"/>
          </a:xfrm>
          <a:prstGeom prst="rect">
            <a:avLst/>
          </a:prstGeom>
          <a:noFill/>
        </p:spPr>
        <p:txBody>
          <a:bodyPr wrap="square">
            <a:spAutoFit/>
          </a:bodyPr>
          <a:lstStyle/>
          <a:p>
            <a:pPr algn="l">
              <a:defRPr sz="1700" b="0">
                <a:solidFill>
                  <a:srgbClr val="FFFFFF"/>
                </a:solidFill>
                <a:latin typeface="Segoe UI"/>
              </a:defRPr>
            </a:pPr>
            <a:r>
              <a:t>SQLite (embedded database)</a:t>
            </a:r>
          </a:p>
        </p:txBody>
      </p:sp>
      <p:sp>
        <p:nvSpPr>
          <p:cNvPr id="20" name="TextBox 19"/>
          <p:cNvSpPr txBox="1"/>
          <p:nvPr/>
        </p:nvSpPr>
        <p:spPr>
          <a:xfrm>
            <a:off x="6217920" y="2560320"/>
            <a:ext cx="5029200" cy="384048"/>
          </a:xfrm>
          <a:prstGeom prst="rect">
            <a:avLst/>
          </a:prstGeom>
          <a:noFill/>
        </p:spPr>
        <p:txBody>
          <a:bodyPr wrap="square">
            <a:spAutoFit/>
          </a:bodyPr>
          <a:lstStyle/>
          <a:p>
            <a:pPr algn="l">
              <a:defRPr sz="1700" b="0">
                <a:solidFill>
                  <a:srgbClr val="FFFFFF"/>
                </a:solidFill>
                <a:latin typeface="Segoe UI"/>
              </a:defRPr>
            </a:pPr>
            <a:r>
              <a:t>Flask-SocketIO (WebSocket)</a:t>
            </a:r>
          </a:p>
        </p:txBody>
      </p:sp>
      <p:sp>
        <p:nvSpPr>
          <p:cNvPr id="21" name="TextBox 20"/>
          <p:cNvSpPr txBox="1"/>
          <p:nvPr/>
        </p:nvSpPr>
        <p:spPr>
          <a:xfrm>
            <a:off x="6217920" y="2926080"/>
            <a:ext cx="5029200" cy="384048"/>
          </a:xfrm>
          <a:prstGeom prst="rect">
            <a:avLst/>
          </a:prstGeom>
          <a:noFill/>
        </p:spPr>
        <p:txBody>
          <a:bodyPr wrap="square">
            <a:spAutoFit/>
          </a:bodyPr>
          <a:lstStyle/>
          <a:p>
            <a:pPr algn="l">
              <a:defRPr sz="1700" b="0">
                <a:solidFill>
                  <a:srgbClr val="FFFFFF"/>
                </a:solidFill>
                <a:latin typeface="Segoe UI"/>
              </a:defRPr>
            </a:pPr>
            <a:r>
              <a:t>scikit-learn (ML inference)</a:t>
            </a:r>
          </a:p>
        </p:txBody>
      </p:sp>
      <p:sp>
        <p:nvSpPr>
          <p:cNvPr id="22" name="TextBox 21"/>
          <p:cNvSpPr txBox="1"/>
          <p:nvPr/>
        </p:nvSpPr>
        <p:spPr>
          <a:xfrm>
            <a:off x="6217920" y="329184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23" name="TextBox 22"/>
          <p:cNvSpPr txBox="1"/>
          <p:nvPr/>
        </p:nvSpPr>
        <p:spPr>
          <a:xfrm>
            <a:off x="6217920" y="3657600"/>
            <a:ext cx="5029200" cy="384048"/>
          </a:xfrm>
          <a:prstGeom prst="rect">
            <a:avLst/>
          </a:prstGeom>
          <a:noFill/>
        </p:spPr>
        <p:txBody>
          <a:bodyPr wrap="square">
            <a:spAutoFit/>
          </a:bodyPr>
          <a:lstStyle/>
          <a:p>
            <a:pPr algn="l">
              <a:defRPr sz="1700" b="0">
                <a:solidFill>
                  <a:srgbClr val="FFFFFF"/>
                </a:solidFill>
                <a:latin typeface="Segoe UI"/>
              </a:defRPr>
            </a:pPr>
            <a:r>
              <a:t>--- ML Pipeline ---</a:t>
            </a:r>
          </a:p>
        </p:txBody>
      </p:sp>
      <p:sp>
        <p:nvSpPr>
          <p:cNvPr id="24" name="TextBox 23"/>
          <p:cNvSpPr txBox="1"/>
          <p:nvPr/>
        </p:nvSpPr>
        <p:spPr>
          <a:xfrm>
            <a:off x="6217920" y="4023360"/>
            <a:ext cx="5029200" cy="384048"/>
          </a:xfrm>
          <a:prstGeom prst="rect">
            <a:avLst/>
          </a:prstGeom>
          <a:noFill/>
        </p:spPr>
        <p:txBody>
          <a:bodyPr wrap="square">
            <a:spAutoFit/>
          </a:bodyPr>
          <a:lstStyle/>
          <a:p>
            <a:pPr algn="l">
              <a:defRPr sz="1700" b="0">
                <a:solidFill>
                  <a:srgbClr val="FFFFFF"/>
                </a:solidFill>
                <a:latin typeface="Segoe UI"/>
              </a:defRPr>
            </a:pPr>
            <a:r>
              <a:t>Random Forest classifier</a:t>
            </a:r>
          </a:p>
        </p:txBody>
      </p:sp>
      <p:sp>
        <p:nvSpPr>
          <p:cNvPr id="25" name="TextBox 24"/>
          <p:cNvSpPr txBox="1"/>
          <p:nvPr/>
        </p:nvSpPr>
        <p:spPr>
          <a:xfrm>
            <a:off x="6217920" y="4389120"/>
            <a:ext cx="5029200" cy="384048"/>
          </a:xfrm>
          <a:prstGeom prst="rect">
            <a:avLst/>
          </a:prstGeom>
          <a:noFill/>
        </p:spPr>
        <p:txBody>
          <a:bodyPr wrap="square">
            <a:spAutoFit/>
          </a:bodyPr>
          <a:lstStyle/>
          <a:p>
            <a:pPr algn="l">
              <a:defRPr sz="1700" b="0">
                <a:solidFill>
                  <a:srgbClr val="FFFFFF"/>
                </a:solidFill>
                <a:latin typeface="Segoe UI"/>
              </a:defRPr>
            </a:pPr>
            <a:r>
              <a:t>16 semantic features</a:t>
            </a:r>
          </a:p>
        </p:txBody>
      </p:sp>
      <p:sp>
        <p:nvSpPr>
          <p:cNvPr id="26" name="TextBox 25"/>
          <p:cNvSpPr txBox="1"/>
          <p:nvPr/>
        </p:nvSpPr>
        <p:spPr>
          <a:xfrm>
            <a:off x="6217920" y="4754880"/>
            <a:ext cx="5029200" cy="384048"/>
          </a:xfrm>
          <a:prstGeom prst="rect">
            <a:avLst/>
          </a:prstGeom>
          <a:noFill/>
        </p:spPr>
        <p:txBody>
          <a:bodyPr wrap="square">
            <a:spAutoFit/>
          </a:bodyPr>
          <a:lstStyle/>
          <a:p>
            <a:pPr algn="l">
              <a:defRPr sz="1700" b="0">
                <a:solidFill>
                  <a:srgbClr val="FFFFFF"/>
                </a:solidFill>
                <a:latin typeface="Segoe UI"/>
              </a:defRPr>
            </a:pPr>
            <a:r>
              <a:t>Trained on Kaggle CMI dataset</a:t>
            </a:r>
          </a:p>
        </p:txBody>
      </p:sp>
      <p:sp>
        <p:nvSpPr>
          <p:cNvPr id="27" name="TextBox 26"/>
          <p:cNvSpPr txBox="1"/>
          <p:nvPr/>
        </p:nvSpPr>
        <p:spPr>
          <a:xfrm>
            <a:off x="6217920" y="5120640"/>
            <a:ext cx="5029200" cy="384048"/>
          </a:xfrm>
          <a:prstGeom prst="rect">
            <a:avLst/>
          </a:prstGeom>
          <a:noFill/>
        </p:spPr>
        <p:txBody>
          <a:bodyPr wrap="square">
            <a:spAutoFit/>
          </a:bodyPr>
          <a:lstStyle/>
          <a:p>
            <a:pPr algn="l">
              <a:defRPr sz="1700" b="0">
                <a:solidFill>
                  <a:srgbClr val="FFFFFF"/>
                </a:solidFill>
                <a:latin typeface="Segoe UI"/>
              </a:defRPr>
            </a:pPr>
            <a:r>
              <a:t>574,945 readings, 8,151 sequences</a:t>
            </a:r>
          </a:p>
        </p:txBody>
      </p:sp>
      <p:sp>
        <p:nvSpPr>
          <p:cNvPr id="28" name="TextBox 27"/>
          <p:cNvSpPr txBox="1"/>
          <p:nvPr/>
        </p:nvSpPr>
        <p:spPr>
          <a:xfrm>
            <a:off x="6217920" y="5486400"/>
            <a:ext cx="5029200" cy="384048"/>
          </a:xfrm>
          <a:prstGeom prst="rect">
            <a:avLst/>
          </a:prstGeom>
          <a:noFill/>
        </p:spPr>
        <p:txBody>
          <a:bodyPr wrap="square">
            <a:spAutoFit/>
          </a:bodyPr>
          <a:lstStyle/>
          <a:p>
            <a:pPr algn="l">
              <a:defRPr sz="1700" b="0">
                <a:solidFill>
                  <a:srgbClr val="FFFFFF"/>
                </a:solidFill>
                <a:latin typeface="Segoe UI"/>
              </a:defRPr>
            </a:pPr>
            <a:r>
              <a:t>Late multimodal fusion</a:t>
            </a:r>
          </a:p>
        </p:txBody>
      </p:sp>
      <p:sp>
        <p:nvSpPr>
          <p:cNvPr id="29" name="TextBox 28"/>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Database Design (3NF Normalized)</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9 Tables in Third Normal Form (3NF)</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users - accounts with hashed passwords (SHA-256 + salt)</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onboarding_responses - personalization questionnaire data</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bfrb_types - 8 seeded BFRB categories (extensible)</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r>
              <a:t>sessions - detection sessions (start, end, stats)</a:t>
            </a:r>
          </a:p>
        </p:txBody>
      </p:sp>
      <p:sp>
        <p:nvSpPr>
          <p:cNvPr id="10" name="TextBox 9"/>
          <p:cNvSpPr txBox="1"/>
          <p:nvPr/>
        </p:nvSpPr>
        <p:spPr>
          <a:xfrm>
            <a:off x="1097280" y="3410712"/>
            <a:ext cx="9601200" cy="411480"/>
          </a:xfrm>
          <a:prstGeom prst="rect">
            <a:avLst/>
          </a:prstGeom>
          <a:noFill/>
        </p:spPr>
        <p:txBody>
          <a:bodyPr wrap="square">
            <a:spAutoFit/>
          </a:bodyPr>
          <a:lstStyle/>
          <a:p>
            <a:pPr algn="l">
              <a:defRPr sz="1800" b="0">
                <a:solidFill>
                  <a:srgbClr val="FFFFFF"/>
                </a:solidFill>
                <a:latin typeface="Segoe UI"/>
              </a:defRPr>
            </a:pPr>
            <a:r>
              <a:t>detections - individual events (confidence, ML score, fused score)</a:t>
            </a:r>
          </a:p>
        </p:txBody>
      </p:sp>
      <p:sp>
        <p:nvSpPr>
          <p:cNvPr id="11" name="TextBox 10"/>
          <p:cNvSpPr txBox="1"/>
          <p:nvPr/>
        </p:nvSpPr>
        <p:spPr>
          <a:xfrm>
            <a:off x="1097280" y="3794760"/>
            <a:ext cx="9601200" cy="411480"/>
          </a:xfrm>
          <a:prstGeom prst="rect">
            <a:avLst/>
          </a:prstGeom>
          <a:noFill/>
        </p:spPr>
        <p:txBody>
          <a:bodyPr wrap="square">
            <a:spAutoFit/>
          </a:bodyPr>
          <a:lstStyle/>
          <a:p>
            <a:pPr algn="l">
              <a:defRPr sz="1800" b="0">
                <a:solidFill>
                  <a:srgbClr val="FFFFFF"/>
                </a:solidFill>
                <a:latin typeface="Segoe UI"/>
              </a:defRPr>
            </a:pPr>
            <a:r>
              <a:t>calibrations - per-session adaptive thresholds</a:t>
            </a:r>
          </a:p>
        </p:txBody>
      </p:sp>
      <p:sp>
        <p:nvSpPr>
          <p:cNvPr id="12" name="TextBox 11"/>
          <p:cNvSpPr txBox="1"/>
          <p:nvPr/>
        </p:nvSpPr>
        <p:spPr>
          <a:xfrm>
            <a:off x="1097280" y="4178808"/>
            <a:ext cx="9601200" cy="411480"/>
          </a:xfrm>
          <a:prstGeom prst="rect">
            <a:avLst/>
          </a:prstGeom>
          <a:noFill/>
        </p:spPr>
        <p:txBody>
          <a:bodyPr wrap="square">
            <a:spAutoFit/>
          </a:bodyPr>
          <a:lstStyle/>
          <a:p>
            <a:pPr algn="l">
              <a:defRPr sz="1800" b="0">
                <a:solidFill>
                  <a:srgbClr val="FFFFFF"/>
                </a:solidFill>
                <a:latin typeface="Segoe UI"/>
              </a:defRPr>
            </a:pPr>
            <a:r>
              <a:t>user_feedback - yes/no feedback on each detection</a:t>
            </a:r>
          </a:p>
        </p:txBody>
      </p:sp>
      <p:sp>
        <p:nvSpPr>
          <p:cNvPr id="13" name="TextBox 12"/>
          <p:cNvSpPr txBox="1"/>
          <p:nvPr/>
        </p:nvSpPr>
        <p:spPr>
          <a:xfrm>
            <a:off x="1097280" y="4562856"/>
            <a:ext cx="9601200" cy="411480"/>
          </a:xfrm>
          <a:prstGeom prst="rect">
            <a:avLst/>
          </a:prstGeom>
          <a:noFill/>
        </p:spPr>
        <p:txBody>
          <a:bodyPr wrap="square">
            <a:spAutoFit/>
          </a:bodyPr>
          <a:lstStyle/>
          <a:p>
            <a:pPr algn="l">
              <a:defRPr sz="1800" b="0">
                <a:solidFill>
                  <a:srgbClr val="FFFFFF"/>
                </a:solidFill>
                <a:latin typeface="Segoe UI"/>
              </a:defRPr>
            </a:pPr>
            <a:r>
              <a:t>pilot_trials - structured ground-truth collection</a:t>
            </a:r>
          </a:p>
        </p:txBody>
      </p:sp>
      <p:sp>
        <p:nvSpPr>
          <p:cNvPr id="14" name="TextBox 13"/>
          <p:cNvSpPr txBox="1"/>
          <p:nvPr/>
        </p:nvSpPr>
        <p:spPr>
          <a:xfrm>
            <a:off x="1097280" y="4946904"/>
            <a:ext cx="9601200" cy="411480"/>
          </a:xfrm>
          <a:prstGeom prst="rect">
            <a:avLst/>
          </a:prstGeom>
          <a:noFill/>
        </p:spPr>
        <p:txBody>
          <a:bodyPr wrap="square">
            <a:spAutoFit/>
          </a:bodyPr>
          <a:lstStyle/>
          <a:p>
            <a:pPr algn="l">
              <a:defRPr sz="1800" b="0">
                <a:solidFill>
                  <a:srgbClr val="FFFFFF"/>
                </a:solidFill>
                <a:latin typeface="Segoe UI"/>
              </a:defRPr>
            </a:pPr>
            <a:r>
              <a:t>telemetry - per-frame IEEE-grade logging</a:t>
            </a:r>
          </a:p>
        </p:txBody>
      </p:sp>
      <p:sp>
        <p:nvSpPr>
          <p:cNvPr id="15" name="TextBox 14"/>
          <p:cNvSpPr txBox="1"/>
          <p:nvPr/>
        </p:nvSpPr>
        <p:spPr>
          <a:xfrm>
            <a:off x="1097280" y="5330952"/>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6" name="TextBox 15"/>
          <p:cNvSpPr txBox="1"/>
          <p:nvPr/>
        </p:nvSpPr>
        <p:spPr>
          <a:xfrm>
            <a:off x="914400" y="5715000"/>
            <a:ext cx="9601200" cy="457200"/>
          </a:xfrm>
          <a:prstGeom prst="rect">
            <a:avLst/>
          </a:prstGeom>
          <a:noFill/>
        </p:spPr>
        <p:txBody>
          <a:bodyPr wrap="square">
            <a:spAutoFit/>
          </a:bodyPr>
          <a:lstStyle/>
          <a:p>
            <a:pPr algn="l">
              <a:defRPr sz="2000" b="1">
                <a:solidFill>
                  <a:srgbClr val="D4880F"/>
                </a:solidFill>
                <a:latin typeface="Segoe UI"/>
              </a:defRPr>
            </a:pPr>
            <a:r>
              <a:t>Key Design Decisions</a:t>
            </a:r>
          </a:p>
        </p:txBody>
      </p:sp>
      <p:sp>
        <p:nvSpPr>
          <p:cNvPr id="17" name="TextBox 16"/>
          <p:cNvSpPr txBox="1"/>
          <p:nvPr/>
        </p:nvSpPr>
        <p:spPr>
          <a:xfrm>
            <a:off x="1097280" y="6126480"/>
            <a:ext cx="9601200" cy="411480"/>
          </a:xfrm>
          <a:prstGeom prst="rect">
            <a:avLst/>
          </a:prstGeom>
          <a:noFill/>
        </p:spPr>
        <p:txBody>
          <a:bodyPr wrap="square">
            <a:spAutoFit/>
          </a:bodyPr>
          <a:lstStyle/>
          <a:p>
            <a:pPr algn="l">
              <a:defRPr sz="1800" b="0">
                <a:solidFill>
                  <a:srgbClr val="FFFFFF"/>
                </a:solidFill>
                <a:latin typeface="Segoe UI"/>
              </a:defRPr>
            </a:pPr>
            <a:r>
              <a:t>SQLite for zero-config deployment (no Docker needed)</a:t>
            </a:r>
          </a:p>
        </p:txBody>
      </p:sp>
      <p:sp>
        <p:nvSpPr>
          <p:cNvPr id="18" name="TextBox 17"/>
          <p:cNvSpPr txBox="1"/>
          <p:nvPr/>
        </p:nvSpPr>
        <p:spPr>
          <a:xfrm>
            <a:off x="1097280" y="6510528"/>
            <a:ext cx="9601200" cy="411480"/>
          </a:xfrm>
          <a:prstGeom prst="rect">
            <a:avLst/>
          </a:prstGeom>
          <a:noFill/>
        </p:spPr>
        <p:txBody>
          <a:bodyPr wrap="square">
            <a:spAutoFit/>
          </a:bodyPr>
          <a:lstStyle/>
          <a:p>
            <a:pPr algn="l">
              <a:defRPr sz="1800" b="0">
                <a:solidFill>
                  <a:srgbClr val="FFFFFF"/>
                </a:solidFill>
                <a:latin typeface="Segoe UI"/>
              </a:defRPr>
            </a:pPr>
            <a:r>
              <a:t>Foreign keys + WAL journaling for data integrity</a:t>
            </a:r>
          </a:p>
        </p:txBody>
      </p:sp>
      <p:sp>
        <p:nvSpPr>
          <p:cNvPr id="19" name="TextBox 18"/>
          <p:cNvSpPr txBox="1"/>
          <p:nvPr/>
        </p:nvSpPr>
        <p:spPr>
          <a:xfrm>
            <a:off x="1097280" y="6894576"/>
            <a:ext cx="9601200" cy="411480"/>
          </a:xfrm>
          <a:prstGeom prst="rect">
            <a:avLst/>
          </a:prstGeom>
          <a:noFill/>
        </p:spPr>
        <p:txBody>
          <a:bodyPr wrap="square">
            <a:spAutoFit/>
          </a:bodyPr>
          <a:lstStyle/>
          <a:p>
            <a:pPr algn="l">
              <a:defRPr sz="1800" b="0">
                <a:solidFill>
                  <a:srgbClr val="FFFFFF"/>
                </a:solidFill>
                <a:latin typeface="Segoe UI"/>
              </a:defRPr>
            </a:pPr>
            <a:r>
              <a:t>Auto-migration: new columns added transparently</a:t>
            </a:r>
          </a:p>
        </p:txBody>
      </p:sp>
      <p:sp>
        <p:nvSpPr>
          <p:cNvPr id="20" name="TextBox 19"/>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Backend: Flask API (20+ Endpoints)</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029200" cy="384048"/>
          </a:xfrm>
          <a:prstGeom prst="rect">
            <a:avLst/>
          </a:prstGeom>
          <a:noFill/>
        </p:spPr>
        <p:txBody>
          <a:bodyPr wrap="square">
            <a:spAutoFit/>
          </a:bodyPr>
          <a:lstStyle/>
          <a:p>
            <a:pPr algn="l">
              <a:defRPr sz="1700" b="0">
                <a:solidFill>
                  <a:srgbClr val="FFFFFF"/>
                </a:solidFill>
                <a:latin typeface="Segoe UI"/>
              </a:defRPr>
            </a:pPr>
            <a:r>
              <a:t>--- Authentication ---</a:t>
            </a:r>
          </a:p>
        </p:txBody>
      </p:sp>
      <p:sp>
        <p:nvSpPr>
          <p:cNvPr id="6" name="TextBox 5"/>
          <p:cNvSpPr txBox="1"/>
          <p:nvPr/>
        </p:nvSpPr>
        <p:spPr>
          <a:xfrm>
            <a:off x="731520" y="1828800"/>
            <a:ext cx="5029200" cy="384048"/>
          </a:xfrm>
          <a:prstGeom prst="rect">
            <a:avLst/>
          </a:prstGeom>
          <a:noFill/>
        </p:spPr>
        <p:txBody>
          <a:bodyPr wrap="square">
            <a:spAutoFit/>
          </a:bodyPr>
          <a:lstStyle/>
          <a:p>
            <a:pPr algn="l">
              <a:defRPr sz="1700" b="0">
                <a:solidFill>
                  <a:srgbClr val="FFFFFF"/>
                </a:solidFill>
                <a:latin typeface="Segoe UI"/>
              </a:defRPr>
            </a:pPr>
            <a:r>
              <a:t>POST /api/auth/register</a:t>
            </a:r>
          </a:p>
        </p:txBody>
      </p:sp>
      <p:sp>
        <p:nvSpPr>
          <p:cNvPr id="7" name="TextBox 6"/>
          <p:cNvSpPr txBox="1"/>
          <p:nvPr/>
        </p:nvSpPr>
        <p:spPr>
          <a:xfrm>
            <a:off x="731520" y="2194560"/>
            <a:ext cx="5029200" cy="384048"/>
          </a:xfrm>
          <a:prstGeom prst="rect">
            <a:avLst/>
          </a:prstGeom>
          <a:noFill/>
        </p:spPr>
        <p:txBody>
          <a:bodyPr wrap="square">
            <a:spAutoFit/>
          </a:bodyPr>
          <a:lstStyle/>
          <a:p>
            <a:pPr algn="l">
              <a:defRPr sz="1700" b="0">
                <a:solidFill>
                  <a:srgbClr val="FFFFFF"/>
                </a:solidFill>
                <a:latin typeface="Segoe UI"/>
              </a:defRPr>
            </a:pPr>
            <a:r>
              <a:t>POST /api/auth/login</a:t>
            </a:r>
          </a:p>
        </p:txBody>
      </p:sp>
      <p:sp>
        <p:nvSpPr>
          <p:cNvPr id="8" name="TextBox 7"/>
          <p:cNvSpPr txBox="1"/>
          <p:nvPr/>
        </p:nvSpPr>
        <p:spPr>
          <a:xfrm>
            <a:off x="731520" y="2560320"/>
            <a:ext cx="5029200" cy="384048"/>
          </a:xfrm>
          <a:prstGeom prst="rect">
            <a:avLst/>
          </a:prstGeom>
          <a:noFill/>
        </p:spPr>
        <p:txBody>
          <a:bodyPr wrap="square">
            <a:spAutoFit/>
          </a:bodyPr>
          <a:lstStyle/>
          <a:p>
            <a:pPr algn="l">
              <a:defRPr sz="1700" b="0">
                <a:solidFill>
                  <a:srgbClr val="FFFFFF"/>
                </a:solidFill>
                <a:latin typeface="Segoe UI"/>
              </a:defRPr>
            </a:pPr>
            <a:r>
              <a:t>POST /api/auth/logout</a:t>
            </a:r>
          </a:p>
        </p:txBody>
      </p:sp>
      <p:sp>
        <p:nvSpPr>
          <p:cNvPr id="9" name="TextBox 8"/>
          <p:cNvSpPr txBox="1"/>
          <p:nvPr/>
        </p:nvSpPr>
        <p:spPr>
          <a:xfrm>
            <a:off x="731520" y="2926080"/>
            <a:ext cx="5029200" cy="384048"/>
          </a:xfrm>
          <a:prstGeom prst="rect">
            <a:avLst/>
          </a:prstGeom>
          <a:noFill/>
        </p:spPr>
        <p:txBody>
          <a:bodyPr wrap="square">
            <a:spAutoFit/>
          </a:bodyPr>
          <a:lstStyle/>
          <a:p>
            <a:pPr algn="l">
              <a:defRPr sz="1700" b="0">
                <a:solidFill>
                  <a:srgbClr val="FFFFFF"/>
                </a:solidFill>
                <a:latin typeface="Segoe UI"/>
              </a:defRPr>
            </a:pPr>
            <a:r>
              <a:t>GET  /api/auth/me</a:t>
            </a:r>
          </a:p>
        </p:txBody>
      </p:sp>
      <p:sp>
        <p:nvSpPr>
          <p:cNvPr id="10" name="TextBox 9"/>
          <p:cNvSpPr txBox="1"/>
          <p:nvPr/>
        </p:nvSpPr>
        <p:spPr>
          <a:xfrm>
            <a:off x="731520" y="329184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11" name="TextBox 10"/>
          <p:cNvSpPr txBox="1"/>
          <p:nvPr/>
        </p:nvSpPr>
        <p:spPr>
          <a:xfrm>
            <a:off x="731520" y="3657600"/>
            <a:ext cx="5029200" cy="384048"/>
          </a:xfrm>
          <a:prstGeom prst="rect">
            <a:avLst/>
          </a:prstGeom>
          <a:noFill/>
        </p:spPr>
        <p:txBody>
          <a:bodyPr wrap="square">
            <a:spAutoFit/>
          </a:bodyPr>
          <a:lstStyle/>
          <a:p>
            <a:pPr algn="l">
              <a:defRPr sz="1700" b="0">
                <a:solidFill>
                  <a:srgbClr val="FFFFFF"/>
                </a:solidFill>
                <a:latin typeface="Segoe UI"/>
              </a:defRPr>
            </a:pPr>
            <a:r>
              <a:t>--- Sessions ---</a:t>
            </a:r>
          </a:p>
        </p:txBody>
      </p:sp>
      <p:sp>
        <p:nvSpPr>
          <p:cNvPr id="12" name="TextBox 11"/>
          <p:cNvSpPr txBox="1"/>
          <p:nvPr/>
        </p:nvSpPr>
        <p:spPr>
          <a:xfrm>
            <a:off x="731520" y="4023360"/>
            <a:ext cx="5029200" cy="384048"/>
          </a:xfrm>
          <a:prstGeom prst="rect">
            <a:avLst/>
          </a:prstGeom>
          <a:noFill/>
        </p:spPr>
        <p:txBody>
          <a:bodyPr wrap="square">
            <a:spAutoFit/>
          </a:bodyPr>
          <a:lstStyle/>
          <a:p>
            <a:pPr algn="l">
              <a:defRPr sz="1700" b="0">
                <a:solidFill>
                  <a:srgbClr val="FFFFFF"/>
                </a:solidFill>
                <a:latin typeface="Segoe UI"/>
              </a:defRPr>
            </a:pPr>
            <a:r>
              <a:t>POST /api/sessions (start)</a:t>
            </a:r>
          </a:p>
        </p:txBody>
      </p:sp>
      <p:sp>
        <p:nvSpPr>
          <p:cNvPr id="13" name="TextBox 12"/>
          <p:cNvSpPr txBox="1"/>
          <p:nvPr/>
        </p:nvSpPr>
        <p:spPr>
          <a:xfrm>
            <a:off x="731520" y="4389120"/>
            <a:ext cx="5029200" cy="384048"/>
          </a:xfrm>
          <a:prstGeom prst="rect">
            <a:avLst/>
          </a:prstGeom>
          <a:noFill/>
        </p:spPr>
        <p:txBody>
          <a:bodyPr wrap="square">
            <a:spAutoFit/>
          </a:bodyPr>
          <a:lstStyle/>
          <a:p>
            <a:pPr algn="l">
              <a:defRPr sz="1700" b="0">
                <a:solidFill>
                  <a:srgbClr val="FFFFFF"/>
                </a:solidFill>
                <a:latin typeface="Segoe UI"/>
              </a:defRPr>
            </a:pPr>
            <a:r>
              <a:t>PUT  /api/sessions/&lt;id&gt;/end</a:t>
            </a:r>
          </a:p>
        </p:txBody>
      </p:sp>
      <p:sp>
        <p:nvSpPr>
          <p:cNvPr id="14" name="TextBox 13"/>
          <p:cNvSpPr txBox="1"/>
          <p:nvPr/>
        </p:nvSpPr>
        <p:spPr>
          <a:xfrm>
            <a:off x="731520" y="4754880"/>
            <a:ext cx="5029200" cy="384048"/>
          </a:xfrm>
          <a:prstGeom prst="rect">
            <a:avLst/>
          </a:prstGeom>
          <a:noFill/>
        </p:spPr>
        <p:txBody>
          <a:bodyPr wrap="square">
            <a:spAutoFit/>
          </a:bodyPr>
          <a:lstStyle/>
          <a:p>
            <a:pPr algn="l">
              <a:defRPr sz="1700" b="0">
                <a:solidFill>
                  <a:srgbClr val="FFFFFF"/>
                </a:solidFill>
                <a:latin typeface="Segoe UI"/>
              </a:defRPr>
            </a:pPr>
            <a:r>
              <a:t>GET  /api/sessions (list)</a:t>
            </a:r>
          </a:p>
        </p:txBody>
      </p:sp>
      <p:sp>
        <p:nvSpPr>
          <p:cNvPr id="15" name="TextBox 14"/>
          <p:cNvSpPr txBox="1"/>
          <p:nvPr/>
        </p:nvSpPr>
        <p:spPr>
          <a:xfrm>
            <a:off x="731520" y="512064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16" name="TextBox 15"/>
          <p:cNvSpPr txBox="1"/>
          <p:nvPr/>
        </p:nvSpPr>
        <p:spPr>
          <a:xfrm>
            <a:off x="731520" y="5486400"/>
            <a:ext cx="5029200" cy="384048"/>
          </a:xfrm>
          <a:prstGeom prst="rect">
            <a:avLst/>
          </a:prstGeom>
          <a:noFill/>
        </p:spPr>
        <p:txBody>
          <a:bodyPr wrap="square">
            <a:spAutoFit/>
          </a:bodyPr>
          <a:lstStyle/>
          <a:p>
            <a:pPr algn="l">
              <a:defRPr sz="1700" b="0">
                <a:solidFill>
                  <a:srgbClr val="FFFFFF"/>
                </a:solidFill>
                <a:latin typeface="Segoe UI"/>
              </a:defRPr>
            </a:pPr>
            <a:r>
              <a:t>--- Detection &amp; Feedback ---</a:t>
            </a:r>
          </a:p>
        </p:txBody>
      </p:sp>
      <p:sp>
        <p:nvSpPr>
          <p:cNvPr id="17" name="TextBox 16"/>
          <p:cNvSpPr txBox="1"/>
          <p:nvPr/>
        </p:nvSpPr>
        <p:spPr>
          <a:xfrm>
            <a:off x="731520" y="5852160"/>
            <a:ext cx="5029200" cy="384048"/>
          </a:xfrm>
          <a:prstGeom prst="rect">
            <a:avLst/>
          </a:prstGeom>
          <a:noFill/>
        </p:spPr>
        <p:txBody>
          <a:bodyPr wrap="square">
            <a:spAutoFit/>
          </a:bodyPr>
          <a:lstStyle/>
          <a:p>
            <a:pPr algn="l">
              <a:defRPr sz="1700" b="0">
                <a:solidFill>
                  <a:srgbClr val="FFFFFF"/>
                </a:solidFill>
                <a:latin typeface="Segoe UI"/>
              </a:defRPr>
            </a:pPr>
            <a:r>
              <a:t>POST /api/detections</a:t>
            </a:r>
          </a:p>
        </p:txBody>
      </p:sp>
      <p:sp>
        <p:nvSpPr>
          <p:cNvPr id="18" name="TextBox 17"/>
          <p:cNvSpPr txBox="1"/>
          <p:nvPr/>
        </p:nvSpPr>
        <p:spPr>
          <a:xfrm>
            <a:off x="731520" y="6217920"/>
            <a:ext cx="5029200" cy="384048"/>
          </a:xfrm>
          <a:prstGeom prst="rect">
            <a:avLst/>
          </a:prstGeom>
          <a:noFill/>
        </p:spPr>
        <p:txBody>
          <a:bodyPr wrap="square">
            <a:spAutoFit/>
          </a:bodyPr>
          <a:lstStyle/>
          <a:p>
            <a:pPr algn="l">
              <a:defRPr sz="1700" b="0">
                <a:solidFill>
                  <a:srgbClr val="FFFFFF"/>
                </a:solidFill>
                <a:latin typeface="Segoe UI"/>
              </a:defRPr>
            </a:pPr>
            <a:r>
              <a:t>POST /api/feedback</a:t>
            </a:r>
          </a:p>
        </p:txBody>
      </p:sp>
      <p:sp>
        <p:nvSpPr>
          <p:cNvPr id="19" name="TextBox 18"/>
          <p:cNvSpPr txBox="1"/>
          <p:nvPr/>
        </p:nvSpPr>
        <p:spPr>
          <a:xfrm>
            <a:off x="6217920" y="1463040"/>
            <a:ext cx="5029200" cy="384048"/>
          </a:xfrm>
          <a:prstGeom prst="rect">
            <a:avLst/>
          </a:prstGeom>
          <a:noFill/>
        </p:spPr>
        <p:txBody>
          <a:bodyPr wrap="square">
            <a:spAutoFit/>
          </a:bodyPr>
          <a:lstStyle/>
          <a:p>
            <a:pPr algn="l">
              <a:defRPr sz="1700" b="0">
                <a:solidFill>
                  <a:srgbClr val="FFFFFF"/>
                </a:solidFill>
                <a:latin typeface="Segoe UI"/>
              </a:defRPr>
            </a:pPr>
            <a:r>
              <a:t>--- ML Inference ---</a:t>
            </a:r>
          </a:p>
        </p:txBody>
      </p:sp>
      <p:sp>
        <p:nvSpPr>
          <p:cNvPr id="20" name="TextBox 19"/>
          <p:cNvSpPr txBox="1"/>
          <p:nvPr/>
        </p:nvSpPr>
        <p:spPr>
          <a:xfrm>
            <a:off x="6217920" y="1828800"/>
            <a:ext cx="5029200" cy="384048"/>
          </a:xfrm>
          <a:prstGeom prst="rect">
            <a:avLst/>
          </a:prstGeom>
          <a:noFill/>
        </p:spPr>
        <p:txBody>
          <a:bodyPr wrap="square">
            <a:spAutoFit/>
          </a:bodyPr>
          <a:lstStyle/>
          <a:p>
            <a:pPr algn="l">
              <a:defRPr sz="1700" b="0">
                <a:solidFill>
                  <a:srgbClr val="FFFFFF"/>
                </a:solidFill>
                <a:latin typeface="Segoe UI"/>
              </a:defRPr>
            </a:pPr>
            <a:r>
              <a:t>POST /api/predict (HTTP)</a:t>
            </a:r>
          </a:p>
        </p:txBody>
      </p:sp>
      <p:sp>
        <p:nvSpPr>
          <p:cNvPr id="21" name="TextBox 20"/>
          <p:cNvSpPr txBox="1"/>
          <p:nvPr/>
        </p:nvSpPr>
        <p:spPr>
          <a:xfrm>
            <a:off x="6217920" y="2194560"/>
            <a:ext cx="5029200" cy="384048"/>
          </a:xfrm>
          <a:prstGeom prst="rect">
            <a:avLst/>
          </a:prstGeom>
          <a:noFill/>
        </p:spPr>
        <p:txBody>
          <a:bodyPr wrap="square">
            <a:spAutoFit/>
          </a:bodyPr>
          <a:lstStyle/>
          <a:p>
            <a:pPr algn="l">
              <a:defRPr sz="1700" b="0">
                <a:solidFill>
                  <a:srgbClr val="FFFFFF"/>
                </a:solidFill>
                <a:latin typeface="Segoe UI"/>
              </a:defRPr>
            </a:pPr>
            <a:r>
              <a:t>WS predict_frame (WebSocket)</a:t>
            </a:r>
          </a:p>
        </p:txBody>
      </p:sp>
      <p:sp>
        <p:nvSpPr>
          <p:cNvPr id="22" name="TextBox 21"/>
          <p:cNvSpPr txBox="1"/>
          <p:nvPr/>
        </p:nvSpPr>
        <p:spPr>
          <a:xfrm>
            <a:off x="6217920" y="2560320"/>
            <a:ext cx="5029200" cy="384048"/>
          </a:xfrm>
          <a:prstGeom prst="rect">
            <a:avLst/>
          </a:prstGeom>
          <a:noFill/>
        </p:spPr>
        <p:txBody>
          <a:bodyPr wrap="square">
            <a:spAutoFit/>
          </a:bodyPr>
          <a:lstStyle/>
          <a:p>
            <a:pPr algn="l">
              <a:defRPr sz="1700" b="0">
                <a:solidFill>
                  <a:srgbClr val="FFFFFF"/>
                </a:solidFill>
                <a:latin typeface="Segoe UI"/>
              </a:defRPr>
            </a:pPr>
            <a:r>
              <a:t>POST /api/calibrate</a:t>
            </a:r>
          </a:p>
        </p:txBody>
      </p:sp>
      <p:sp>
        <p:nvSpPr>
          <p:cNvPr id="23" name="TextBox 22"/>
          <p:cNvSpPr txBox="1"/>
          <p:nvPr/>
        </p:nvSpPr>
        <p:spPr>
          <a:xfrm>
            <a:off x="6217920" y="292608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24" name="TextBox 23"/>
          <p:cNvSpPr txBox="1"/>
          <p:nvPr/>
        </p:nvSpPr>
        <p:spPr>
          <a:xfrm>
            <a:off x="6217920" y="3291840"/>
            <a:ext cx="5029200" cy="384048"/>
          </a:xfrm>
          <a:prstGeom prst="rect">
            <a:avLst/>
          </a:prstGeom>
          <a:noFill/>
        </p:spPr>
        <p:txBody>
          <a:bodyPr wrap="square">
            <a:spAutoFit/>
          </a:bodyPr>
          <a:lstStyle/>
          <a:p>
            <a:pPr algn="l">
              <a:defRPr sz="1700" b="0">
                <a:solidFill>
                  <a:srgbClr val="FFFFFF"/>
                </a:solidFill>
                <a:latin typeface="Segoe UI"/>
              </a:defRPr>
            </a:pPr>
            <a:r>
              <a:t>--- Analytics ---</a:t>
            </a:r>
          </a:p>
        </p:txBody>
      </p:sp>
      <p:sp>
        <p:nvSpPr>
          <p:cNvPr id="25" name="TextBox 24"/>
          <p:cNvSpPr txBox="1"/>
          <p:nvPr/>
        </p:nvSpPr>
        <p:spPr>
          <a:xfrm>
            <a:off x="6217920" y="3657600"/>
            <a:ext cx="5029200" cy="384048"/>
          </a:xfrm>
          <a:prstGeom prst="rect">
            <a:avLst/>
          </a:prstGeom>
          <a:noFill/>
        </p:spPr>
        <p:txBody>
          <a:bodyPr wrap="square">
            <a:spAutoFit/>
          </a:bodyPr>
          <a:lstStyle/>
          <a:p>
            <a:pPr algn="l">
              <a:defRPr sz="1700" b="0">
                <a:solidFill>
                  <a:srgbClr val="FFFFFF"/>
                </a:solidFill>
                <a:latin typeface="Segoe UI"/>
              </a:defRPr>
            </a:pPr>
            <a:r>
              <a:t>GET /api/stats/overview</a:t>
            </a:r>
          </a:p>
        </p:txBody>
      </p:sp>
      <p:sp>
        <p:nvSpPr>
          <p:cNvPr id="26" name="TextBox 25"/>
          <p:cNvSpPr txBox="1"/>
          <p:nvPr/>
        </p:nvSpPr>
        <p:spPr>
          <a:xfrm>
            <a:off x="6217920" y="4023360"/>
            <a:ext cx="5029200" cy="384048"/>
          </a:xfrm>
          <a:prstGeom prst="rect">
            <a:avLst/>
          </a:prstGeom>
          <a:noFill/>
        </p:spPr>
        <p:txBody>
          <a:bodyPr wrap="square">
            <a:spAutoFit/>
          </a:bodyPr>
          <a:lstStyle/>
          <a:p>
            <a:pPr algn="l">
              <a:defRPr sz="1700" b="0">
                <a:solidFill>
                  <a:srgbClr val="FFFFFF"/>
                </a:solidFill>
                <a:latin typeface="Segoe UI"/>
              </a:defRPr>
            </a:pPr>
            <a:r>
              <a:t>GET /api/stats/daily</a:t>
            </a:r>
          </a:p>
        </p:txBody>
      </p:sp>
      <p:sp>
        <p:nvSpPr>
          <p:cNvPr id="27" name="TextBox 26"/>
          <p:cNvSpPr txBox="1"/>
          <p:nvPr/>
        </p:nvSpPr>
        <p:spPr>
          <a:xfrm>
            <a:off x="6217920" y="4389120"/>
            <a:ext cx="5029200" cy="384048"/>
          </a:xfrm>
          <a:prstGeom prst="rect">
            <a:avLst/>
          </a:prstGeom>
          <a:noFill/>
        </p:spPr>
        <p:txBody>
          <a:bodyPr wrap="square">
            <a:spAutoFit/>
          </a:bodyPr>
          <a:lstStyle/>
          <a:p>
            <a:pPr algn="l">
              <a:defRPr sz="1700" b="0">
                <a:solidFill>
                  <a:srgbClr val="FFFFFF"/>
                </a:solidFill>
                <a:latin typeface="Segoe UI"/>
              </a:defRPr>
            </a:pPr>
            <a:r>
              <a:t>GET /api/stats/trends</a:t>
            </a:r>
          </a:p>
        </p:txBody>
      </p:sp>
      <p:sp>
        <p:nvSpPr>
          <p:cNvPr id="28" name="TextBox 27"/>
          <p:cNvSpPr txBox="1"/>
          <p:nvPr/>
        </p:nvSpPr>
        <p:spPr>
          <a:xfrm>
            <a:off x="6217920" y="4754880"/>
            <a:ext cx="5029200" cy="384048"/>
          </a:xfrm>
          <a:prstGeom prst="rect">
            <a:avLst/>
          </a:prstGeom>
          <a:noFill/>
        </p:spPr>
        <p:txBody>
          <a:bodyPr wrap="square">
            <a:spAutoFit/>
          </a:bodyPr>
          <a:lstStyle/>
          <a:p>
            <a:pPr algn="l">
              <a:defRPr sz="1700" b="0">
                <a:solidFill>
                  <a:srgbClr val="FFFFFF"/>
                </a:solidFill>
                <a:latin typeface="Segoe UI"/>
              </a:defRPr>
            </a:pPr>
            <a:r>
              <a:t>GET /api/bouts/&lt;sid&gt;</a:t>
            </a:r>
          </a:p>
        </p:txBody>
      </p:sp>
      <p:sp>
        <p:nvSpPr>
          <p:cNvPr id="29" name="TextBox 28"/>
          <p:cNvSpPr txBox="1"/>
          <p:nvPr/>
        </p:nvSpPr>
        <p:spPr>
          <a:xfrm>
            <a:off x="6217920" y="512064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30" name="TextBox 29"/>
          <p:cNvSpPr txBox="1"/>
          <p:nvPr/>
        </p:nvSpPr>
        <p:spPr>
          <a:xfrm>
            <a:off x="6217920" y="5486400"/>
            <a:ext cx="5029200" cy="384048"/>
          </a:xfrm>
          <a:prstGeom prst="rect">
            <a:avLst/>
          </a:prstGeom>
          <a:noFill/>
        </p:spPr>
        <p:txBody>
          <a:bodyPr wrap="square">
            <a:spAutoFit/>
          </a:bodyPr>
          <a:lstStyle/>
          <a:p>
            <a:pPr algn="l">
              <a:defRPr sz="1700" b="0">
                <a:solidFill>
                  <a:srgbClr val="FFFFFF"/>
                </a:solidFill>
                <a:latin typeface="Segoe UI"/>
              </a:defRPr>
            </a:pPr>
            <a:r>
              <a:t>--- Research ---</a:t>
            </a:r>
          </a:p>
        </p:txBody>
      </p:sp>
      <p:sp>
        <p:nvSpPr>
          <p:cNvPr id="31" name="TextBox 30"/>
          <p:cNvSpPr txBox="1"/>
          <p:nvPr/>
        </p:nvSpPr>
        <p:spPr>
          <a:xfrm>
            <a:off x="6217920" y="5852160"/>
            <a:ext cx="5029200" cy="384048"/>
          </a:xfrm>
          <a:prstGeom prst="rect">
            <a:avLst/>
          </a:prstGeom>
          <a:noFill/>
        </p:spPr>
        <p:txBody>
          <a:bodyPr wrap="square">
            <a:spAutoFit/>
          </a:bodyPr>
          <a:lstStyle/>
          <a:p>
            <a:pPr algn="l">
              <a:defRPr sz="1700" b="0">
                <a:solidFill>
                  <a:srgbClr val="FFFFFF"/>
                </a:solidFill>
                <a:latin typeface="Segoe UI"/>
              </a:defRPr>
            </a:pPr>
            <a:r>
              <a:t>POST /api/pilot/start</a:t>
            </a:r>
          </a:p>
        </p:txBody>
      </p:sp>
      <p:sp>
        <p:nvSpPr>
          <p:cNvPr id="32" name="TextBox 31"/>
          <p:cNvSpPr txBox="1"/>
          <p:nvPr/>
        </p:nvSpPr>
        <p:spPr>
          <a:xfrm>
            <a:off x="6217920" y="6217920"/>
            <a:ext cx="5029200" cy="384048"/>
          </a:xfrm>
          <a:prstGeom prst="rect">
            <a:avLst/>
          </a:prstGeom>
          <a:noFill/>
        </p:spPr>
        <p:txBody>
          <a:bodyPr wrap="square">
            <a:spAutoFit/>
          </a:bodyPr>
          <a:lstStyle/>
          <a:p>
            <a:pPr algn="l">
              <a:defRPr sz="1700" b="0">
                <a:solidFill>
                  <a:srgbClr val="FFFFFF"/>
                </a:solidFill>
                <a:latin typeface="Segoe UI"/>
              </a:defRPr>
            </a:pPr>
            <a:r>
              <a:t>GET /api/export/session/&lt;sid&gt;</a:t>
            </a:r>
          </a:p>
        </p:txBody>
      </p:sp>
      <p:sp>
        <p:nvSpPr>
          <p:cNvPr id="33" name="TextBox 32"/>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ML Pipeline: Feature Engineering &amp; Classification</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Training Data: Kaggle CMI 'Detect Behavior with Sensor Data'</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80 participants wearing wrist sensors | 574,945 readings</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18 gesture types (8 BFRB-like + 10 normal controls)</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9" name="TextBox 8"/>
          <p:cNvSpPr txBox="1"/>
          <p:nvPr/>
        </p:nvSpPr>
        <p:spPr>
          <a:xfrm>
            <a:off x="914400" y="3026664"/>
            <a:ext cx="9601200" cy="457200"/>
          </a:xfrm>
          <a:prstGeom prst="rect">
            <a:avLst/>
          </a:prstGeom>
          <a:noFill/>
        </p:spPr>
        <p:txBody>
          <a:bodyPr wrap="square">
            <a:spAutoFit/>
          </a:bodyPr>
          <a:lstStyle/>
          <a:p>
            <a:pPr algn="l">
              <a:defRPr sz="2000" b="1">
                <a:solidFill>
                  <a:srgbClr val="D4880F"/>
                </a:solidFill>
                <a:latin typeface="Segoe UI"/>
              </a:defRPr>
            </a:pPr>
            <a:r>
              <a:t>16 Semantic Features (bridging sensors -&gt; camera)</a:t>
            </a:r>
          </a:p>
        </p:txBody>
      </p:sp>
      <p:sp>
        <p:nvSpPr>
          <p:cNvPr id="10" name="TextBox 9"/>
          <p:cNvSpPr txBox="1"/>
          <p:nvPr/>
        </p:nvSpPr>
        <p:spPr>
          <a:xfrm>
            <a:off x="1097280" y="3438144"/>
            <a:ext cx="9601200" cy="411480"/>
          </a:xfrm>
          <a:prstGeom prst="rect">
            <a:avLst/>
          </a:prstGeom>
          <a:noFill/>
        </p:spPr>
        <p:txBody>
          <a:bodyPr wrap="square">
            <a:spAutoFit/>
          </a:bodyPr>
          <a:lstStyle/>
          <a:p>
            <a:pPr algn="l">
              <a:defRPr sz="1800" b="0">
                <a:solidFill>
                  <a:srgbClr val="FFFFFF"/>
                </a:solidFill>
                <a:latin typeface="Segoe UI"/>
              </a:defRPr>
            </a:pPr>
            <a:r>
              <a:t>Accelerometer -&gt; wrist velocity (mean, std, max)</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Gyroscope -&gt; palm rotation dynamics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Thermopile -&gt; hand-face overlap fraction</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Time-of-Flight -&gt; 5 anatomical distances (nose, mouth, cheek, forehead, chin)</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58384"/>
            <a:ext cx="9601200" cy="457200"/>
          </a:xfrm>
          <a:prstGeom prst="rect">
            <a:avLst/>
          </a:prstGeom>
          <a:noFill/>
        </p:spPr>
        <p:txBody>
          <a:bodyPr wrap="square">
            <a:spAutoFit/>
          </a:bodyPr>
          <a:lstStyle/>
          <a:p>
            <a:pPr algn="l">
              <a:defRPr sz="2000" b="1">
                <a:solidFill>
                  <a:srgbClr val="D4880F"/>
                </a:solidFill>
                <a:latin typeface="Segoe UI"/>
              </a:defRPr>
            </a:pPr>
            <a:r>
              <a:t>Model: Random Forest (200 estimators)</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5-fold cross-validation | Macro F1 evaluation</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MinMaxScaler normalization [0, 1]</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9" name="TextBox 18"/>
          <p:cNvSpPr txBox="1"/>
          <p:nvPr/>
        </p:nvSpPr>
        <p:spPr>
          <a:xfrm>
            <a:off x="914400" y="6922008"/>
            <a:ext cx="9601200" cy="457200"/>
          </a:xfrm>
          <a:prstGeom prst="rect">
            <a:avLst/>
          </a:prstGeom>
          <a:noFill/>
        </p:spPr>
        <p:txBody>
          <a:bodyPr wrap="square">
            <a:spAutoFit/>
          </a:bodyPr>
          <a:lstStyle/>
          <a:p>
            <a:pPr algn="l">
              <a:defRPr sz="2000" b="1">
                <a:solidFill>
                  <a:srgbClr val="D4880F"/>
                </a:solidFill>
                <a:latin typeface="Segoe UI"/>
              </a:defRPr>
            </a:pPr>
            <a:r>
              <a:t>Late Multimodal Fusion</a:t>
            </a:r>
          </a:p>
        </p:txBody>
      </p:sp>
      <p:sp>
        <p:nvSpPr>
          <p:cNvPr id="20" name="TextBox 19"/>
          <p:cNvSpPr txBox="1"/>
          <p:nvPr/>
        </p:nvSpPr>
        <p:spPr>
          <a:xfrm>
            <a:off x="1097280" y="7333488"/>
            <a:ext cx="9601200" cy="411480"/>
          </a:xfrm>
          <a:prstGeom prst="rect">
            <a:avLst/>
          </a:prstGeom>
          <a:noFill/>
        </p:spPr>
        <p:txBody>
          <a:bodyPr wrap="square">
            <a:spAutoFit/>
          </a:bodyPr>
          <a:lstStyle/>
          <a:p>
            <a:pPr algn="l">
              <a:defRPr sz="1800" b="0">
                <a:solidFill>
                  <a:srgbClr val="FFFFFF"/>
                </a:solidFill>
                <a:latin typeface="Segoe UI"/>
              </a:defRPr>
            </a:pPr>
            <a:r>
              <a:t>fused_score = 0.6 x ML_score + 0.4 x rule_score</a:t>
            </a:r>
          </a:p>
        </p:txBody>
      </p:sp>
      <p:sp>
        <p:nvSpPr>
          <p:cNvPr id="21" name="TextBox 20"/>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Detection Pipeline (9-Stage)</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9601200" cy="411480"/>
          </a:xfrm>
          <a:prstGeom prst="rect">
            <a:avLst/>
          </a:prstGeom>
          <a:noFill/>
        </p:spPr>
        <p:txBody>
          <a:bodyPr wrap="square">
            <a:spAutoFit/>
          </a:bodyPr>
          <a:lstStyle/>
          <a:p>
            <a:pPr algn="l">
              <a:defRPr sz="1800" b="0">
                <a:solidFill>
                  <a:srgbClr val="FFFFFF"/>
                </a:solidFill>
                <a:latin typeface="Segoe UI"/>
              </a:defRPr>
            </a:pPr>
            <a:r>
              <a:t>1. One Euro Filter - adaptive low-pass smoothing on all landmarks</a:t>
            </a:r>
          </a:p>
        </p:txBody>
      </p:sp>
      <p:sp>
        <p:nvSpPr>
          <p:cNvPr id="6" name="TextBox 5"/>
          <p:cNvSpPr txBox="1"/>
          <p:nvPr/>
        </p:nvSpPr>
        <p:spPr>
          <a:xfrm>
            <a:off x="1097280" y="1847088"/>
            <a:ext cx="9601200" cy="411480"/>
          </a:xfrm>
          <a:prstGeom prst="rect">
            <a:avLst/>
          </a:prstGeom>
          <a:noFill/>
        </p:spPr>
        <p:txBody>
          <a:bodyPr wrap="square">
            <a:spAutoFit/>
          </a:bodyPr>
          <a:lstStyle/>
          <a:p>
            <a:pPr algn="l">
              <a:defRPr sz="1800" b="0">
                <a:solidFill>
                  <a:srgbClr val="FFFFFF"/>
                </a:solidFill>
                <a:latin typeface="Segoe UI"/>
              </a:defRPr>
            </a:pPr>
            <a:r>
              <a:t>2. Multi-Zone Face Detection - 13 anatomical regions with centroids</a:t>
            </a:r>
          </a:p>
        </p:txBody>
      </p:sp>
      <p:sp>
        <p:nvSpPr>
          <p:cNvPr id="7" name="TextBox 6"/>
          <p:cNvSpPr txBox="1"/>
          <p:nvPr/>
        </p:nvSpPr>
        <p:spPr>
          <a:xfrm>
            <a:off x="1097280" y="2231136"/>
            <a:ext cx="9601200" cy="411480"/>
          </a:xfrm>
          <a:prstGeom prst="rect">
            <a:avLst/>
          </a:prstGeom>
          <a:noFill/>
        </p:spPr>
        <p:txBody>
          <a:bodyPr wrap="square">
            <a:spAutoFit/>
          </a:bodyPr>
          <a:lstStyle/>
          <a:p>
            <a:pPr algn="l">
              <a:defRPr sz="1800" b="0">
                <a:solidFill>
                  <a:srgbClr val="FFFFFF"/>
                </a:solidFill>
                <a:latin typeface="Segoe UI"/>
              </a:defRPr>
            </a:pPr>
            <a:r>
              <a:t>3. Hand Pose Classifier - pinch_grip / fist / pointing / open_hand / curled</a:t>
            </a:r>
          </a:p>
        </p:txBody>
      </p:sp>
      <p:sp>
        <p:nvSpPr>
          <p:cNvPr id="8" name="TextBox 7"/>
          <p:cNvSpPr txBox="1"/>
          <p:nvPr/>
        </p:nvSpPr>
        <p:spPr>
          <a:xfrm>
            <a:off x="1097280" y="2615184"/>
            <a:ext cx="9601200" cy="411480"/>
          </a:xfrm>
          <a:prstGeom prst="rect">
            <a:avLst/>
          </a:prstGeom>
          <a:noFill/>
        </p:spPr>
        <p:txBody>
          <a:bodyPr wrap="square">
            <a:spAutoFit/>
          </a:bodyPr>
          <a:lstStyle/>
          <a:p>
            <a:pPr algn="l">
              <a:defRPr sz="1800" b="0">
                <a:solidFill>
                  <a:srgbClr val="FFFFFF"/>
                </a:solidFill>
                <a:latin typeface="Segoe UI"/>
              </a:defRPr>
            </a:pPr>
            <a:r>
              <a:t>4. 4-State Rule Engine - IDLE -&gt; PROXIMITY -&gt; DWELL -&gt; BFRB</a:t>
            </a:r>
          </a:p>
        </p:txBody>
      </p:sp>
      <p:sp>
        <p:nvSpPr>
          <p:cNvPr id="9" name="TextBox 8"/>
          <p:cNvSpPr txBox="1"/>
          <p:nvPr/>
        </p:nvSpPr>
        <p:spPr>
          <a:xfrm>
            <a:off x="1097280" y="2999232"/>
            <a:ext cx="9601200" cy="411480"/>
          </a:xfrm>
          <a:prstGeom prst="rect">
            <a:avLst/>
          </a:prstGeom>
          <a:noFill/>
        </p:spPr>
        <p:txBody>
          <a:bodyPr wrap="square">
            <a:spAutoFit/>
          </a:bodyPr>
          <a:lstStyle/>
          <a:p>
            <a:pPr algn="l">
              <a:defRPr sz="1800" b="0">
                <a:solidFill>
                  <a:srgbClr val="FFFFFF"/>
                </a:solidFill>
                <a:latin typeface="Segoe UI"/>
              </a:defRPr>
            </a:pPr>
            <a:r>
              <a:t>5. Multi-Signal BFRB Score - 11 weighted factors (proximity, dwell, curl...)</a:t>
            </a:r>
          </a:p>
        </p:txBody>
      </p:sp>
      <p:sp>
        <p:nvSpPr>
          <p:cNvPr id="10" name="TextBox 9"/>
          <p:cNvSpPr txBox="1"/>
          <p:nvPr/>
        </p:nvSpPr>
        <p:spPr>
          <a:xfrm>
            <a:off x="1097280" y="3383280"/>
            <a:ext cx="9601200" cy="411480"/>
          </a:xfrm>
          <a:prstGeom prst="rect">
            <a:avLst/>
          </a:prstGeom>
          <a:noFill/>
        </p:spPr>
        <p:txBody>
          <a:bodyPr wrap="square">
            <a:spAutoFit/>
          </a:bodyPr>
          <a:lstStyle/>
          <a:p>
            <a:pPr algn="l">
              <a:defRPr sz="1800" b="0">
                <a:solidFill>
                  <a:srgbClr val="FFFFFF"/>
                </a:solidFill>
                <a:latin typeface="Segoe UI"/>
              </a:defRPr>
            </a:pPr>
            <a:r>
              <a:t>6. ML Classifier - 16-feature Random Forest, 1.5s sliding window</a:t>
            </a:r>
          </a:p>
        </p:txBody>
      </p:sp>
      <p:sp>
        <p:nvSpPr>
          <p:cNvPr id="11" name="TextBox 10"/>
          <p:cNvSpPr txBox="1"/>
          <p:nvPr/>
        </p:nvSpPr>
        <p:spPr>
          <a:xfrm>
            <a:off x="1097280" y="3767328"/>
            <a:ext cx="9601200" cy="411480"/>
          </a:xfrm>
          <a:prstGeom prst="rect">
            <a:avLst/>
          </a:prstGeom>
          <a:noFill/>
        </p:spPr>
        <p:txBody>
          <a:bodyPr wrap="square">
            <a:spAutoFit/>
          </a:bodyPr>
          <a:lstStyle/>
          <a:p>
            <a:pPr algn="l">
              <a:defRPr sz="1800" b="0">
                <a:solidFill>
                  <a:srgbClr val="FFFFFF"/>
                </a:solidFill>
                <a:latin typeface="Segoe UI"/>
              </a:defRPr>
            </a:pPr>
            <a:r>
              <a:t>7. Late Fusion - combines ML + rule scores (0.6/0.4 split)</a:t>
            </a:r>
          </a:p>
        </p:txBody>
      </p:sp>
      <p:sp>
        <p:nvSpPr>
          <p:cNvPr id="12" name="TextBox 11"/>
          <p:cNvSpPr txBox="1"/>
          <p:nvPr/>
        </p:nvSpPr>
        <p:spPr>
          <a:xfrm>
            <a:off x="1097280" y="4151376"/>
            <a:ext cx="9601200" cy="411480"/>
          </a:xfrm>
          <a:prstGeom prst="rect">
            <a:avLst/>
          </a:prstGeom>
          <a:noFill/>
        </p:spPr>
        <p:txBody>
          <a:bodyPr wrap="square">
            <a:spAutoFit/>
          </a:bodyPr>
          <a:lstStyle/>
          <a:p>
            <a:pPr algn="l">
              <a:defRPr sz="1800" b="0">
                <a:solidFill>
                  <a:srgbClr val="FFFFFF"/>
                </a:solidFill>
                <a:latin typeface="Segoe UI"/>
              </a:defRPr>
            </a:pPr>
            <a:r>
              <a:t>8. Adaptive Threshold - per-session calibration (baseline vs touch distance)</a:t>
            </a:r>
          </a:p>
        </p:txBody>
      </p:sp>
      <p:sp>
        <p:nvSpPr>
          <p:cNvPr id="13" name="TextBox 12"/>
          <p:cNvSpPr txBox="1"/>
          <p:nvPr/>
        </p:nvSpPr>
        <p:spPr>
          <a:xfrm>
            <a:off x="1097280" y="4535424"/>
            <a:ext cx="9601200" cy="411480"/>
          </a:xfrm>
          <a:prstGeom prst="rect">
            <a:avLst/>
          </a:prstGeom>
          <a:noFill/>
        </p:spPr>
        <p:txBody>
          <a:bodyPr wrap="square">
            <a:spAutoFit/>
          </a:bodyPr>
          <a:lstStyle/>
          <a:p>
            <a:pPr algn="l">
              <a:defRPr sz="1800" b="0">
                <a:solidFill>
                  <a:srgbClr val="FFFFFF"/>
                </a:solidFill>
                <a:latin typeface="Segoe UI"/>
              </a:defRPr>
            </a:pPr>
            <a:r>
              <a:t>9. IEEE Telemetry - per-frame structured logging for reproducibility</a:t>
            </a:r>
          </a:p>
        </p:txBody>
      </p:sp>
      <p:sp>
        <p:nvSpPr>
          <p:cNvPr id="14" name="TextBox 13"/>
          <p:cNvSpPr txBox="1"/>
          <p:nvPr/>
        </p:nvSpPr>
        <p:spPr>
          <a:xfrm>
            <a:off x="1097280" y="4919472"/>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03520"/>
            <a:ext cx="9601200" cy="457200"/>
          </a:xfrm>
          <a:prstGeom prst="rect">
            <a:avLst/>
          </a:prstGeom>
          <a:noFill/>
        </p:spPr>
        <p:txBody>
          <a:bodyPr wrap="square">
            <a:spAutoFit/>
          </a:bodyPr>
          <a:lstStyle/>
          <a:p>
            <a:pPr algn="l">
              <a:defRPr sz="2000" b="1">
                <a:solidFill>
                  <a:srgbClr val="D4880F"/>
                </a:solidFill>
                <a:latin typeface="Segoe UI"/>
              </a:defRPr>
            </a:pPr>
            <a:r>
              <a:t>False Positive Filters</a:t>
            </a:r>
          </a:p>
        </p:txBody>
      </p:sp>
      <p:sp>
        <p:nvSpPr>
          <p:cNvPr id="16" name="TextBox 15"/>
          <p:cNvSpPr txBox="1"/>
          <p:nvPr/>
        </p:nvSpPr>
        <p:spPr>
          <a:xfrm>
            <a:off x="1097280" y="5715000"/>
            <a:ext cx="9601200" cy="411480"/>
          </a:xfrm>
          <a:prstGeom prst="rect">
            <a:avLst/>
          </a:prstGeom>
          <a:noFill/>
        </p:spPr>
        <p:txBody>
          <a:bodyPr wrap="square">
            <a:spAutoFit/>
          </a:bodyPr>
          <a:lstStyle/>
          <a:p>
            <a:pPr algn="l">
              <a:defRPr sz="1800" b="0">
                <a:solidFill>
                  <a:srgbClr val="FFFFFF"/>
                </a:solidFill>
                <a:latin typeface="Segoe UI"/>
              </a:defRPr>
            </a:pPr>
            <a:r>
              <a:t>Eating detection (mouth wide open + hand near mouth + open palm)</a:t>
            </a:r>
          </a:p>
        </p:txBody>
      </p:sp>
      <p:sp>
        <p:nvSpPr>
          <p:cNvPr id="17" name="TextBox 16"/>
          <p:cNvSpPr txBox="1"/>
          <p:nvPr/>
        </p:nvSpPr>
        <p:spPr>
          <a:xfrm>
            <a:off x="1097280" y="6099048"/>
            <a:ext cx="9601200" cy="411480"/>
          </a:xfrm>
          <a:prstGeom prst="rect">
            <a:avLst/>
          </a:prstGeom>
          <a:noFill/>
        </p:spPr>
        <p:txBody>
          <a:bodyPr wrap="square">
            <a:spAutoFit/>
          </a:bodyPr>
          <a:lstStyle/>
          <a:p>
            <a:pPr algn="l">
              <a:defRPr sz="1800" b="0">
                <a:solidFill>
                  <a:srgbClr val="FFFFFF"/>
                </a:solidFill>
                <a:latin typeface="Segoe UI"/>
              </a:defRPr>
            </a:pPr>
            <a:r>
              <a:t>Resting detection (static hand + open palm + no recent BFRB history)</a:t>
            </a:r>
          </a:p>
        </p:txBody>
      </p:sp>
      <p:sp>
        <p:nvSpPr>
          <p:cNvPr id="18" name="TextBox 17"/>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Frontend: Professional Web Dashboard</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Clean White + Dark Blue Professional Theme</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Responsive design (desktop + tablet)</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Real-time video feed with landmark overlays</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9" name="TextBox 8"/>
          <p:cNvSpPr txBox="1"/>
          <p:nvPr/>
        </p:nvSpPr>
        <p:spPr>
          <a:xfrm>
            <a:off x="914400" y="3026664"/>
            <a:ext cx="9601200" cy="457200"/>
          </a:xfrm>
          <a:prstGeom prst="rect">
            <a:avLst/>
          </a:prstGeom>
          <a:noFill/>
        </p:spPr>
        <p:txBody>
          <a:bodyPr wrap="square">
            <a:spAutoFit/>
          </a:bodyPr>
          <a:lstStyle/>
          <a:p>
            <a:pPr algn="l">
              <a:defRPr sz="2000" b="1">
                <a:solidFill>
                  <a:srgbClr val="D4880F"/>
                </a:solidFill>
                <a:latin typeface="Segoe UI"/>
              </a:defRPr>
            </a:pPr>
            <a:r>
              <a:t>Three Main Views</a:t>
            </a:r>
          </a:p>
        </p:txBody>
      </p:sp>
      <p:sp>
        <p:nvSpPr>
          <p:cNvPr id="10" name="TextBox 9"/>
          <p:cNvSpPr txBox="1"/>
          <p:nvPr/>
        </p:nvSpPr>
        <p:spPr>
          <a:xfrm>
            <a:off x="1097280" y="3438144"/>
            <a:ext cx="9601200" cy="411480"/>
          </a:xfrm>
          <a:prstGeom prst="rect">
            <a:avLst/>
          </a:prstGeom>
          <a:noFill/>
        </p:spPr>
        <p:txBody>
          <a:bodyPr wrap="square">
            <a:spAutoFit/>
          </a:bodyPr>
          <a:lstStyle/>
          <a:p>
            <a:pPr algn="l">
              <a:defRPr sz="1800" b="0">
                <a:solidFill>
                  <a:srgbClr val="FFFFFF"/>
                </a:solidFill>
                <a:latin typeface="Segoe UI"/>
              </a:defRPr>
            </a:pPr>
            <a:r>
              <a:t>Dashboard: live detection feed + controls + BFRB selector + signals</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Session HUD: charts (daily detections, type distribution, timeline, accuracy)</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History: session table with stats per session</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4" name="TextBox 13"/>
          <p:cNvSpPr txBox="1"/>
          <p:nvPr/>
        </p:nvSpPr>
        <p:spPr>
          <a:xfrm>
            <a:off x="914400" y="4974336"/>
            <a:ext cx="9601200" cy="457200"/>
          </a:xfrm>
          <a:prstGeom prst="rect">
            <a:avLst/>
          </a:prstGeom>
          <a:noFill/>
        </p:spPr>
        <p:txBody>
          <a:bodyPr wrap="square">
            <a:spAutoFit/>
          </a:bodyPr>
          <a:lstStyle/>
          <a:p>
            <a:pPr algn="l">
              <a:defRPr sz="2000" b="1">
                <a:solidFill>
                  <a:srgbClr val="D4880F"/>
                </a:solidFill>
                <a:latin typeface="Segoe UI"/>
              </a:defRPr>
            </a:pPr>
            <a:r>
              <a:t>Interactive Elements</a:t>
            </a:r>
          </a:p>
        </p:txBody>
      </p:sp>
      <p:sp>
        <p:nvSpPr>
          <p:cNvPr id="15" name="TextBox 14"/>
          <p:cNvSpPr txBox="1"/>
          <p:nvPr/>
        </p:nvSpPr>
        <p:spPr>
          <a:xfrm>
            <a:off x="1097280" y="5385816"/>
            <a:ext cx="9601200" cy="411480"/>
          </a:xfrm>
          <a:prstGeom prst="rect">
            <a:avLst/>
          </a:prstGeom>
          <a:noFill/>
        </p:spPr>
        <p:txBody>
          <a:bodyPr wrap="square">
            <a:spAutoFit/>
          </a:bodyPr>
          <a:lstStyle/>
          <a:p>
            <a:pPr algn="l">
              <a:defRPr sz="1800" b="0">
                <a:solidFill>
                  <a:srgbClr val="FFFFFF"/>
                </a:solidFill>
                <a:latin typeface="Segoe UI"/>
              </a:defRPr>
            </a:pPr>
            <a:r>
              <a:t>BFRB type multi-select (8 types, multi/single mode)</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Detection notifications with yes/no feedback buttons</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Calibration wizard (2-step: far baseline + touch measurement)</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Pilot study modal (structured ground-truth collection)</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r>
              <a:t>CSV export for offline analysis</a:t>
            </a:r>
          </a:p>
        </p:txBody>
      </p:sp>
      <p:sp>
        <p:nvSpPr>
          <p:cNvPr id="20" name="TextBox 19"/>
          <p:cNvSpPr txBox="1"/>
          <p:nvPr/>
        </p:nvSpPr>
        <p:spPr>
          <a:xfrm>
            <a:off x="1097280" y="730605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1" name="TextBox 20"/>
          <p:cNvSpPr txBox="1"/>
          <p:nvPr/>
        </p:nvSpPr>
        <p:spPr>
          <a:xfrm>
            <a:off x="914400" y="7690104"/>
            <a:ext cx="9601200" cy="457200"/>
          </a:xfrm>
          <a:prstGeom prst="rect">
            <a:avLst/>
          </a:prstGeom>
          <a:noFill/>
        </p:spPr>
        <p:txBody>
          <a:bodyPr wrap="square">
            <a:spAutoFit/>
          </a:bodyPr>
          <a:lstStyle/>
          <a:p>
            <a:pPr algn="l">
              <a:defRPr sz="2000" b="1">
                <a:solidFill>
                  <a:srgbClr val="D4880F"/>
                </a:solidFill>
                <a:latin typeface="Segoe UI"/>
              </a:defRPr>
            </a:pPr>
            <a:r>
              <a:t>Authentication: sign up, sign in, onboarding questionnaire</a:t>
            </a:r>
          </a:p>
        </p:txBody>
      </p:sp>
      <p:sp>
        <p:nvSpPr>
          <p:cNvPr id="22" name="TextBox 21"/>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Authentication &amp; User Onboarding</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Secure Authentication</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Password hashing: SHA-256 with random 16-byte salt</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Flask session-based auth with login_required decorator</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Username or email login support</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Onboarding Questionnaire (first login)</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Which BFRBs do you experience? (multi-select)</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How often do these behaviors occur? (5 frequency levels)</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What triggers your BFRBs? (stress, boredom, anxiety, focus...)</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r>
              <a:t>What is your primary goal? (awareness, reduce, track, research, clinical)</a:t>
            </a:r>
          </a:p>
        </p:txBody>
      </p:sp>
      <p:sp>
        <p:nvSpPr>
          <p:cNvPr id="15" name="TextBox 14"/>
          <p:cNvSpPr txBox="1"/>
          <p:nvPr/>
        </p:nvSpPr>
        <p:spPr>
          <a:xfrm>
            <a:off x="1097280" y="5358384"/>
            <a:ext cx="9601200" cy="411480"/>
          </a:xfrm>
          <a:prstGeom prst="rect">
            <a:avLst/>
          </a:prstGeom>
          <a:noFill/>
        </p:spPr>
        <p:txBody>
          <a:bodyPr wrap="square">
            <a:spAutoFit/>
          </a:bodyPr>
          <a:lstStyle/>
          <a:p>
            <a:pPr algn="l">
              <a:defRPr sz="1800" b="0">
                <a:solidFill>
                  <a:srgbClr val="FFFFFF"/>
                </a:solidFill>
                <a:latin typeface="Segoe UI"/>
              </a:defRPr>
            </a:pPr>
            <a:r>
              <a:t>Alert preferences (visual only, visual+sound, gentle, silent)</a:t>
            </a:r>
          </a:p>
        </p:txBody>
      </p:sp>
      <p:sp>
        <p:nvSpPr>
          <p:cNvPr id="16" name="TextBox 15"/>
          <p:cNvSpPr txBox="1"/>
          <p:nvPr/>
        </p:nvSpPr>
        <p:spPr>
          <a:xfrm>
            <a:off x="1097280" y="5742432"/>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7" name="TextBox 16"/>
          <p:cNvSpPr txBox="1"/>
          <p:nvPr/>
        </p:nvSpPr>
        <p:spPr>
          <a:xfrm>
            <a:off x="914400" y="6126480"/>
            <a:ext cx="9601200" cy="457200"/>
          </a:xfrm>
          <a:prstGeom prst="rect">
            <a:avLst/>
          </a:prstGeom>
          <a:noFill/>
        </p:spPr>
        <p:txBody>
          <a:bodyPr wrap="square">
            <a:spAutoFit/>
          </a:bodyPr>
          <a:lstStyle/>
          <a:p>
            <a:pPr algn="l">
              <a:defRPr sz="2000" b="1">
                <a:solidFill>
                  <a:srgbClr val="D4880F"/>
                </a:solidFill>
                <a:latin typeface="Segoe UI"/>
              </a:defRPr>
            </a:pPr>
            <a:r>
              <a:t>Personalization</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Pre-selects the user's reported BFRB types in the detector</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r>
              <a:t>Responses stored in onboarding_responses table for future use</a:t>
            </a:r>
          </a:p>
        </p:txBody>
      </p:sp>
      <p:sp>
        <p:nvSpPr>
          <p:cNvPr id="20" name="TextBox 19"/>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Advanced Features</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Adaptive Threshold Calibration (Tier 2)</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2-step wizard: measure far-baseline and touch distance</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threshold = touch + 0.3 * (baseline - touch)</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Accounts for different face sizes and camera distances</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Bout Detection (Tier 3)</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Groups consecutive detections into clinical 'bouts'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5-second gap threshold | per-type aggregation</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4" name="TextBox 13"/>
          <p:cNvSpPr txBox="1"/>
          <p:nvPr/>
        </p:nvSpPr>
        <p:spPr>
          <a:xfrm>
            <a:off x="914400" y="4974336"/>
            <a:ext cx="9601200" cy="457200"/>
          </a:xfrm>
          <a:prstGeom prst="rect">
            <a:avLst/>
          </a:prstGeom>
          <a:noFill/>
        </p:spPr>
        <p:txBody>
          <a:bodyPr wrap="square">
            <a:spAutoFit/>
          </a:bodyPr>
          <a:lstStyle/>
          <a:p>
            <a:pPr algn="l">
              <a:defRPr sz="2000" b="1">
                <a:solidFill>
                  <a:srgbClr val="D4880F"/>
                </a:solidFill>
                <a:latin typeface="Segoe UI"/>
              </a:defRPr>
            </a:pPr>
            <a:r>
              <a:t>Pilot Study Mode (Tier 3)</a:t>
            </a:r>
          </a:p>
        </p:txBody>
      </p:sp>
      <p:sp>
        <p:nvSpPr>
          <p:cNvPr id="15" name="TextBox 14"/>
          <p:cNvSpPr txBox="1"/>
          <p:nvPr/>
        </p:nvSpPr>
        <p:spPr>
          <a:xfrm>
            <a:off x="1097280" y="5385816"/>
            <a:ext cx="9601200" cy="411480"/>
          </a:xfrm>
          <a:prstGeom prst="rect">
            <a:avLst/>
          </a:prstGeom>
          <a:noFill/>
        </p:spPr>
        <p:txBody>
          <a:bodyPr wrap="square">
            <a:spAutoFit/>
          </a:bodyPr>
          <a:lstStyle/>
          <a:p>
            <a:pPr algn="l">
              <a:defRPr sz="1800" b="0">
                <a:solidFill>
                  <a:srgbClr val="FFFFFF"/>
                </a:solidFill>
                <a:latin typeface="Segoe UI"/>
              </a:defRPr>
            </a:pPr>
            <a:r>
              <a:t>Structured ground-truth collection: participant, gesture, duration</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Computes precision, recall, F1 per trial</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8" name="TextBox 17"/>
          <p:cNvSpPr txBox="1"/>
          <p:nvPr/>
        </p:nvSpPr>
        <p:spPr>
          <a:xfrm>
            <a:off x="914400" y="6537960"/>
            <a:ext cx="9601200" cy="457200"/>
          </a:xfrm>
          <a:prstGeom prst="rect">
            <a:avLst/>
          </a:prstGeom>
          <a:noFill/>
        </p:spPr>
        <p:txBody>
          <a:bodyPr wrap="square">
            <a:spAutoFit/>
          </a:bodyPr>
          <a:lstStyle/>
          <a:p>
            <a:pPr algn="l">
              <a:defRPr sz="2000" b="1">
                <a:solidFill>
                  <a:srgbClr val="D4880F"/>
                </a:solidFill>
                <a:latin typeface="Segoe UI"/>
              </a:defRPr>
            </a:pPr>
            <a:r>
              <a:t>WebSocket Real-Time (Tier 3)</a:t>
            </a:r>
          </a:p>
        </p:txBody>
      </p:sp>
      <p:sp>
        <p:nvSpPr>
          <p:cNvPr id="19" name="TextBox 18"/>
          <p:cNvSpPr txBox="1"/>
          <p:nvPr/>
        </p:nvSpPr>
        <p:spPr>
          <a:xfrm>
            <a:off x="1097280" y="6949440"/>
            <a:ext cx="9601200" cy="411480"/>
          </a:xfrm>
          <a:prstGeom prst="rect">
            <a:avLst/>
          </a:prstGeom>
          <a:noFill/>
        </p:spPr>
        <p:txBody>
          <a:bodyPr wrap="square">
            <a:spAutoFit/>
          </a:bodyPr>
          <a:lstStyle/>
          <a:p>
            <a:pPr algn="l">
              <a:defRPr sz="1800" b="0">
                <a:solidFill>
                  <a:srgbClr val="FFFFFF"/>
                </a:solidFill>
                <a:latin typeface="Segoe UI"/>
              </a:defRPr>
            </a:pPr>
            <a:r>
              <a:t>Flask-SocketIO: ML predictions over persistent socket</a:t>
            </a:r>
          </a:p>
        </p:txBody>
      </p:sp>
      <p:sp>
        <p:nvSpPr>
          <p:cNvPr id="20" name="TextBox 19"/>
          <p:cNvSpPr txBox="1"/>
          <p:nvPr/>
        </p:nvSpPr>
        <p:spPr>
          <a:xfrm>
            <a:off x="1097280" y="7333488"/>
            <a:ext cx="9601200" cy="411480"/>
          </a:xfrm>
          <a:prstGeom prst="rect">
            <a:avLst/>
          </a:prstGeom>
          <a:noFill/>
        </p:spPr>
        <p:txBody>
          <a:bodyPr wrap="square">
            <a:spAutoFit/>
          </a:bodyPr>
          <a:lstStyle/>
          <a:p>
            <a:pPr algn="l">
              <a:defRPr sz="1800" b="0">
                <a:solidFill>
                  <a:srgbClr val="FFFFFF"/>
                </a:solidFill>
                <a:latin typeface="Segoe UI"/>
              </a:defRPr>
            </a:pPr>
            <a:r>
              <a:t>250ms throttle on WS vs 400ms on HTTP fallback</a:t>
            </a:r>
          </a:p>
        </p:txBody>
      </p:sp>
      <p:sp>
        <p:nvSpPr>
          <p:cNvPr id="21" name="TextBox 20"/>
          <p:cNvSpPr txBox="1"/>
          <p:nvPr/>
        </p:nvSpPr>
        <p:spPr>
          <a:xfrm>
            <a:off x="1097280" y="77175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2" name="TextBox 21"/>
          <p:cNvSpPr txBox="1"/>
          <p:nvPr/>
        </p:nvSpPr>
        <p:spPr>
          <a:xfrm>
            <a:off x="914400" y="8101584"/>
            <a:ext cx="9601200" cy="457200"/>
          </a:xfrm>
          <a:prstGeom prst="rect">
            <a:avLst/>
          </a:prstGeom>
          <a:noFill/>
        </p:spPr>
        <p:txBody>
          <a:bodyPr wrap="square">
            <a:spAutoFit/>
          </a:bodyPr>
          <a:lstStyle/>
          <a:p>
            <a:pPr algn="l">
              <a:defRPr sz="2000" b="1">
                <a:solidFill>
                  <a:srgbClr val="D4880F"/>
                </a:solidFill>
                <a:latin typeface="Segoe UI"/>
              </a:defRPr>
            </a:pPr>
            <a:r>
              <a:t>PWA (Tier 4) - Offline-capable app shell</a:t>
            </a:r>
          </a:p>
        </p:txBody>
      </p:sp>
      <p:sp>
        <p:nvSpPr>
          <p:cNvPr id="23" name="TextBox 22"/>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Live Demonstration</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Demo Flow (5-7 minutes)</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1. Login Page - create a new account</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2. Onboarding - answer setup questionnaire</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r>
              <a:t>3. Dashboard - show the clean white + dark blue interface</a:t>
            </a:r>
          </a:p>
        </p:txBody>
      </p:sp>
      <p:sp>
        <p:nvSpPr>
          <p:cNvPr id="10" name="TextBox 9"/>
          <p:cNvSpPr txBox="1"/>
          <p:nvPr/>
        </p:nvSpPr>
        <p:spPr>
          <a:xfrm>
            <a:off x="1097280" y="3410712"/>
            <a:ext cx="9601200" cy="411480"/>
          </a:xfrm>
          <a:prstGeom prst="rect">
            <a:avLst/>
          </a:prstGeom>
          <a:noFill/>
        </p:spPr>
        <p:txBody>
          <a:bodyPr wrap="square">
            <a:spAutoFit/>
          </a:bodyPr>
          <a:lstStyle/>
          <a:p>
            <a:pPr algn="l">
              <a:defRPr sz="1800" b="0">
                <a:solidFill>
                  <a:srgbClr val="FFFFFF"/>
                </a:solidFill>
                <a:latin typeface="Segoe UI"/>
              </a:defRPr>
            </a:pPr>
            <a:r>
              <a:t>4. Start Session - camera activates, MediaPipe loads</a:t>
            </a:r>
          </a:p>
        </p:txBody>
      </p:sp>
      <p:sp>
        <p:nvSpPr>
          <p:cNvPr id="11" name="TextBox 10"/>
          <p:cNvSpPr txBox="1"/>
          <p:nvPr/>
        </p:nvSpPr>
        <p:spPr>
          <a:xfrm>
            <a:off x="1097280" y="3794760"/>
            <a:ext cx="9601200" cy="411480"/>
          </a:xfrm>
          <a:prstGeom prst="rect">
            <a:avLst/>
          </a:prstGeom>
          <a:noFill/>
        </p:spPr>
        <p:txBody>
          <a:bodyPr wrap="square">
            <a:spAutoFit/>
          </a:bodyPr>
          <a:lstStyle/>
          <a:p>
            <a:pPr algn="l">
              <a:defRPr sz="1800" b="0">
                <a:solidFill>
                  <a:srgbClr val="FFFFFF"/>
                </a:solidFill>
                <a:latin typeface="Segoe UI"/>
              </a:defRPr>
            </a:pPr>
            <a:r>
              <a:t>5. Show Detection - bring hand near face, trigger BFRB detection</a:t>
            </a:r>
          </a:p>
        </p:txBody>
      </p:sp>
      <p:sp>
        <p:nvSpPr>
          <p:cNvPr id="12" name="TextBox 11"/>
          <p:cNvSpPr txBox="1"/>
          <p:nvPr/>
        </p:nvSpPr>
        <p:spPr>
          <a:xfrm>
            <a:off x="1097280" y="4178808"/>
            <a:ext cx="9601200" cy="411480"/>
          </a:xfrm>
          <a:prstGeom prst="rect">
            <a:avLst/>
          </a:prstGeom>
          <a:noFill/>
        </p:spPr>
        <p:txBody>
          <a:bodyPr wrap="square">
            <a:spAutoFit/>
          </a:bodyPr>
          <a:lstStyle/>
          <a:p>
            <a:pPr algn="l">
              <a:defRPr sz="1800" b="0">
                <a:solidFill>
                  <a:srgbClr val="FFFFFF"/>
                </a:solidFill>
                <a:latin typeface="Segoe UI"/>
              </a:defRPr>
            </a:pPr>
            <a:r>
              <a:t>6. Feedback - respond to detection notification (yes/no)</a:t>
            </a:r>
          </a:p>
        </p:txBody>
      </p:sp>
      <p:sp>
        <p:nvSpPr>
          <p:cNvPr id="13" name="TextBox 12"/>
          <p:cNvSpPr txBox="1"/>
          <p:nvPr/>
        </p:nvSpPr>
        <p:spPr>
          <a:xfrm>
            <a:off x="1097280" y="4562856"/>
            <a:ext cx="9601200" cy="411480"/>
          </a:xfrm>
          <a:prstGeom prst="rect">
            <a:avLst/>
          </a:prstGeom>
          <a:noFill/>
        </p:spPr>
        <p:txBody>
          <a:bodyPr wrap="square">
            <a:spAutoFit/>
          </a:bodyPr>
          <a:lstStyle/>
          <a:p>
            <a:pPr algn="l">
              <a:defRPr sz="1800" b="0">
                <a:solidFill>
                  <a:srgbClr val="FFFFFF"/>
                </a:solidFill>
                <a:latin typeface="Segoe UI"/>
              </a:defRPr>
            </a:pPr>
            <a:r>
              <a:t>7. Calibration - run 2-step adaptive threshold calibration</a:t>
            </a:r>
          </a:p>
        </p:txBody>
      </p:sp>
      <p:sp>
        <p:nvSpPr>
          <p:cNvPr id="14" name="TextBox 13"/>
          <p:cNvSpPr txBox="1"/>
          <p:nvPr/>
        </p:nvSpPr>
        <p:spPr>
          <a:xfrm>
            <a:off x="1097280" y="4946904"/>
            <a:ext cx="9601200" cy="411480"/>
          </a:xfrm>
          <a:prstGeom prst="rect">
            <a:avLst/>
          </a:prstGeom>
          <a:noFill/>
        </p:spPr>
        <p:txBody>
          <a:bodyPr wrap="square">
            <a:spAutoFit/>
          </a:bodyPr>
          <a:lstStyle/>
          <a:p>
            <a:pPr algn="l">
              <a:defRPr sz="1800" b="0">
                <a:solidFill>
                  <a:srgbClr val="FFFFFF"/>
                </a:solidFill>
                <a:latin typeface="Segoe UI"/>
              </a:defRPr>
            </a:pPr>
            <a:r>
              <a:t>8. Session HUD - switch to charts tab, show daily/type/timeline charts</a:t>
            </a:r>
          </a:p>
        </p:txBody>
      </p:sp>
      <p:sp>
        <p:nvSpPr>
          <p:cNvPr id="15" name="TextBox 14"/>
          <p:cNvSpPr txBox="1"/>
          <p:nvPr/>
        </p:nvSpPr>
        <p:spPr>
          <a:xfrm>
            <a:off x="1097280" y="5330952"/>
            <a:ext cx="9601200" cy="411480"/>
          </a:xfrm>
          <a:prstGeom prst="rect">
            <a:avLst/>
          </a:prstGeom>
          <a:noFill/>
        </p:spPr>
        <p:txBody>
          <a:bodyPr wrap="square">
            <a:spAutoFit/>
          </a:bodyPr>
          <a:lstStyle/>
          <a:p>
            <a:pPr algn="l">
              <a:defRPr sz="1800" b="0">
                <a:solidFill>
                  <a:srgbClr val="FFFFFF"/>
                </a:solidFill>
                <a:latin typeface="Segoe UI"/>
              </a:defRPr>
            </a:pPr>
            <a:r>
              <a:t>9. History - view past sessions in the table</a:t>
            </a:r>
          </a:p>
        </p:txBody>
      </p:sp>
      <p:sp>
        <p:nvSpPr>
          <p:cNvPr id="16" name="TextBox 15"/>
          <p:cNvSpPr txBox="1"/>
          <p:nvPr/>
        </p:nvSpPr>
        <p:spPr>
          <a:xfrm>
            <a:off x="1097280" y="5715000"/>
            <a:ext cx="9601200" cy="411480"/>
          </a:xfrm>
          <a:prstGeom prst="rect">
            <a:avLst/>
          </a:prstGeom>
          <a:noFill/>
        </p:spPr>
        <p:txBody>
          <a:bodyPr wrap="square">
            <a:spAutoFit/>
          </a:bodyPr>
          <a:lstStyle/>
          <a:p>
            <a:pPr algn="l">
              <a:defRPr sz="1800" b="0">
                <a:solidFill>
                  <a:srgbClr val="FFFFFF"/>
                </a:solidFill>
                <a:latin typeface="Segoe UI"/>
              </a:defRPr>
            </a:pPr>
            <a:r>
              <a:t>10. Export CSV - download session data</a:t>
            </a:r>
          </a:p>
        </p:txBody>
      </p:sp>
      <p:sp>
        <p:nvSpPr>
          <p:cNvPr id="17" name="TextBox 16"/>
          <p:cNvSpPr txBox="1"/>
          <p:nvPr/>
        </p:nvSpPr>
        <p:spPr>
          <a:xfrm>
            <a:off x="1097280" y="6099048"/>
            <a:ext cx="9601200" cy="411480"/>
          </a:xfrm>
          <a:prstGeom prst="rect">
            <a:avLst/>
          </a:prstGeom>
          <a:noFill/>
        </p:spPr>
        <p:txBody>
          <a:bodyPr wrap="square">
            <a:spAutoFit/>
          </a:bodyPr>
          <a:lstStyle/>
          <a:p>
            <a:pPr algn="l">
              <a:defRPr sz="1800" b="0">
                <a:solidFill>
                  <a:srgbClr val="FFFFFF"/>
                </a:solidFill>
                <a:latin typeface="Segoe UI"/>
              </a:defRPr>
            </a:pPr>
            <a:r>
              <a:t>11. Stop Session - end and show summary</a:t>
            </a:r>
          </a:p>
        </p:txBody>
      </p:sp>
      <p:sp>
        <p:nvSpPr>
          <p:cNvPr id="18" name="TextBox 17"/>
          <p:cNvSpPr txBox="1"/>
          <p:nvPr/>
        </p:nvSpPr>
        <p:spPr>
          <a:xfrm>
            <a:off x="1097280" y="6483096"/>
            <a:ext cx="9601200" cy="411480"/>
          </a:xfrm>
          <a:prstGeom prst="rect">
            <a:avLst/>
          </a:prstGeom>
          <a:noFill/>
        </p:spPr>
        <p:txBody>
          <a:bodyPr wrap="square">
            <a:spAutoFit/>
          </a:bodyPr>
          <a:lstStyle/>
          <a:p>
            <a:pPr algn="l">
              <a:defRPr sz="1800" b="0">
                <a:solidFill>
                  <a:srgbClr val="FFFFFF"/>
                </a:solidFill>
                <a:latin typeface="Segoe UI"/>
              </a:defRPr>
            </a:pPr>
            <a:r>
              <a:t>12. Sign Out</a:t>
            </a:r>
          </a:p>
        </p:txBody>
      </p:sp>
      <p:sp>
        <p:nvSpPr>
          <p:cNvPr id="19" name="TextBox 18"/>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GitHub Repository &amp; Deployment</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Repository: github.com/Nishanth3424/bfrb-detection-eneb453</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7" name="TextBox 6"/>
          <p:cNvSpPr txBox="1"/>
          <p:nvPr/>
        </p:nvSpPr>
        <p:spPr>
          <a:xfrm>
            <a:off x="914400" y="2258568"/>
            <a:ext cx="9601200" cy="457200"/>
          </a:xfrm>
          <a:prstGeom prst="rect">
            <a:avLst/>
          </a:prstGeom>
          <a:noFill/>
        </p:spPr>
        <p:txBody>
          <a:bodyPr wrap="square">
            <a:spAutoFit/>
          </a:bodyPr>
          <a:lstStyle/>
          <a:p>
            <a:pPr algn="l">
              <a:defRPr sz="2000" b="1">
                <a:solidFill>
                  <a:srgbClr val="D4880F"/>
                </a:solidFill>
                <a:latin typeface="Segoe UI"/>
              </a:defRPr>
            </a:pPr>
            <a:r>
              <a:t>Project Structure</a:t>
            </a:r>
          </a:p>
        </p:txBody>
      </p:sp>
      <p:sp>
        <p:nvSpPr>
          <p:cNvPr id="8" name="TextBox 7"/>
          <p:cNvSpPr txBox="1"/>
          <p:nvPr/>
        </p:nvSpPr>
        <p:spPr>
          <a:xfrm>
            <a:off x="1097280" y="2670048"/>
            <a:ext cx="9601200" cy="411480"/>
          </a:xfrm>
          <a:prstGeom prst="rect">
            <a:avLst/>
          </a:prstGeom>
          <a:noFill/>
        </p:spPr>
        <p:txBody>
          <a:bodyPr wrap="square">
            <a:spAutoFit/>
          </a:bodyPr>
          <a:lstStyle/>
          <a:p>
            <a:pPr algn="l">
              <a:defRPr sz="1800" b="0">
                <a:solidFill>
                  <a:srgbClr val="FFFFFF"/>
                </a:solidFill>
                <a:latin typeface="Segoe UI"/>
              </a:defRPr>
            </a:pPr>
            <a:r>
              <a:t>bfrb_web_app/app.py         - Flask backend (1,300+ lines)</a:t>
            </a:r>
          </a:p>
        </p:txBody>
      </p:sp>
      <p:sp>
        <p:nvSpPr>
          <p:cNvPr id="9" name="TextBox 8"/>
          <p:cNvSpPr txBox="1"/>
          <p:nvPr/>
        </p:nvSpPr>
        <p:spPr>
          <a:xfrm>
            <a:off x="1097280" y="3054096"/>
            <a:ext cx="9601200" cy="411480"/>
          </a:xfrm>
          <a:prstGeom prst="rect">
            <a:avLst/>
          </a:prstGeom>
          <a:noFill/>
        </p:spPr>
        <p:txBody>
          <a:bodyPr wrap="square">
            <a:spAutoFit/>
          </a:bodyPr>
          <a:lstStyle/>
          <a:p>
            <a:pPr algn="l">
              <a:defRPr sz="1800" b="0">
                <a:solidFill>
                  <a:srgbClr val="FFFFFF"/>
                </a:solidFill>
                <a:latin typeface="Segoe UI"/>
              </a:defRPr>
            </a:pPr>
            <a:r>
              <a:t>bfrb_web_app/templates/     - index.html (3,300+ lines) + login.html</a:t>
            </a:r>
          </a:p>
        </p:txBody>
      </p:sp>
      <p:sp>
        <p:nvSpPr>
          <p:cNvPr id="10" name="TextBox 9"/>
          <p:cNvSpPr txBox="1"/>
          <p:nvPr/>
        </p:nvSpPr>
        <p:spPr>
          <a:xfrm>
            <a:off x="1097280" y="3438144"/>
            <a:ext cx="9601200" cy="411480"/>
          </a:xfrm>
          <a:prstGeom prst="rect">
            <a:avLst/>
          </a:prstGeom>
          <a:noFill/>
        </p:spPr>
        <p:txBody>
          <a:bodyPr wrap="square">
            <a:spAutoFit/>
          </a:bodyPr>
          <a:lstStyle/>
          <a:p>
            <a:pPr algn="l">
              <a:defRPr sz="1800" b="0">
                <a:solidFill>
                  <a:srgbClr val="FFFFFF"/>
                </a:solidFill>
                <a:latin typeface="Segoe UI"/>
              </a:defRPr>
            </a:pPr>
            <a:r>
              <a:t>bfrb_web_app/model/         - Trained ML model + feature metadata</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bfrb_web_app/static/        - PWA manifest + service worker + icons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database/                   - MySQL schema, seed data, demo queries</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erd/                        - Interactive ERD visualization</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r>
              <a:t>wireframe/                  - UI wireframe mockup</a:t>
            </a:r>
          </a:p>
        </p:txBody>
      </p:sp>
      <p:sp>
        <p:nvSpPr>
          <p:cNvPr id="15" name="TextBox 14"/>
          <p:cNvSpPr txBox="1"/>
          <p:nvPr/>
        </p:nvSpPr>
        <p:spPr>
          <a:xfrm>
            <a:off x="1097280" y="535838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6" name="TextBox 15"/>
          <p:cNvSpPr txBox="1"/>
          <p:nvPr/>
        </p:nvSpPr>
        <p:spPr>
          <a:xfrm>
            <a:off x="914400" y="5742432"/>
            <a:ext cx="9601200" cy="457200"/>
          </a:xfrm>
          <a:prstGeom prst="rect">
            <a:avLst/>
          </a:prstGeom>
          <a:noFill/>
        </p:spPr>
        <p:txBody>
          <a:bodyPr wrap="square">
            <a:spAutoFit/>
          </a:bodyPr>
          <a:lstStyle/>
          <a:p>
            <a:pPr algn="l">
              <a:defRPr sz="2000" b="1">
                <a:solidFill>
                  <a:srgbClr val="D4880F"/>
                </a:solidFill>
                <a:latin typeface="Segoe UI"/>
              </a:defRPr>
            </a:pPr>
            <a:r>
              <a:t>How to Run</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pip install -r requirements.txt</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python app.py</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r>
              <a:t>Open http://localhost:5000</a:t>
            </a:r>
          </a:p>
        </p:txBody>
      </p:sp>
      <p:sp>
        <p:nvSpPr>
          <p:cNvPr id="20" name="TextBox 19"/>
          <p:cNvSpPr txBox="1"/>
          <p:nvPr/>
        </p:nvSpPr>
        <p:spPr>
          <a:xfrm>
            <a:off x="1097280" y="730605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1" name="TextBox 20"/>
          <p:cNvSpPr txBox="1"/>
          <p:nvPr/>
        </p:nvSpPr>
        <p:spPr>
          <a:xfrm>
            <a:off x="914400" y="7690104"/>
            <a:ext cx="9601200" cy="457200"/>
          </a:xfrm>
          <a:prstGeom prst="rect">
            <a:avLst/>
          </a:prstGeom>
          <a:noFill/>
        </p:spPr>
        <p:txBody>
          <a:bodyPr wrap="square">
            <a:spAutoFit/>
          </a:bodyPr>
          <a:lstStyle/>
          <a:p>
            <a:pPr algn="l">
              <a:defRPr sz="2000" b="1">
                <a:solidFill>
                  <a:srgbClr val="D4880F"/>
                </a:solidFill>
                <a:latin typeface="Segoe UI"/>
              </a:defRPr>
            </a:pPr>
            <a:r>
              <a:t>Total: ~4,800 lines of code (Python + HTML/CSS/JS)</a:t>
            </a:r>
          </a:p>
        </p:txBody>
      </p:sp>
      <p:sp>
        <p:nvSpPr>
          <p:cNvPr id="22" name="TextBox 21"/>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Results &amp; Performance</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ML Model Performance</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Random Forest: 77% accuracy (5-fold CV)</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Macro F1: handles class imbalance (64% BFRB / 36% non-BFRB)</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Training on 8,151 labeled sequences from 80 participants</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Real-Time Performance</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25-30 FPS with MediaPipe Holistic in browser</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ML inference: &lt;10ms per prediction (server-side)</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WebSocket latency: ~5-15ms round-trip</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58384"/>
            <a:ext cx="9601200" cy="457200"/>
          </a:xfrm>
          <a:prstGeom prst="rect">
            <a:avLst/>
          </a:prstGeom>
          <a:noFill/>
        </p:spPr>
        <p:txBody>
          <a:bodyPr wrap="square">
            <a:spAutoFit/>
          </a:bodyPr>
          <a:lstStyle/>
          <a:p>
            <a:pPr algn="l">
              <a:defRPr sz="2000" b="1">
                <a:solidFill>
                  <a:srgbClr val="D4880F"/>
                </a:solidFill>
                <a:latin typeface="Segoe UI"/>
              </a:defRPr>
            </a:pPr>
            <a:r>
              <a:t>Detection Capability</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8 BFRB types supported (+ custom types)</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Multi-zone face detection (13 anatomical regions)</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False positive filtering (eating, resting)</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r>
              <a:t>Adaptive calibration per user</a:t>
            </a:r>
          </a:p>
        </p:txBody>
      </p:sp>
      <p:sp>
        <p:nvSpPr>
          <p:cNvPr id="20" name="TextBox 19"/>
          <p:cNvSpPr txBox="1"/>
          <p:nvPr/>
        </p:nvSpPr>
        <p:spPr>
          <a:xfrm>
            <a:off x="1097280" y="730605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1" name="TextBox 20"/>
          <p:cNvSpPr txBox="1"/>
          <p:nvPr/>
        </p:nvSpPr>
        <p:spPr>
          <a:xfrm>
            <a:off x="914400" y="7690104"/>
            <a:ext cx="9601200" cy="457200"/>
          </a:xfrm>
          <a:prstGeom prst="rect">
            <a:avLst/>
          </a:prstGeom>
          <a:noFill/>
        </p:spPr>
        <p:txBody>
          <a:bodyPr wrap="square">
            <a:spAutoFit/>
          </a:bodyPr>
          <a:lstStyle/>
          <a:p>
            <a:pPr algn="l">
              <a:defRPr sz="2000" b="1">
                <a:solidFill>
                  <a:srgbClr val="D4880F"/>
                </a:solidFill>
                <a:latin typeface="Segoe UI"/>
              </a:defRPr>
            </a:pPr>
            <a:r>
              <a:t>Code Coverage: 20+ API endpoints, 9 database tables</a:t>
            </a:r>
          </a:p>
        </p:txBody>
      </p:sp>
      <p:sp>
        <p:nvSpPr>
          <p:cNvPr id="22" name="TextBox 21"/>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Challenges &amp; Solutions</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Challenge 1: Sensor-to-Camera Domain Gap</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Kaggle data = wrist sensors, our system = camera</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Solution: semantic feature mapping (16 features bridge both modalities)</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9" name="TextBox 8"/>
          <p:cNvSpPr txBox="1"/>
          <p:nvPr/>
        </p:nvSpPr>
        <p:spPr>
          <a:xfrm>
            <a:off x="914400" y="3026664"/>
            <a:ext cx="9601200" cy="457200"/>
          </a:xfrm>
          <a:prstGeom prst="rect">
            <a:avLst/>
          </a:prstGeom>
          <a:noFill/>
        </p:spPr>
        <p:txBody>
          <a:bodyPr wrap="square">
            <a:spAutoFit/>
          </a:bodyPr>
          <a:lstStyle/>
          <a:p>
            <a:pPr algn="l">
              <a:defRPr sz="2000" b="1">
                <a:solidFill>
                  <a:srgbClr val="D4880F"/>
                </a:solidFill>
                <a:latin typeface="Segoe UI"/>
              </a:defRPr>
            </a:pPr>
            <a:r>
              <a:t>Challenge 2: False Positives</a:t>
            </a:r>
          </a:p>
        </p:txBody>
      </p:sp>
      <p:sp>
        <p:nvSpPr>
          <p:cNvPr id="10" name="TextBox 9"/>
          <p:cNvSpPr txBox="1"/>
          <p:nvPr/>
        </p:nvSpPr>
        <p:spPr>
          <a:xfrm>
            <a:off x="1097280" y="3438144"/>
            <a:ext cx="9601200" cy="411480"/>
          </a:xfrm>
          <a:prstGeom prst="rect">
            <a:avLst/>
          </a:prstGeom>
          <a:noFill/>
        </p:spPr>
        <p:txBody>
          <a:bodyPr wrap="square">
            <a:spAutoFit/>
          </a:bodyPr>
          <a:lstStyle/>
          <a:p>
            <a:pPr algn="l">
              <a:defRPr sz="1800" b="0">
                <a:solidFill>
                  <a:srgbClr val="FFFFFF"/>
                </a:solidFill>
                <a:latin typeface="Segoe UI"/>
              </a:defRPr>
            </a:pPr>
            <a:r>
              <a:t>Eating, resting, scratching look similar to BFRBs</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Solution: multi-signal scoring + eating/resting filters + dwell timers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3" name="TextBox 12"/>
          <p:cNvSpPr txBox="1"/>
          <p:nvPr/>
        </p:nvSpPr>
        <p:spPr>
          <a:xfrm>
            <a:off x="914400" y="4590288"/>
            <a:ext cx="9601200" cy="457200"/>
          </a:xfrm>
          <a:prstGeom prst="rect">
            <a:avLst/>
          </a:prstGeom>
          <a:noFill/>
        </p:spPr>
        <p:txBody>
          <a:bodyPr wrap="square">
            <a:spAutoFit/>
          </a:bodyPr>
          <a:lstStyle/>
          <a:p>
            <a:pPr algn="l">
              <a:defRPr sz="2000" b="1">
                <a:solidFill>
                  <a:srgbClr val="D4880F"/>
                </a:solidFill>
                <a:latin typeface="Segoe UI"/>
              </a:defRPr>
            </a:pPr>
            <a:r>
              <a:t>Challenge 3: Varying User Distances</a:t>
            </a:r>
          </a:p>
        </p:txBody>
      </p:sp>
      <p:sp>
        <p:nvSpPr>
          <p:cNvPr id="14" name="TextBox 13"/>
          <p:cNvSpPr txBox="1"/>
          <p:nvPr/>
        </p:nvSpPr>
        <p:spPr>
          <a:xfrm>
            <a:off x="1097280" y="5001768"/>
            <a:ext cx="9601200" cy="411480"/>
          </a:xfrm>
          <a:prstGeom prst="rect">
            <a:avLst/>
          </a:prstGeom>
          <a:noFill/>
        </p:spPr>
        <p:txBody>
          <a:bodyPr wrap="square">
            <a:spAutoFit/>
          </a:bodyPr>
          <a:lstStyle/>
          <a:p>
            <a:pPr algn="l">
              <a:defRPr sz="1800" b="0">
                <a:solidFill>
                  <a:srgbClr val="FFFFFF"/>
                </a:solidFill>
                <a:latin typeface="Segoe UI"/>
              </a:defRPr>
            </a:pPr>
            <a:r>
              <a:t>Proximity thresholds break at different camera distances</a:t>
            </a:r>
          </a:p>
        </p:txBody>
      </p:sp>
      <p:sp>
        <p:nvSpPr>
          <p:cNvPr id="15" name="TextBox 14"/>
          <p:cNvSpPr txBox="1"/>
          <p:nvPr/>
        </p:nvSpPr>
        <p:spPr>
          <a:xfrm>
            <a:off x="1097280" y="5385816"/>
            <a:ext cx="9601200" cy="411480"/>
          </a:xfrm>
          <a:prstGeom prst="rect">
            <a:avLst/>
          </a:prstGeom>
          <a:noFill/>
        </p:spPr>
        <p:txBody>
          <a:bodyPr wrap="square">
            <a:spAutoFit/>
          </a:bodyPr>
          <a:lstStyle/>
          <a:p>
            <a:pPr algn="l">
              <a:defRPr sz="1800" b="0">
                <a:solidFill>
                  <a:srgbClr val="FFFFFF"/>
                </a:solidFill>
                <a:latin typeface="Segoe UI"/>
              </a:defRPr>
            </a:pPr>
            <a:r>
              <a:t>Solution: adaptive calibration normalizes by face width</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7" name="TextBox 16"/>
          <p:cNvSpPr txBox="1"/>
          <p:nvPr/>
        </p:nvSpPr>
        <p:spPr>
          <a:xfrm>
            <a:off x="914400" y="6153912"/>
            <a:ext cx="9601200" cy="457200"/>
          </a:xfrm>
          <a:prstGeom prst="rect">
            <a:avLst/>
          </a:prstGeom>
          <a:noFill/>
        </p:spPr>
        <p:txBody>
          <a:bodyPr wrap="square">
            <a:spAutoFit/>
          </a:bodyPr>
          <a:lstStyle/>
          <a:p>
            <a:pPr algn="l">
              <a:defRPr sz="2000" b="1">
                <a:solidFill>
                  <a:srgbClr val="D4880F"/>
                </a:solidFill>
                <a:latin typeface="Segoe UI"/>
              </a:defRPr>
            </a:pPr>
            <a:r>
              <a:t>Challenge 4: Real-Time Performance</a:t>
            </a:r>
          </a:p>
        </p:txBody>
      </p:sp>
      <p:sp>
        <p:nvSpPr>
          <p:cNvPr id="18" name="TextBox 17"/>
          <p:cNvSpPr txBox="1"/>
          <p:nvPr/>
        </p:nvSpPr>
        <p:spPr>
          <a:xfrm>
            <a:off x="1097280" y="6565392"/>
            <a:ext cx="9601200" cy="411480"/>
          </a:xfrm>
          <a:prstGeom prst="rect">
            <a:avLst/>
          </a:prstGeom>
          <a:noFill/>
        </p:spPr>
        <p:txBody>
          <a:bodyPr wrap="square">
            <a:spAutoFit/>
          </a:bodyPr>
          <a:lstStyle/>
          <a:p>
            <a:pPr algn="l">
              <a:defRPr sz="1800" b="0">
                <a:solidFill>
                  <a:srgbClr val="FFFFFF"/>
                </a:solidFill>
                <a:latin typeface="Segoe UI"/>
              </a:defRPr>
            </a:pPr>
            <a:r>
              <a:t>MediaPipe + ML inference must run at &gt;20 FPS</a:t>
            </a:r>
          </a:p>
        </p:txBody>
      </p:sp>
      <p:sp>
        <p:nvSpPr>
          <p:cNvPr id="19" name="TextBox 18"/>
          <p:cNvSpPr txBox="1"/>
          <p:nvPr/>
        </p:nvSpPr>
        <p:spPr>
          <a:xfrm>
            <a:off x="1097280" y="6949440"/>
            <a:ext cx="9601200" cy="411480"/>
          </a:xfrm>
          <a:prstGeom prst="rect">
            <a:avLst/>
          </a:prstGeom>
          <a:noFill/>
        </p:spPr>
        <p:txBody>
          <a:bodyPr wrap="square">
            <a:spAutoFit/>
          </a:bodyPr>
          <a:lstStyle/>
          <a:p>
            <a:pPr algn="l">
              <a:defRPr sz="1800" b="0">
                <a:solidFill>
                  <a:srgbClr val="FFFFFF"/>
                </a:solidFill>
                <a:latin typeface="Segoe UI"/>
              </a:defRPr>
            </a:pPr>
            <a:r>
              <a:t>Solution: One Euro filter + sliding window + WebSocket transport</a:t>
            </a:r>
          </a:p>
        </p:txBody>
      </p:sp>
      <p:sp>
        <p:nvSpPr>
          <p:cNvPr id="20" name="TextBox 19"/>
          <p:cNvSpPr txBox="1"/>
          <p:nvPr/>
        </p:nvSpPr>
        <p:spPr>
          <a:xfrm>
            <a:off x="1097280" y="7333488"/>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1" name="TextBox 20"/>
          <p:cNvSpPr txBox="1"/>
          <p:nvPr/>
        </p:nvSpPr>
        <p:spPr>
          <a:xfrm>
            <a:off x="914400" y="7717536"/>
            <a:ext cx="9601200" cy="457200"/>
          </a:xfrm>
          <a:prstGeom prst="rect">
            <a:avLst/>
          </a:prstGeom>
          <a:noFill/>
        </p:spPr>
        <p:txBody>
          <a:bodyPr wrap="square">
            <a:spAutoFit/>
          </a:bodyPr>
          <a:lstStyle/>
          <a:p>
            <a:pPr algn="l">
              <a:defRPr sz="2000" b="1">
                <a:solidFill>
                  <a:srgbClr val="D4880F"/>
                </a:solidFill>
                <a:latin typeface="Segoe UI"/>
              </a:defRPr>
            </a:pPr>
            <a:r>
              <a:t>Challenge 5: User Experience</a:t>
            </a:r>
          </a:p>
        </p:txBody>
      </p:sp>
      <p:sp>
        <p:nvSpPr>
          <p:cNvPr id="22" name="TextBox 21"/>
          <p:cNvSpPr txBox="1"/>
          <p:nvPr/>
        </p:nvSpPr>
        <p:spPr>
          <a:xfrm>
            <a:off x="1097280" y="8129016"/>
            <a:ext cx="9601200" cy="411480"/>
          </a:xfrm>
          <a:prstGeom prst="rect">
            <a:avLst/>
          </a:prstGeom>
          <a:noFill/>
        </p:spPr>
        <p:txBody>
          <a:bodyPr wrap="square">
            <a:spAutoFit/>
          </a:bodyPr>
          <a:lstStyle/>
          <a:p>
            <a:pPr algn="l">
              <a:defRPr sz="1800" b="0">
                <a:solidFill>
                  <a:srgbClr val="FFFFFF"/>
                </a:solidFill>
                <a:latin typeface="Segoe UI"/>
              </a:defRPr>
            </a:pPr>
            <a:r>
              <a:t>Technical ML system must be accessible to non-technical users</a:t>
            </a:r>
          </a:p>
        </p:txBody>
      </p:sp>
      <p:sp>
        <p:nvSpPr>
          <p:cNvPr id="23" name="TextBox 22"/>
          <p:cNvSpPr txBox="1"/>
          <p:nvPr/>
        </p:nvSpPr>
        <p:spPr>
          <a:xfrm>
            <a:off x="1097280" y="8513064"/>
            <a:ext cx="9601200" cy="411480"/>
          </a:xfrm>
          <a:prstGeom prst="rect">
            <a:avLst/>
          </a:prstGeom>
          <a:noFill/>
        </p:spPr>
        <p:txBody>
          <a:bodyPr wrap="square">
            <a:spAutoFit/>
          </a:bodyPr>
          <a:lstStyle/>
          <a:p>
            <a:pPr algn="l">
              <a:defRPr sz="1800" b="0">
                <a:solidFill>
                  <a:srgbClr val="FFFFFF"/>
                </a:solidFill>
                <a:latin typeface="Segoe UI"/>
              </a:defRPr>
            </a:pPr>
            <a:r>
              <a:t>Solution: onboarding questionnaire + clean professional UI</a:t>
            </a:r>
          </a:p>
        </p:txBody>
      </p:sp>
      <p:sp>
        <p:nvSpPr>
          <p:cNvPr id="24" name="TextBox 23"/>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Future Work</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Short-Term Improvements</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Fine-tune ML model on camera-derived features (labeled webcam data)</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Add multi-user support with role-based access (patient vs therapist)</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Mobile-optimized layout for smartphone webcam use</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Research Extensions</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Federated learning: train across users without sharing raw data</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CORAL domain adaptation: align sensor and camera feature distributions</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Longitudinal studies: track behavior patterns over weeks/months</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58384"/>
            <a:ext cx="9601200" cy="457200"/>
          </a:xfrm>
          <a:prstGeom prst="rect">
            <a:avLst/>
          </a:prstGeom>
          <a:noFill/>
        </p:spPr>
        <p:txBody>
          <a:bodyPr wrap="square">
            <a:spAutoFit/>
          </a:bodyPr>
          <a:lstStyle/>
          <a:p>
            <a:pPr algn="l">
              <a:defRPr sz="2000" b="1">
                <a:solidFill>
                  <a:srgbClr val="D4880F"/>
                </a:solidFill>
                <a:latin typeface="Segoe UI"/>
              </a:defRPr>
            </a:pPr>
            <a:r>
              <a:t>Clinical Integration</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Therapist dashboard: view patient BFRB trends remotely</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Integration with CBT (Cognitive Behavioral Therapy) protocols</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Smart notifications: context-aware alerts based on time/location</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0" name="TextBox 19"/>
          <p:cNvSpPr txBox="1"/>
          <p:nvPr/>
        </p:nvSpPr>
        <p:spPr>
          <a:xfrm>
            <a:off x="914400" y="7306056"/>
            <a:ext cx="9601200" cy="457200"/>
          </a:xfrm>
          <a:prstGeom prst="rect">
            <a:avLst/>
          </a:prstGeom>
          <a:noFill/>
        </p:spPr>
        <p:txBody>
          <a:bodyPr wrap="square">
            <a:spAutoFit/>
          </a:bodyPr>
          <a:lstStyle/>
          <a:p>
            <a:pPr algn="l">
              <a:defRPr sz="2000" b="1">
                <a:solidFill>
                  <a:srgbClr val="D4880F"/>
                </a:solidFill>
                <a:latin typeface="Segoe UI"/>
              </a:defRPr>
            </a:pPr>
            <a:r>
              <a:t>Deployment</a:t>
            </a:r>
          </a:p>
        </p:txBody>
      </p:sp>
      <p:sp>
        <p:nvSpPr>
          <p:cNvPr id="21" name="TextBox 20"/>
          <p:cNvSpPr txBox="1"/>
          <p:nvPr/>
        </p:nvSpPr>
        <p:spPr>
          <a:xfrm>
            <a:off x="1097280" y="7717536"/>
            <a:ext cx="9601200" cy="411480"/>
          </a:xfrm>
          <a:prstGeom prst="rect">
            <a:avLst/>
          </a:prstGeom>
          <a:noFill/>
        </p:spPr>
        <p:txBody>
          <a:bodyPr wrap="square">
            <a:spAutoFit/>
          </a:bodyPr>
          <a:lstStyle/>
          <a:p>
            <a:pPr algn="l">
              <a:defRPr sz="1800" b="0">
                <a:solidFill>
                  <a:srgbClr val="FFFFFF"/>
                </a:solidFill>
                <a:latin typeface="Segoe UI"/>
              </a:defRPr>
            </a:pPr>
            <a:r>
              <a:t>Cloud hosting (AWS/GCP) for multi-user access</a:t>
            </a:r>
          </a:p>
        </p:txBody>
      </p:sp>
      <p:sp>
        <p:nvSpPr>
          <p:cNvPr id="22" name="TextBox 21"/>
          <p:cNvSpPr txBox="1"/>
          <p:nvPr/>
        </p:nvSpPr>
        <p:spPr>
          <a:xfrm>
            <a:off x="1097280" y="8101584"/>
            <a:ext cx="9601200" cy="411480"/>
          </a:xfrm>
          <a:prstGeom prst="rect">
            <a:avLst/>
          </a:prstGeom>
          <a:noFill/>
        </p:spPr>
        <p:txBody>
          <a:bodyPr wrap="square">
            <a:spAutoFit/>
          </a:bodyPr>
          <a:lstStyle/>
          <a:p>
            <a:pPr algn="l">
              <a:defRPr sz="1800" b="0">
                <a:solidFill>
                  <a:srgbClr val="FFFFFF"/>
                </a:solidFill>
                <a:latin typeface="Segoe UI"/>
              </a:defRPr>
            </a:pPr>
            <a:r>
              <a:t>Browser extension version for always-on monitoring</a:t>
            </a:r>
          </a:p>
        </p:txBody>
      </p:sp>
      <p:sp>
        <p:nvSpPr>
          <p:cNvPr id="23" name="TextBox 22"/>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Project Requirements Checklist</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029200" cy="384048"/>
          </a:xfrm>
          <a:prstGeom prst="rect">
            <a:avLst/>
          </a:prstGeom>
          <a:noFill/>
        </p:spPr>
        <p:txBody>
          <a:bodyPr wrap="square">
            <a:spAutoFit/>
          </a:bodyPr>
          <a:lstStyle/>
          <a:p>
            <a:pPr algn="l">
              <a:defRPr sz="1700" b="0">
                <a:solidFill>
                  <a:srgbClr val="FFFFFF"/>
                </a:solidFill>
                <a:latin typeface="Segoe UI"/>
              </a:defRPr>
            </a:pPr>
            <a:r>
              <a:t>--- Database ---</a:t>
            </a:r>
          </a:p>
        </p:txBody>
      </p:sp>
      <p:sp>
        <p:nvSpPr>
          <p:cNvPr id="6" name="TextBox 5"/>
          <p:cNvSpPr txBox="1"/>
          <p:nvPr/>
        </p:nvSpPr>
        <p:spPr>
          <a:xfrm>
            <a:off x="731520" y="1828800"/>
            <a:ext cx="5029200" cy="384048"/>
          </a:xfrm>
          <a:prstGeom prst="rect">
            <a:avLst/>
          </a:prstGeom>
          <a:noFill/>
        </p:spPr>
        <p:txBody>
          <a:bodyPr wrap="square">
            <a:spAutoFit/>
          </a:bodyPr>
          <a:lstStyle/>
          <a:p>
            <a:pPr algn="l">
              <a:defRPr sz="1700" b="0">
                <a:solidFill>
                  <a:srgbClr val="FFFFFF"/>
                </a:solidFill>
                <a:latin typeface="Segoe UI"/>
              </a:defRPr>
            </a:pPr>
            <a:r>
              <a:t>[DONE] 3NF normalized schema</a:t>
            </a:r>
          </a:p>
        </p:txBody>
      </p:sp>
      <p:sp>
        <p:nvSpPr>
          <p:cNvPr id="7" name="TextBox 6"/>
          <p:cNvSpPr txBox="1"/>
          <p:nvPr/>
        </p:nvSpPr>
        <p:spPr>
          <a:xfrm>
            <a:off x="731520" y="2194560"/>
            <a:ext cx="5029200" cy="384048"/>
          </a:xfrm>
          <a:prstGeom prst="rect">
            <a:avLst/>
          </a:prstGeom>
          <a:noFill/>
        </p:spPr>
        <p:txBody>
          <a:bodyPr wrap="square">
            <a:spAutoFit/>
          </a:bodyPr>
          <a:lstStyle/>
          <a:p>
            <a:pPr algn="l">
              <a:defRPr sz="1700" b="0">
                <a:solidFill>
                  <a:srgbClr val="FFFFFF"/>
                </a:solidFill>
                <a:latin typeface="Segoe UI"/>
              </a:defRPr>
            </a:pPr>
            <a:r>
              <a:t>[DONE] Proper foreign keys &amp; indexes</a:t>
            </a:r>
          </a:p>
        </p:txBody>
      </p:sp>
      <p:sp>
        <p:nvSpPr>
          <p:cNvPr id="8" name="TextBox 7"/>
          <p:cNvSpPr txBox="1"/>
          <p:nvPr/>
        </p:nvSpPr>
        <p:spPr>
          <a:xfrm>
            <a:off x="731520" y="2560320"/>
            <a:ext cx="5029200" cy="384048"/>
          </a:xfrm>
          <a:prstGeom prst="rect">
            <a:avLst/>
          </a:prstGeom>
          <a:noFill/>
        </p:spPr>
        <p:txBody>
          <a:bodyPr wrap="square">
            <a:spAutoFit/>
          </a:bodyPr>
          <a:lstStyle/>
          <a:p>
            <a:pPr algn="l">
              <a:defRPr sz="1700" b="0">
                <a:solidFill>
                  <a:srgbClr val="FFFFFF"/>
                </a:solidFill>
                <a:latin typeface="Segoe UI"/>
              </a:defRPr>
            </a:pPr>
            <a:r>
              <a:t>[DONE] 9 tables (users, sessions, etc.)</a:t>
            </a:r>
          </a:p>
        </p:txBody>
      </p:sp>
      <p:sp>
        <p:nvSpPr>
          <p:cNvPr id="9" name="TextBox 8"/>
          <p:cNvSpPr txBox="1"/>
          <p:nvPr/>
        </p:nvSpPr>
        <p:spPr>
          <a:xfrm>
            <a:off x="731520" y="2926080"/>
            <a:ext cx="5029200" cy="384048"/>
          </a:xfrm>
          <a:prstGeom prst="rect">
            <a:avLst/>
          </a:prstGeom>
          <a:noFill/>
        </p:spPr>
        <p:txBody>
          <a:bodyPr wrap="square">
            <a:spAutoFit/>
          </a:bodyPr>
          <a:lstStyle/>
          <a:p>
            <a:pPr algn="l">
              <a:defRPr sz="1700" b="0">
                <a:solidFill>
                  <a:srgbClr val="FFFFFF"/>
                </a:solidFill>
                <a:latin typeface="Segoe UI"/>
              </a:defRPr>
            </a:pPr>
            <a:r>
              <a:t>[DONE] MySQL reference schema + Docker</a:t>
            </a:r>
          </a:p>
        </p:txBody>
      </p:sp>
      <p:sp>
        <p:nvSpPr>
          <p:cNvPr id="10" name="TextBox 9"/>
          <p:cNvSpPr txBox="1"/>
          <p:nvPr/>
        </p:nvSpPr>
        <p:spPr>
          <a:xfrm>
            <a:off x="731520" y="3291840"/>
            <a:ext cx="5029200" cy="384048"/>
          </a:xfrm>
          <a:prstGeom prst="rect">
            <a:avLst/>
          </a:prstGeom>
          <a:noFill/>
        </p:spPr>
        <p:txBody>
          <a:bodyPr wrap="square">
            <a:spAutoFit/>
          </a:bodyPr>
          <a:lstStyle/>
          <a:p>
            <a:pPr algn="l">
              <a:defRPr sz="1700" b="0">
                <a:solidFill>
                  <a:srgbClr val="FFFFFF"/>
                </a:solidFill>
                <a:latin typeface="Segoe UI"/>
              </a:defRPr>
            </a:pPr>
            <a:r>
              <a:t>[DONE] ERD diagram</a:t>
            </a:r>
          </a:p>
        </p:txBody>
      </p:sp>
      <p:sp>
        <p:nvSpPr>
          <p:cNvPr id="11" name="TextBox 10"/>
          <p:cNvSpPr txBox="1"/>
          <p:nvPr/>
        </p:nvSpPr>
        <p:spPr>
          <a:xfrm>
            <a:off x="731520" y="365760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12" name="TextBox 11"/>
          <p:cNvSpPr txBox="1"/>
          <p:nvPr/>
        </p:nvSpPr>
        <p:spPr>
          <a:xfrm>
            <a:off x="731520" y="4023360"/>
            <a:ext cx="5029200" cy="384048"/>
          </a:xfrm>
          <a:prstGeom prst="rect">
            <a:avLst/>
          </a:prstGeom>
          <a:noFill/>
        </p:spPr>
        <p:txBody>
          <a:bodyPr wrap="square">
            <a:spAutoFit/>
          </a:bodyPr>
          <a:lstStyle/>
          <a:p>
            <a:pPr algn="l">
              <a:defRPr sz="1700" b="0">
                <a:solidFill>
                  <a:srgbClr val="FFFFFF"/>
                </a:solidFill>
                <a:latin typeface="Segoe UI"/>
              </a:defRPr>
            </a:pPr>
            <a:r>
              <a:t>--- Backend ---</a:t>
            </a:r>
          </a:p>
        </p:txBody>
      </p:sp>
      <p:sp>
        <p:nvSpPr>
          <p:cNvPr id="13" name="TextBox 12"/>
          <p:cNvSpPr txBox="1"/>
          <p:nvPr/>
        </p:nvSpPr>
        <p:spPr>
          <a:xfrm>
            <a:off x="731520" y="4389120"/>
            <a:ext cx="5029200" cy="384048"/>
          </a:xfrm>
          <a:prstGeom prst="rect">
            <a:avLst/>
          </a:prstGeom>
          <a:noFill/>
        </p:spPr>
        <p:txBody>
          <a:bodyPr wrap="square">
            <a:spAutoFit/>
          </a:bodyPr>
          <a:lstStyle/>
          <a:p>
            <a:pPr algn="l">
              <a:defRPr sz="1700" b="0">
                <a:solidFill>
                  <a:srgbClr val="FFFFFF"/>
                </a:solidFill>
                <a:latin typeface="Segoe UI"/>
              </a:defRPr>
            </a:pPr>
            <a:r>
              <a:t>[DONE] Flask routes (20+ endpoints)</a:t>
            </a:r>
          </a:p>
        </p:txBody>
      </p:sp>
      <p:sp>
        <p:nvSpPr>
          <p:cNvPr id="14" name="TextBox 13"/>
          <p:cNvSpPr txBox="1"/>
          <p:nvPr/>
        </p:nvSpPr>
        <p:spPr>
          <a:xfrm>
            <a:off x="731520" y="4754880"/>
            <a:ext cx="5029200" cy="384048"/>
          </a:xfrm>
          <a:prstGeom prst="rect">
            <a:avLst/>
          </a:prstGeom>
          <a:noFill/>
        </p:spPr>
        <p:txBody>
          <a:bodyPr wrap="square">
            <a:spAutoFit/>
          </a:bodyPr>
          <a:lstStyle/>
          <a:p>
            <a:pPr algn="l">
              <a:defRPr sz="1700" b="0">
                <a:solidFill>
                  <a:srgbClr val="FFFFFF"/>
                </a:solidFill>
                <a:latin typeface="Segoe UI"/>
              </a:defRPr>
            </a:pPr>
            <a:r>
              <a:t>[DONE] Session management</a:t>
            </a:r>
          </a:p>
        </p:txBody>
      </p:sp>
      <p:sp>
        <p:nvSpPr>
          <p:cNvPr id="15" name="TextBox 14"/>
          <p:cNvSpPr txBox="1"/>
          <p:nvPr/>
        </p:nvSpPr>
        <p:spPr>
          <a:xfrm>
            <a:off x="731520" y="5120640"/>
            <a:ext cx="5029200" cy="384048"/>
          </a:xfrm>
          <a:prstGeom prst="rect">
            <a:avLst/>
          </a:prstGeom>
          <a:noFill/>
        </p:spPr>
        <p:txBody>
          <a:bodyPr wrap="square">
            <a:spAutoFit/>
          </a:bodyPr>
          <a:lstStyle/>
          <a:p>
            <a:pPr algn="l">
              <a:defRPr sz="1700" b="0">
                <a:solidFill>
                  <a:srgbClr val="FFFFFF"/>
                </a:solidFill>
                <a:latin typeface="Segoe UI"/>
              </a:defRPr>
            </a:pPr>
            <a:r>
              <a:t>[DONE] Error handling (JSON responses)</a:t>
            </a:r>
          </a:p>
        </p:txBody>
      </p:sp>
      <p:sp>
        <p:nvSpPr>
          <p:cNvPr id="16" name="TextBox 15"/>
          <p:cNvSpPr txBox="1"/>
          <p:nvPr/>
        </p:nvSpPr>
        <p:spPr>
          <a:xfrm>
            <a:off x="731520" y="5486400"/>
            <a:ext cx="5029200" cy="384048"/>
          </a:xfrm>
          <a:prstGeom prst="rect">
            <a:avLst/>
          </a:prstGeom>
          <a:noFill/>
        </p:spPr>
        <p:txBody>
          <a:bodyPr wrap="square">
            <a:spAutoFit/>
          </a:bodyPr>
          <a:lstStyle/>
          <a:p>
            <a:pPr algn="l">
              <a:defRPr sz="1700" b="0">
                <a:solidFill>
                  <a:srgbClr val="FFFFFF"/>
                </a:solidFill>
                <a:latin typeface="Segoe UI"/>
              </a:defRPr>
            </a:pPr>
            <a:r>
              <a:t>[DONE] ML inference endpoint</a:t>
            </a:r>
          </a:p>
        </p:txBody>
      </p:sp>
      <p:sp>
        <p:nvSpPr>
          <p:cNvPr id="17" name="TextBox 16"/>
          <p:cNvSpPr txBox="1"/>
          <p:nvPr/>
        </p:nvSpPr>
        <p:spPr>
          <a:xfrm>
            <a:off x="731520" y="5852160"/>
            <a:ext cx="5029200" cy="384048"/>
          </a:xfrm>
          <a:prstGeom prst="rect">
            <a:avLst/>
          </a:prstGeom>
          <a:noFill/>
        </p:spPr>
        <p:txBody>
          <a:bodyPr wrap="square">
            <a:spAutoFit/>
          </a:bodyPr>
          <a:lstStyle/>
          <a:p>
            <a:pPr algn="l">
              <a:defRPr sz="1700" b="0">
                <a:solidFill>
                  <a:srgbClr val="FFFFFF"/>
                </a:solidFill>
                <a:latin typeface="Segoe UI"/>
              </a:defRPr>
            </a:pPr>
            <a:r>
              <a:t>[DONE] WebSocket real-time</a:t>
            </a:r>
          </a:p>
        </p:txBody>
      </p:sp>
      <p:sp>
        <p:nvSpPr>
          <p:cNvPr id="18" name="TextBox 17"/>
          <p:cNvSpPr txBox="1"/>
          <p:nvPr/>
        </p:nvSpPr>
        <p:spPr>
          <a:xfrm>
            <a:off x="6217920" y="1463040"/>
            <a:ext cx="5029200" cy="384048"/>
          </a:xfrm>
          <a:prstGeom prst="rect">
            <a:avLst/>
          </a:prstGeom>
          <a:noFill/>
        </p:spPr>
        <p:txBody>
          <a:bodyPr wrap="square">
            <a:spAutoFit/>
          </a:bodyPr>
          <a:lstStyle/>
          <a:p>
            <a:pPr algn="l">
              <a:defRPr sz="1700" b="0">
                <a:solidFill>
                  <a:srgbClr val="FFFFFF"/>
                </a:solidFill>
                <a:latin typeface="Segoe UI"/>
              </a:defRPr>
            </a:pPr>
            <a:r>
              <a:t>--- Frontend ---</a:t>
            </a:r>
          </a:p>
        </p:txBody>
      </p:sp>
      <p:sp>
        <p:nvSpPr>
          <p:cNvPr id="19" name="TextBox 18"/>
          <p:cNvSpPr txBox="1"/>
          <p:nvPr/>
        </p:nvSpPr>
        <p:spPr>
          <a:xfrm>
            <a:off x="6217920" y="1828800"/>
            <a:ext cx="5029200" cy="384048"/>
          </a:xfrm>
          <a:prstGeom prst="rect">
            <a:avLst/>
          </a:prstGeom>
          <a:noFill/>
        </p:spPr>
        <p:txBody>
          <a:bodyPr wrap="square">
            <a:spAutoFit/>
          </a:bodyPr>
          <a:lstStyle/>
          <a:p>
            <a:pPr algn="l">
              <a:defRPr sz="1700" b="0">
                <a:solidFill>
                  <a:srgbClr val="FFFFFF"/>
                </a:solidFill>
                <a:latin typeface="Segoe UI"/>
              </a:defRPr>
            </a:pPr>
            <a:r>
              <a:t>[DONE] Responsive HTML/CSS/JS</a:t>
            </a:r>
          </a:p>
        </p:txBody>
      </p:sp>
      <p:sp>
        <p:nvSpPr>
          <p:cNvPr id="20" name="TextBox 19"/>
          <p:cNvSpPr txBox="1"/>
          <p:nvPr/>
        </p:nvSpPr>
        <p:spPr>
          <a:xfrm>
            <a:off x="6217920" y="2194560"/>
            <a:ext cx="5029200" cy="384048"/>
          </a:xfrm>
          <a:prstGeom prst="rect">
            <a:avLst/>
          </a:prstGeom>
          <a:noFill/>
        </p:spPr>
        <p:txBody>
          <a:bodyPr wrap="square">
            <a:spAutoFit/>
          </a:bodyPr>
          <a:lstStyle/>
          <a:p>
            <a:pPr algn="l">
              <a:defRPr sz="1700" b="0">
                <a:solidFill>
                  <a:srgbClr val="FFFFFF"/>
                </a:solidFill>
                <a:latin typeface="Segoe UI"/>
              </a:defRPr>
            </a:pPr>
            <a:r>
              <a:t>[DONE] Real-time webcam detection</a:t>
            </a:r>
          </a:p>
        </p:txBody>
      </p:sp>
      <p:sp>
        <p:nvSpPr>
          <p:cNvPr id="21" name="TextBox 20"/>
          <p:cNvSpPr txBox="1"/>
          <p:nvPr/>
        </p:nvSpPr>
        <p:spPr>
          <a:xfrm>
            <a:off x="6217920" y="2560320"/>
            <a:ext cx="5029200" cy="384048"/>
          </a:xfrm>
          <a:prstGeom prst="rect">
            <a:avLst/>
          </a:prstGeom>
          <a:noFill/>
        </p:spPr>
        <p:txBody>
          <a:bodyPr wrap="square">
            <a:spAutoFit/>
          </a:bodyPr>
          <a:lstStyle/>
          <a:p>
            <a:pPr algn="l">
              <a:defRPr sz="1700" b="0">
                <a:solidFill>
                  <a:srgbClr val="FFFFFF"/>
                </a:solidFill>
                <a:latin typeface="Segoe UI"/>
              </a:defRPr>
            </a:pPr>
            <a:r>
              <a:t>[DONE] Charts &amp; analytics dashboard</a:t>
            </a:r>
          </a:p>
        </p:txBody>
      </p:sp>
      <p:sp>
        <p:nvSpPr>
          <p:cNvPr id="22" name="TextBox 21"/>
          <p:cNvSpPr txBox="1"/>
          <p:nvPr/>
        </p:nvSpPr>
        <p:spPr>
          <a:xfrm>
            <a:off x="6217920" y="2926080"/>
            <a:ext cx="5029200" cy="384048"/>
          </a:xfrm>
          <a:prstGeom prst="rect">
            <a:avLst/>
          </a:prstGeom>
          <a:noFill/>
        </p:spPr>
        <p:txBody>
          <a:bodyPr wrap="square">
            <a:spAutoFit/>
          </a:bodyPr>
          <a:lstStyle/>
          <a:p>
            <a:pPr algn="l">
              <a:defRPr sz="1700" b="0">
                <a:solidFill>
                  <a:srgbClr val="FFFFFF"/>
                </a:solidFill>
                <a:latin typeface="Segoe UI"/>
              </a:defRPr>
            </a:pPr>
            <a:r>
              <a:t>[DONE] Authentication (login/signup)</a:t>
            </a:r>
          </a:p>
        </p:txBody>
      </p:sp>
      <p:sp>
        <p:nvSpPr>
          <p:cNvPr id="23" name="TextBox 22"/>
          <p:cNvSpPr txBox="1"/>
          <p:nvPr/>
        </p:nvSpPr>
        <p:spPr>
          <a:xfrm>
            <a:off x="6217920" y="3291840"/>
            <a:ext cx="5029200" cy="384048"/>
          </a:xfrm>
          <a:prstGeom prst="rect">
            <a:avLst/>
          </a:prstGeom>
          <a:noFill/>
        </p:spPr>
        <p:txBody>
          <a:bodyPr wrap="square">
            <a:spAutoFit/>
          </a:bodyPr>
          <a:lstStyle/>
          <a:p>
            <a:pPr algn="l">
              <a:defRPr sz="1700" b="0">
                <a:solidFill>
                  <a:srgbClr val="FFFFFF"/>
                </a:solidFill>
                <a:latin typeface="Segoe UI"/>
              </a:defRPr>
            </a:pPr>
            <a:r>
              <a:t>[DONE] Onboarding questionnaire</a:t>
            </a:r>
          </a:p>
        </p:txBody>
      </p:sp>
      <p:sp>
        <p:nvSpPr>
          <p:cNvPr id="24" name="TextBox 23"/>
          <p:cNvSpPr txBox="1"/>
          <p:nvPr/>
        </p:nvSpPr>
        <p:spPr>
          <a:xfrm>
            <a:off x="6217920" y="365760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25" name="TextBox 24"/>
          <p:cNvSpPr txBox="1"/>
          <p:nvPr/>
        </p:nvSpPr>
        <p:spPr>
          <a:xfrm>
            <a:off x="6217920" y="4023360"/>
            <a:ext cx="5029200" cy="384048"/>
          </a:xfrm>
          <a:prstGeom prst="rect">
            <a:avLst/>
          </a:prstGeom>
          <a:noFill/>
        </p:spPr>
        <p:txBody>
          <a:bodyPr wrap="square">
            <a:spAutoFit/>
          </a:bodyPr>
          <a:lstStyle/>
          <a:p>
            <a:pPr algn="l">
              <a:defRPr sz="1700" b="0">
                <a:solidFill>
                  <a:srgbClr val="FFFFFF"/>
                </a:solidFill>
                <a:latin typeface="Segoe UI"/>
              </a:defRPr>
            </a:pPr>
            <a:r>
              <a:t>--- Extras ---</a:t>
            </a:r>
          </a:p>
        </p:txBody>
      </p:sp>
      <p:sp>
        <p:nvSpPr>
          <p:cNvPr id="26" name="TextBox 25"/>
          <p:cNvSpPr txBox="1"/>
          <p:nvPr/>
        </p:nvSpPr>
        <p:spPr>
          <a:xfrm>
            <a:off x="6217920" y="4389120"/>
            <a:ext cx="5029200" cy="384048"/>
          </a:xfrm>
          <a:prstGeom prst="rect">
            <a:avLst/>
          </a:prstGeom>
          <a:noFill/>
        </p:spPr>
        <p:txBody>
          <a:bodyPr wrap="square">
            <a:spAutoFit/>
          </a:bodyPr>
          <a:lstStyle/>
          <a:p>
            <a:pPr algn="l">
              <a:defRPr sz="1700" b="0">
                <a:solidFill>
                  <a:srgbClr val="FFFFFF"/>
                </a:solidFill>
                <a:latin typeface="Segoe UI"/>
              </a:defRPr>
            </a:pPr>
            <a:r>
              <a:t>[DONE] BFRB type selector (custom)</a:t>
            </a:r>
          </a:p>
        </p:txBody>
      </p:sp>
      <p:sp>
        <p:nvSpPr>
          <p:cNvPr id="27" name="TextBox 26"/>
          <p:cNvSpPr txBox="1"/>
          <p:nvPr/>
        </p:nvSpPr>
        <p:spPr>
          <a:xfrm>
            <a:off x="6217920" y="4754880"/>
            <a:ext cx="5029200" cy="384048"/>
          </a:xfrm>
          <a:prstGeom prst="rect">
            <a:avLst/>
          </a:prstGeom>
          <a:noFill/>
        </p:spPr>
        <p:txBody>
          <a:bodyPr wrap="square">
            <a:spAutoFit/>
          </a:bodyPr>
          <a:lstStyle/>
          <a:p>
            <a:pPr algn="l">
              <a:defRPr sz="1700" b="0">
                <a:solidFill>
                  <a:srgbClr val="FFFFFF"/>
                </a:solidFill>
                <a:latin typeface="Segoe UI"/>
              </a:defRPr>
            </a:pPr>
            <a:r>
              <a:t>[DONE] Adaptive calibration</a:t>
            </a:r>
          </a:p>
        </p:txBody>
      </p:sp>
      <p:sp>
        <p:nvSpPr>
          <p:cNvPr id="28" name="TextBox 27"/>
          <p:cNvSpPr txBox="1"/>
          <p:nvPr/>
        </p:nvSpPr>
        <p:spPr>
          <a:xfrm>
            <a:off x="6217920" y="5120640"/>
            <a:ext cx="5029200" cy="384048"/>
          </a:xfrm>
          <a:prstGeom prst="rect">
            <a:avLst/>
          </a:prstGeom>
          <a:noFill/>
        </p:spPr>
        <p:txBody>
          <a:bodyPr wrap="square">
            <a:spAutoFit/>
          </a:bodyPr>
          <a:lstStyle/>
          <a:p>
            <a:pPr algn="l">
              <a:defRPr sz="1700" b="0">
                <a:solidFill>
                  <a:srgbClr val="FFFFFF"/>
                </a:solidFill>
                <a:latin typeface="Segoe UI"/>
              </a:defRPr>
            </a:pPr>
            <a:r>
              <a:t>[DONE] CSV export</a:t>
            </a:r>
          </a:p>
        </p:txBody>
      </p:sp>
      <p:sp>
        <p:nvSpPr>
          <p:cNvPr id="29" name="TextBox 28"/>
          <p:cNvSpPr txBox="1"/>
          <p:nvPr/>
        </p:nvSpPr>
        <p:spPr>
          <a:xfrm>
            <a:off x="6217920" y="5486400"/>
            <a:ext cx="5029200" cy="384048"/>
          </a:xfrm>
          <a:prstGeom prst="rect">
            <a:avLst/>
          </a:prstGeom>
          <a:noFill/>
        </p:spPr>
        <p:txBody>
          <a:bodyPr wrap="square">
            <a:spAutoFit/>
          </a:bodyPr>
          <a:lstStyle/>
          <a:p>
            <a:pPr algn="l">
              <a:defRPr sz="1700" b="0">
                <a:solidFill>
                  <a:srgbClr val="FFFFFF"/>
                </a:solidFill>
                <a:latin typeface="Segoe UI"/>
              </a:defRPr>
            </a:pPr>
            <a:r>
              <a:t>[DONE] PWA (offline capable)</a:t>
            </a:r>
          </a:p>
        </p:txBody>
      </p:sp>
      <p:sp>
        <p:nvSpPr>
          <p:cNvPr id="30" name="TextBox 29"/>
          <p:cNvSpPr txBox="1"/>
          <p:nvPr/>
        </p:nvSpPr>
        <p:spPr>
          <a:xfrm>
            <a:off x="6217920" y="5852160"/>
            <a:ext cx="5029200" cy="384048"/>
          </a:xfrm>
          <a:prstGeom prst="rect">
            <a:avLst/>
          </a:prstGeom>
          <a:noFill/>
        </p:spPr>
        <p:txBody>
          <a:bodyPr wrap="square">
            <a:spAutoFit/>
          </a:bodyPr>
          <a:lstStyle/>
          <a:p>
            <a:pPr algn="l">
              <a:defRPr sz="1700" b="0">
                <a:solidFill>
                  <a:srgbClr val="FFFFFF"/>
                </a:solidFill>
                <a:latin typeface="Segoe UI"/>
              </a:defRPr>
            </a:pPr>
            <a:r>
              <a:t>[DONE] GitHub repository</a:t>
            </a:r>
          </a:p>
        </p:txBody>
      </p:sp>
      <p:sp>
        <p:nvSpPr>
          <p:cNvPr id="31" name="TextBox 30"/>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253D"/>
        </a:solidFill>
        <a:effectLst/>
      </p:bgPr>
    </p:bg>
    <p:spTree>
      <p:nvGrpSpPr>
        <p:cNvPr id="1" name=""/>
        <p:cNvGrpSpPr/>
        <p:nvPr/>
      </p:nvGrpSpPr>
      <p:grpSpPr/>
      <p:sp>
        <p:nvSpPr>
          <p:cNvPr id="2" name="Rectangle 1"/>
          <p:cNvSpPr/>
          <p:nvPr/>
        </p:nvSpPr>
        <p:spPr>
          <a:xfrm>
            <a:off x="0" y="292608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914400"/>
          </a:xfrm>
          <a:prstGeom prst="rect">
            <a:avLst/>
          </a:prstGeom>
          <a:noFill/>
        </p:spPr>
        <p:txBody>
          <a:bodyPr wrap="square">
            <a:spAutoFit/>
          </a:bodyPr>
          <a:lstStyle/>
          <a:p>
            <a:pPr algn="ctr">
              <a:defRPr sz="5200" b="1">
                <a:solidFill>
                  <a:srgbClr val="FFFFFF"/>
                </a:solidFill>
                <a:latin typeface="Segoe UI"/>
              </a:defRPr>
            </a:pPr>
            <a:r>
              <a:t>Thank You!</a:t>
            </a:r>
          </a:p>
        </p:txBody>
      </p:sp>
      <p:sp>
        <p:nvSpPr>
          <p:cNvPr id="4" name="TextBox 3"/>
          <p:cNvSpPr txBox="1"/>
          <p:nvPr/>
        </p:nvSpPr>
        <p:spPr>
          <a:xfrm>
            <a:off x="914400" y="3291840"/>
            <a:ext cx="10058400" cy="548640"/>
          </a:xfrm>
          <a:prstGeom prst="rect">
            <a:avLst/>
          </a:prstGeom>
          <a:noFill/>
        </p:spPr>
        <p:txBody>
          <a:bodyPr wrap="square">
            <a:spAutoFit/>
          </a:bodyPr>
          <a:lstStyle/>
          <a:p>
            <a:pPr algn="ctr">
              <a:defRPr sz="2800" b="0">
                <a:solidFill>
                  <a:srgbClr val="D4880F"/>
                </a:solidFill>
                <a:latin typeface="Segoe UI"/>
              </a:defRPr>
            </a:pPr>
            <a:r>
              <a:t>Questions &amp; Discussion</a:t>
            </a:r>
          </a:p>
        </p:txBody>
      </p:sp>
      <p:sp>
        <p:nvSpPr>
          <p:cNvPr id="5" name="TextBox 4"/>
          <p:cNvSpPr txBox="1"/>
          <p:nvPr/>
        </p:nvSpPr>
        <p:spPr>
          <a:xfrm>
            <a:off x="914400" y="4114800"/>
            <a:ext cx="10058400" cy="457200"/>
          </a:xfrm>
          <a:prstGeom prst="rect">
            <a:avLst/>
          </a:prstGeom>
          <a:noFill/>
        </p:spPr>
        <p:txBody>
          <a:bodyPr wrap="square">
            <a:spAutoFit/>
          </a:bodyPr>
          <a:lstStyle/>
          <a:p>
            <a:pPr algn="ctr">
              <a:defRPr sz="1800" b="0">
                <a:solidFill>
                  <a:srgbClr val="5A6A7E"/>
                </a:solidFill>
                <a:latin typeface="Segoe UI"/>
              </a:defRPr>
            </a:pPr>
            <a:r>
              <a:t>Nishanth S.  |  ENEB453  |  University of Maryland</a:t>
            </a:r>
          </a:p>
        </p:txBody>
      </p:sp>
      <p:sp>
        <p:nvSpPr>
          <p:cNvPr id="6" name="TextBox 5"/>
          <p:cNvSpPr txBox="1"/>
          <p:nvPr/>
        </p:nvSpPr>
        <p:spPr>
          <a:xfrm>
            <a:off x="914400" y="4754880"/>
            <a:ext cx="10058400" cy="457200"/>
          </a:xfrm>
          <a:prstGeom prst="rect">
            <a:avLst/>
          </a:prstGeom>
          <a:noFill/>
        </p:spPr>
        <p:txBody>
          <a:bodyPr wrap="square">
            <a:spAutoFit/>
          </a:bodyPr>
          <a:lstStyle/>
          <a:p>
            <a:pPr algn="ctr">
              <a:defRPr sz="1600" b="0">
                <a:solidFill>
                  <a:srgbClr val="2A6CB6"/>
                </a:solidFill>
                <a:latin typeface="Segoe UI"/>
              </a:defRPr>
            </a:pPr>
            <a:r>
              <a:t>GitHub: github.com/Nishanth3424/bfrb-detection-eneb453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